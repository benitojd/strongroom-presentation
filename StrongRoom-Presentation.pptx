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3f71de98b143a1" /><Relationship Type="http://schemas.openxmlformats.org/officeDocument/2006/relationships/extended-properties" Target="/docProps/app.xml" Id="Ra401e9c4853a41b0" /><Relationship Type="http://schemas.openxmlformats.org/officeDocument/2006/relationships/officeDocument" Target="/ppt/presentation.xml" Id="Rb4b4335594524f18" /></Relationships>
</file>

<file path=ppt/presentation.xml><?xml version="1.0" encoding="utf-8"?>
<p:presentation xmlns:p="http://schemas.openxmlformats.org/presentationml/2006/main">
  <p:sldMasterIdLst>
    <p:sldMasterId xmlns:r="http://schemas.openxmlformats.org/officeDocument/2006/relationships" id="2147483648" r:id="Rf97369e2ce9648e3"/>
  </p:sldMasterIdLst>
  <p:notesMasterIdLst>
    <p:notesMasterId xmlns:r="http://schemas.openxmlformats.org/officeDocument/2006/relationships" r:id="Rfcaaca84e81c4d05"/>
  </p:notesMasterIdLst>
  <p:sldIdLst>
    <p:sldId xmlns:r="http://schemas.openxmlformats.org/officeDocument/2006/relationships" id="256" r:id="Rcaf0b722d54c4bcb"/>
    <p:sldId xmlns:r="http://schemas.openxmlformats.org/officeDocument/2006/relationships" id="257" r:id="R0f4b9713613e4044"/>
    <p:sldId xmlns:r="http://schemas.openxmlformats.org/officeDocument/2006/relationships" id="258" r:id="Rd9d50e3caad44119"/>
    <p:sldId xmlns:r="http://schemas.openxmlformats.org/officeDocument/2006/relationships" id="259" r:id="Rcd754275dc5840b0"/>
    <p:sldId xmlns:r="http://schemas.openxmlformats.org/officeDocument/2006/relationships" id="260" r:id="R4c2d1ac5ba8d4fcc"/>
    <p:sldId xmlns:r="http://schemas.openxmlformats.org/officeDocument/2006/relationships" id="261" r:id="Rf8e79c07c5c94d34"/>
    <p:sldId xmlns:r="http://schemas.openxmlformats.org/officeDocument/2006/relationships" id="262" r:id="R8f84da0f7dcd420d"/>
    <p:sldId xmlns:r="http://schemas.openxmlformats.org/officeDocument/2006/relationships" id="263" r:id="R105c0a7f53124143"/>
    <p:sldId xmlns:r="http://schemas.openxmlformats.org/officeDocument/2006/relationships" id="264" r:id="R03c38190b9d449fc"/>
    <p:sldId xmlns:r="http://schemas.openxmlformats.org/officeDocument/2006/relationships" id="265" r:id="Rc9304a71ecec4e0b"/>
    <p:sldId xmlns:r="http://schemas.openxmlformats.org/officeDocument/2006/relationships" id="266" r:id="R93ef586baabc429e"/>
    <p:sldId xmlns:r="http://schemas.openxmlformats.org/officeDocument/2006/relationships" id="267" r:id="Rc23d4238d0ea4ab9"/>
    <p:sldId xmlns:r="http://schemas.openxmlformats.org/officeDocument/2006/relationships" id="268" r:id="R61ae02431bce4ac4"/>
    <p:sldId xmlns:r="http://schemas.openxmlformats.org/officeDocument/2006/relationships" id="269" r:id="R059910f7ce554c10"/>
    <p:sldId xmlns:r="http://schemas.openxmlformats.org/officeDocument/2006/relationships" id="270" r:id="Re8c5e92907cf44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150575140424cb0" /><Relationship Type="http://schemas.openxmlformats.org/officeDocument/2006/relationships/slideMaster" Target="/ppt/slideMasters/slideMaster1.xml" Id="Rf97369e2ce9648e3" /><Relationship Type="http://schemas.openxmlformats.org/officeDocument/2006/relationships/notesMaster" Target="/ppt/notesMasters/notesMaster1.xml" Id="Rfcaaca84e81c4d05" /><Relationship Type="http://schemas.openxmlformats.org/officeDocument/2006/relationships/presProps" Target="/ppt/presProps.xml" Id="Ra557bbcc1c664c61" /><Relationship Type="http://schemas.openxmlformats.org/officeDocument/2006/relationships/tableStyles" Target="/ppt/tableStyles.xml" Id="R13013ac9c12b47c1" /><Relationship Type="http://schemas.openxmlformats.org/officeDocument/2006/relationships/slide" Target="/ppt/slides/slide1.xml" Id="Rcaf0b722d54c4bcb" /><Relationship Type="http://schemas.openxmlformats.org/officeDocument/2006/relationships/slide" Target="/ppt/slides/slide2.xml" Id="R0f4b9713613e4044" /><Relationship Type="http://schemas.openxmlformats.org/officeDocument/2006/relationships/slide" Target="/ppt/slides/slide3.xml" Id="Rd9d50e3caad44119" /><Relationship Type="http://schemas.openxmlformats.org/officeDocument/2006/relationships/slide" Target="/ppt/slides/slide4.xml" Id="Rcd754275dc5840b0" /><Relationship Type="http://schemas.openxmlformats.org/officeDocument/2006/relationships/slide" Target="/ppt/slides/slide5.xml" Id="R4c2d1ac5ba8d4fcc" /><Relationship Type="http://schemas.openxmlformats.org/officeDocument/2006/relationships/slide" Target="/ppt/slides/slide6.xml" Id="Rf8e79c07c5c94d34" /><Relationship Type="http://schemas.openxmlformats.org/officeDocument/2006/relationships/slide" Target="/ppt/slides/slide7.xml" Id="R8f84da0f7dcd420d" /><Relationship Type="http://schemas.openxmlformats.org/officeDocument/2006/relationships/slide" Target="/ppt/slides/slide8.xml" Id="R105c0a7f53124143" /><Relationship Type="http://schemas.openxmlformats.org/officeDocument/2006/relationships/slide" Target="/ppt/slides/slide9.xml" Id="R03c38190b9d449fc" /><Relationship Type="http://schemas.openxmlformats.org/officeDocument/2006/relationships/slide" Target="/ppt/slides/slide10.xml" Id="Rc9304a71ecec4e0b" /><Relationship Type="http://schemas.openxmlformats.org/officeDocument/2006/relationships/slide" Target="/ppt/slides/slide11.xml" Id="R93ef586baabc429e" /><Relationship Type="http://schemas.openxmlformats.org/officeDocument/2006/relationships/slide" Target="/ppt/slides/slide12.xml" Id="Rc23d4238d0ea4ab9" /><Relationship Type="http://schemas.openxmlformats.org/officeDocument/2006/relationships/slide" Target="/ppt/slides/slide13.xml" Id="R61ae02431bce4ac4" /><Relationship Type="http://schemas.openxmlformats.org/officeDocument/2006/relationships/slide" Target="/ppt/slides/slide14.xml" Id="R059910f7ce554c10" /><Relationship Type="http://schemas.openxmlformats.org/officeDocument/2006/relationships/slide" Target="/ppt/slides/slide15.xml" Id="Re8c5e92907cf44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89ef56a2bd41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bfe5fb581574be6" /><Relationship Type="http://schemas.openxmlformats.org/officeDocument/2006/relationships/notesMaster" Target="/ppt/notesMasters/notesMaster1.xml" Id="R8dfdc9d50231496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e60d52be7544f62" /><Relationship Type="http://schemas.openxmlformats.org/officeDocument/2006/relationships/notesMaster" Target="/ppt/notesMasters/notesMaster1.xml" Id="Rb3583812640e45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d08641f6ed4adb" /><Relationship Type="http://schemas.openxmlformats.org/officeDocument/2006/relationships/notesMaster" Target="/ppt/notesMasters/notesMaster1.xml" Id="R1021099da9954c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61843c865d4989" /><Relationship Type="http://schemas.openxmlformats.org/officeDocument/2006/relationships/notesMaster" Target="/ppt/notesMasters/notesMaster1.xml" Id="Rbb590164013d4c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2aa9bdf2d34e17" /><Relationship Type="http://schemas.openxmlformats.org/officeDocument/2006/relationships/notesMaster" Target="/ppt/notesMasters/notesMaster1.xml" Id="Rf2bc795bf9e94f37"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1833d32bc7403a" /><Relationship Type="http://schemas.openxmlformats.org/officeDocument/2006/relationships/notesMaster" Target="/ppt/notesMasters/notesMaster1.xml" Id="R12d1e73bb0ea40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fa519f166144de" /><Relationship Type="http://schemas.openxmlformats.org/officeDocument/2006/relationships/notesMaster" Target="/ppt/notesMasters/notesMaster1.xml" Id="R794b372ee7e24cb6"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eeca4f22fa452a" /><Relationship Type="http://schemas.openxmlformats.org/officeDocument/2006/relationships/notesMaster" Target="/ppt/notesMasters/notesMaster1.xml" Id="Re3f0ec3fc3f64d11" /></Relationships>
</file>

<file path=ppt/notesSlides/_rels/notesSlide9.xml.rels>&#65279;<?xml version="1.0" encoding="utf-8"?><Relationships xmlns="http://schemas.openxmlformats.org/package/2006/relationships"><Relationship Type="http://schemas.openxmlformats.org/officeDocument/2006/relationships/slide" Target="/ppt/slides/slide9.xml" Id="R499dbe83dd514451" /><Relationship Type="http://schemas.openxmlformats.org/officeDocument/2006/relationships/notesMaster" Target="/ppt/notesMasters/notesMaster1.xml" Id="R093f5e180b0e449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ab2891b19b49da" /><Relationship Type="http://schemas.openxmlformats.org/officeDocument/2006/relationships/notesMaster" Target="/ppt/notesMasters/notesMaster1.xml" Id="R15132cca811b43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4820b48633545cc" /><Relationship Type="http://schemas.openxmlformats.org/officeDocument/2006/relationships/notesMaster" Target="/ppt/notesMasters/notesMaster1.xml" Id="Rdeb62a44057e4fd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b9c3b0bdbb4527" /><Relationship Type="http://schemas.openxmlformats.org/officeDocument/2006/relationships/notesMaster" Target="/ppt/notesMasters/notesMaster1.xml" Id="R0b60c635279948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129d675d3424c68" /><Relationship Type="http://schemas.openxmlformats.org/officeDocument/2006/relationships/notesMaster" Target="/ppt/notesMasters/notesMaster1.xml" Id="R45b331aec968457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e987420fbd34a7b" /><Relationship Type="http://schemas.openxmlformats.org/officeDocument/2006/relationships/notesMaster" Target="/ppt/notesMasters/notesMaster1.xml" Id="R568429d6f8194ae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6f144f351d34baf" /><Relationship Type="http://schemas.openxmlformats.org/officeDocument/2006/relationships/notesMaster" Target="/ppt/notesMasters/notesMaster1.xml" Id="R96535a6427e24e0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Hello everyone. Today I will explain StrongRoom by following one invoice from start to finish. I will use a simple example: a plumber repairs a pipe for a housing association and sends a bill for five hundred dollars. I will show how the invoice enters StrongRoom, how it is approved, how a payment is created, and where the payment can go. This is an illustrative example, not a real transaction.</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what is an invoice? An invoice is a bill sent by a supplier to a customer. In our example, ABC Plumbing is the supplier, and Sunrise Housing Association is the buyer. The invoice says that Sunrise owes ABC Plumbing five hundred dollars for the pipe repair. At this point it is a request for payment. It does not mean that money has already been paid.</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 us see how the invoice enters StrongRoom. In the email route described in the session, the supplier sends the invoice to the buyer’s inbox hosted on Rackspace. A background service called an invoice worker checks the inbox, picks up the message, and processes it so that the invoice information enters StrongRoom. The session also described invoices arriving as scanned documents. Receiving the email and creating the invoice record are separate steps.</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invoice is in StrongRoom, an internal team checks and enters the required information. This step is called indexing. After indexing, the invoice goes to the buyer’s association for review. Association members approve it if the details are acceptable. After final approval, the invoice is authorized for payment. That makes it eligible for the next process, but it does not mean the supplier has been paid.</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a scheduled payment-generation process looks for eligible invoices and creates payment records in StrongRoom. For our example, the approved five-hundred-dollar invoice becomes associated with a payment to ABC Plumbing. The invoice is the bill. The payment record represents the payment that needs to be processed. Creating the payment is a milestone, but the payment still has to follow its route.</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payment record is created, the next question is which route applies. In this walkthrough, I will show a StrongRoom check-system route and an AvidPay route. The applicable route depends on the buyer’s configuration and the payment type. A buyer can have more than one configured payment system, so we need to look at the particular payment rather than assume the whole buyer always uses one route.</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let us take an applicable StrongRoom custom-check route. Here the payment stays on the StrongRoom side and does not need an AvidPay round trip. A later check-batching process picks up eligible payments. StrongRoom prepares the required check files and sends them to the configured external printer. The external provider processes and prints the checks. StrongRoom itself is the application coordinating the handoff.</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 us take the AvidPay route. A separate StrongRoom batching process collects eligible payments. In the flow shown in the session, it creates an XML file for a client with the relevant payment information and sends it to AvidPay. AvidPay then creates a corresponding payment record. This gives us a handoff to trace: the StrongRoom payment, the outbound file, and the corresponding AvidPay payment.</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a payment reaches AvidPay, what happens next depends on its payment type and configuration. An ACH payment follows an applicable electronic bank-payment path. A virtual card follows a card-payment path. Checks follow the configured check path. Some custom checks are redirected back to StrongRoom. Other custom checks can follow a different printer route, and not every payment sent to AvidPay comes back.</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focuses on one custom-check return flow shown in the recording. AvidPay creates CSV check files for the applicable payments and sends them to an incoming StrongRoom location. The service shown as PROD APN Integration watches that location, reads the files, and updates the related StrongRoom payment statuses. This is different from the XML handoff we discussed earlier. Other CSV files can serve other purposes, so the filename and service matter.</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 batching means grouping eligible check payments so they can be prepared for a printer. For example, imagine payments for five hundred, three hundred, and two hundred dollars. StrongRoom collects the applicable payments into a check batch, prepares the required files, and transfers those files to the configured external printer. The exact file format and grouping can vary by route and printer.</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milestones should be checked separately. First, was the batch created? Second, were the files transferred? Third, did the printer receive them? Finally, were the checks processed or printed? A successful file transfer by itself does not prove that every check printed. For an incident, we should check the applicable printer acknowledgement and any reported exceptions before deciding where the process stopped.</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accounting integration is a separate handoff. StrongRoom can exchange supported information, such as invoices, payments, or images, with the customer’s accounting system. A payment or check may progress while an accounting update needs attention. So if the customer cannot see information in the accounting system, we should investigate that integration separately and check the current client configuration.</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an SRE perspective, I would trace one invoice or payment through each boundary. I would establish whether it arrived, whether it was indexed and approved, whether a payment was generated, which route applied, whether a batch and its files were sent, and what the external system reported. I would find the last confirmed successful step and investigate the next handoff. A background service showing as running is not, by itself, proof that it is processing work.</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summarize, StrongRoom receives invoice information, an internal team checks it, and the buyer approves it. A scheduled process creates payment records for eligible invoices. The configured route determines whether an applicable custom check stays on the StrongRoom path or a payment goes to AvidPay. Applicable checks are batched for an external printer. Accounting integration and payment status are separate checkpoints. That completes the end-to-end walkthrough. I am happy to take questions.</a:t>
            </a:r>
          </a:p>
          <a:p xmlns:a="http://schemas.openxmlformats.org/drawingml/2006/main">
            <a:r>
              <a:t/>
            </a:r>
          </a:p>
          <a:p xmlns:a="http://schemas.openxmlformats.org/drawingml/2006/main">
            <a:r>
              <a:t>Source: July 2026 StrongRoom KT recording and transcript. Confirm current configuration and operational procedures.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1f132cff7c4f0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8e2b10f868248b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dafa356fc05446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c02abf2032d4e5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1838c1da5dd4d6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20bbfe1bfd4b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FFB024-F921-463F-8F61-188C82D15A9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43BD3E0-0DB7-426E-9B6B-13BCFF7D734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B60B006-8DBC-419D-BCEF-D346986B966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99AA29-526A-4713-A71A-937F85D0FE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9C283D5-C34B-4626-9C00-29E1F238FBA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67F3642-2162-4BD0-B47E-56697F58B6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FCC3E6A-B3C2-4A35-A6D9-5A4A6E9CCE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C125E2A-549F-4216-BA30-81D487E8A69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5698C7B-2687-4AB0-89EA-E9C30C3942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A68AD9-E15E-4D29-A42A-F3B8B1F6EEC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c2d271f2d4d57" /><Relationship Type="http://schemas.openxmlformats.org/officeDocument/2006/relationships/slideLayout" Target="/ppt/slideLayouts/slideLayout1.xml" Id="Re6d301a86d5c4fe1" /><Relationship Type="http://schemas.openxmlformats.org/officeDocument/2006/relationships/slideLayout" Target="/ppt/slideLayouts/slideLayout2.xml" Id="R7e6102e9bede4825" /><Relationship Type="http://schemas.openxmlformats.org/officeDocument/2006/relationships/slideLayout" Target="/ppt/slideLayouts/slideLayout3.xml" Id="R705811bed5434f58" /><Relationship Type="http://schemas.openxmlformats.org/officeDocument/2006/relationships/slideLayout" Target="/ppt/slideLayouts/slideLayout4.xml" Id="R195afc46b0774848" /><Relationship Type="http://schemas.openxmlformats.org/officeDocument/2006/relationships/slideLayout" Target="/ppt/slideLayouts/slideLayout5.xml" Id="R5d30328ed3884e15" /><Relationship Type="http://schemas.openxmlformats.org/officeDocument/2006/relationships/slideLayout" Target="/ppt/slideLayouts/slideLayout6.xml" Id="Rddb7138e10ec42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d301a86d5c4fe1"/>
    <p:sldLayoutId xmlns:r="http://schemas.openxmlformats.org/officeDocument/2006/relationships" id="2147483650" r:id="R7e6102e9bede4825"/>
    <p:sldLayoutId xmlns:r="http://schemas.openxmlformats.org/officeDocument/2006/relationships" id="2147483651" r:id="R705811bed5434f58"/>
    <p:sldLayoutId xmlns:r="http://schemas.openxmlformats.org/officeDocument/2006/relationships" id="2147483652" r:id="R195afc46b0774848"/>
    <p:sldLayoutId xmlns:r="http://schemas.openxmlformats.org/officeDocument/2006/relationships" id="2147483653" r:id="R5d30328ed3884e15"/>
    <p:sldLayoutId xmlns:r="http://schemas.openxmlformats.org/officeDocument/2006/relationships" id="2147483654" r:id="Rddb7138e10ec42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a94c3f7d704dea" /><Relationship Type="http://schemas.openxmlformats.org/officeDocument/2006/relationships/notesSlide" Target="/ppt/notesSlides/notesSlide1.xml" Id="R6bc047428c2b466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99d12a630a041c8" /><Relationship Type="http://schemas.openxmlformats.org/officeDocument/2006/relationships/notesSlide" Target="/ppt/notesSlides/notesSlide2.xml" Id="R28f525ba5dde40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b2dd1b63e024453" /><Relationship Type="http://schemas.openxmlformats.org/officeDocument/2006/relationships/notesSlide" Target="/ppt/notesSlides/notesSlide3.xml" Id="Rd75eca7f9be8458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f80fd46b0804858" /><Relationship Type="http://schemas.openxmlformats.org/officeDocument/2006/relationships/notesSlide" Target="/ppt/notesSlides/notesSlide4.xml" Id="Rb48bfbb4102949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fd970bc51314946" /><Relationship Type="http://schemas.openxmlformats.org/officeDocument/2006/relationships/notesSlide" Target="/ppt/notesSlides/notesSlide5.xml" Id="Rd2b84d6637d9436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e1c572099a7472a" /><Relationship Type="http://schemas.openxmlformats.org/officeDocument/2006/relationships/notesSlide" Target="/ppt/notesSlides/notesSlide6.xml" Id="R939e4ada4349462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0b947cad7424f38" /><Relationship Type="http://schemas.openxmlformats.org/officeDocument/2006/relationships/notesSlide" Target="/ppt/notesSlides/notesSlide7.xml" Id="Rd87a9c4ef2104d5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01c9249f1494b91" /><Relationship Type="http://schemas.openxmlformats.org/officeDocument/2006/relationships/notesSlide" Target="/ppt/notesSlides/notesSlide8.xml" Id="Rf8ba889bf24547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b0d11dcd0bf4d62" /><Relationship Type="http://schemas.openxmlformats.org/officeDocument/2006/relationships/notesSlide" Target="/ppt/notesSlides/notesSlide9.xml" Id="R2314a8804e2849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1cbcaef18d24d80" /><Relationship Type="http://schemas.openxmlformats.org/officeDocument/2006/relationships/notesSlide" Target="/ppt/notesSlides/notesSlide10.xml" Id="Rb747f98aedbc4a0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db25e3fe2874d24" /><Relationship Type="http://schemas.openxmlformats.org/officeDocument/2006/relationships/notesSlide" Target="/ppt/notesSlides/notesSlide11.xml" Id="R49f8e9c2d300408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667957b5cf446b2" /><Relationship Type="http://schemas.openxmlformats.org/officeDocument/2006/relationships/notesSlide" Target="/ppt/notesSlides/notesSlide12.xml" Id="R0eadea26c09c4a1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5fb1ae177194e65" /><Relationship Type="http://schemas.openxmlformats.org/officeDocument/2006/relationships/notesSlide" Target="/ppt/notesSlides/notesSlide13.xml" Id="R7660fbb7aac341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f8282fa5a5c4caf" /><Relationship Type="http://schemas.openxmlformats.org/officeDocument/2006/relationships/notesSlide" Target="/ppt/notesSlides/notesSlide14.xml" Id="R3daeda84c68b490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9edc254deac45ee" /><Relationship Type="http://schemas.openxmlformats.org/officeDocument/2006/relationships/notesSlide" Target="/ppt/notesSlides/notesSlide15.xml" Id="R0ecadf73a8764e38" /></Relationships>
</file>

<file path=ppt/slides/slide1.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CE0545B6-F54E-4DA2-92D5-3D4BEE814F05}"/>
              </a:ext>
            </a:extLst>
          </p:cNvPr>
          <p:cNvCxnSpPr>
            <a:stCxn xmlns:a="http://schemas.openxmlformats.org/drawingml/2006/main" id="10" idx="3"/>
            <a:endCxn xmlns:a="http://schemas.openxmlformats.org/drawingml/2006/main" id="13" idx="1"/>
          </p:cNvCxnSpPr>
          <p:nvPr/>
        </p:nvCxnSpPr>
        <p:spPr>
          <a:xfrm xmlns:a="http://schemas.openxmlformats.org/drawingml/2006/main">
            <a:off x="86296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74B37286-D78C-4B82-A15C-AD5885E1AA1D}"/>
              </a:ext>
            </a:extLst>
          </p:cNvPr>
          <p:cNvCxnSpPr>
            <a:stCxn xmlns:a="http://schemas.openxmlformats.org/drawingml/2006/main" id="7" idx="3"/>
            <a:endCxn xmlns:a="http://schemas.openxmlformats.org/drawingml/2006/main" id="10" idx="1"/>
          </p:cNvCxnSpPr>
          <p:nvPr/>
        </p:nvCxnSpPr>
        <p:spPr>
          <a:xfrm xmlns:a="http://schemas.openxmlformats.org/drawingml/2006/main">
            <a:off x="582930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F8F63FD6-1442-43A9-96A9-B113100CB479}"/>
              </a:ext>
            </a:extLst>
          </p:cNvPr>
          <p:cNvCxnSpPr>
            <a:stCxn xmlns:a="http://schemas.openxmlformats.org/drawingml/2006/main" id="4" idx="3"/>
            <a:endCxn xmlns:a="http://schemas.openxmlformats.org/drawingml/2006/main" id="7" idx="1"/>
          </p:cNvCxnSpPr>
          <p:nvPr/>
        </p:nvCxnSpPr>
        <p:spPr>
          <a:xfrm xmlns:a="http://schemas.openxmlformats.org/drawingml/2006/main">
            <a:off x="30289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22" name="">
            <a:extLst xmlns:a="http://schemas.openxmlformats.org/drawingml/2006/main">
              <a:ext uri="{FF2B5EF4-FFF2-40B4-BE49-F238E27FC236}">
                <a16:creationId xmlns:a16="http://schemas.microsoft.com/office/drawing/2014/main" id="{141522D8-5EE2-497B-83E7-451965EF7678}"/>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8B775144-47F3-40D7-AF29-28F4DB38B40C}"/>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One invoice, from start to finish</a:t>
            </a:r>
          </a:p>
        </p:txBody>
      </p:sp>
      <p:sp>
        <p:nvSpPr>
          <p:cNvPr id="3" name="">
            <a:extLst xmlns:a="http://schemas.openxmlformats.org/drawingml/2006/main">
              <a:ext uri="{FF2B5EF4-FFF2-40B4-BE49-F238E27FC236}">
                <a16:creationId xmlns:a16="http://schemas.microsoft.com/office/drawing/2014/main" id="{76087F95-1B6C-42D8-88E1-6560BCED5672}"/>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Follow an illustrative supplier invoice through the payment journey.</a:t>
            </a:r>
          </a:p>
        </p:txBody>
      </p:sp>
      <p:sp>
        <p:nvSpPr>
          <p:cNvPr id="4" name="">
            <a:extLst xmlns:a="http://schemas.openxmlformats.org/drawingml/2006/main">
              <a:ext uri="{FF2B5EF4-FFF2-40B4-BE49-F238E27FC236}">
                <a16:creationId xmlns:a16="http://schemas.microsoft.com/office/drawing/2014/main" id="{CBA5DD25-8A1F-4EA2-B4D0-DA8D621195DD}"/>
              </a:ext>
            </a:extLst>
          </p:cNvPr>
          <p:cNvSpPr>
            <a:spLocks xmlns:a="http://schemas.openxmlformats.org/drawingml/2006/main" noGrp="1"/>
          </p:cNvSpPr>
          <p:nvPr/>
        </p:nvSpPr>
        <p:spPr>
          <a:xfrm xmlns:a="http://schemas.openxmlformats.org/drawingml/2006/main">
            <a:off x="7620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DC5CB865-22B1-4EB1-8CDB-38F57F9770D7}"/>
              </a:ext>
            </a:extLst>
          </p:cNvPr>
          <p:cNvSpPr>
            <a:spLocks xmlns:a="http://schemas.openxmlformats.org/drawingml/2006/main" noGrp="1"/>
          </p:cNvSpPr>
          <p:nvPr/>
        </p:nvSpPr>
        <p:spPr>
          <a:xfrm xmlns:a="http://schemas.openxmlformats.org/drawingml/2006/main">
            <a:off x="8382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Supplier</a:t>
            </a:r>
          </a:p>
        </p:txBody>
      </p:sp>
      <p:sp>
        <p:nvSpPr>
          <p:cNvPr id="6" name="">
            <a:extLst xmlns:a="http://schemas.openxmlformats.org/drawingml/2006/main">
              <a:ext uri="{FF2B5EF4-FFF2-40B4-BE49-F238E27FC236}">
                <a16:creationId xmlns:a16="http://schemas.microsoft.com/office/drawing/2014/main" id="{6860184E-FBA5-40CE-BD28-D3A711639756}"/>
              </a:ext>
            </a:extLst>
          </p:cNvPr>
          <p:cNvSpPr>
            <a:spLocks xmlns:a="http://schemas.openxmlformats.org/drawingml/2006/main" noGrp="1"/>
          </p:cNvSpPr>
          <p:nvPr/>
        </p:nvSpPr>
        <p:spPr>
          <a:xfrm xmlns:a="http://schemas.openxmlformats.org/drawingml/2006/main">
            <a:off x="8382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Sends invoice</a:t>
            </a:r>
          </a:p>
        </p:txBody>
      </p:sp>
      <p:sp>
        <p:nvSpPr>
          <p:cNvPr id="7" name="">
            <a:extLst xmlns:a="http://schemas.openxmlformats.org/drawingml/2006/main">
              <a:ext uri="{FF2B5EF4-FFF2-40B4-BE49-F238E27FC236}">
                <a16:creationId xmlns:a16="http://schemas.microsoft.com/office/drawing/2014/main" id="{9E8E389D-6B5B-4867-A3BE-C4F50034DD4A}"/>
              </a:ext>
            </a:extLst>
          </p:cNvPr>
          <p:cNvSpPr>
            <a:spLocks xmlns:a="http://schemas.openxmlformats.org/drawingml/2006/main" noGrp="1"/>
          </p:cNvSpPr>
          <p:nvPr/>
        </p:nvSpPr>
        <p:spPr>
          <a:xfrm xmlns:a="http://schemas.openxmlformats.org/drawingml/2006/main">
            <a:off x="35623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9839F8CF-AA81-4480-A0FA-164CA5D45890}"/>
              </a:ext>
            </a:extLst>
          </p:cNvPr>
          <p:cNvSpPr>
            <a:spLocks xmlns:a="http://schemas.openxmlformats.org/drawingml/2006/main" noGrp="1"/>
          </p:cNvSpPr>
          <p:nvPr/>
        </p:nvSpPr>
        <p:spPr>
          <a:xfrm xmlns:a="http://schemas.openxmlformats.org/drawingml/2006/main">
            <a:off x="36385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StrongRoom</a:t>
            </a:r>
          </a:p>
        </p:txBody>
      </p:sp>
      <p:sp>
        <p:nvSpPr>
          <p:cNvPr id="9" name="">
            <a:extLst xmlns:a="http://schemas.openxmlformats.org/drawingml/2006/main">
              <a:ext uri="{FF2B5EF4-FFF2-40B4-BE49-F238E27FC236}">
                <a16:creationId xmlns:a16="http://schemas.microsoft.com/office/drawing/2014/main" id="{BE9C6E8D-1D20-488E-982B-9AA64BB194A2}"/>
              </a:ext>
            </a:extLst>
          </p:cNvPr>
          <p:cNvSpPr>
            <a:spLocks xmlns:a="http://schemas.openxmlformats.org/drawingml/2006/main" noGrp="1"/>
          </p:cNvSpPr>
          <p:nvPr/>
        </p:nvSpPr>
        <p:spPr>
          <a:xfrm xmlns:a="http://schemas.openxmlformats.org/drawingml/2006/main">
            <a:off x="36385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Receives bill</a:t>
            </a:r>
          </a:p>
        </p:txBody>
      </p:sp>
      <p:sp>
        <p:nvSpPr>
          <p:cNvPr id="10" name="">
            <a:extLst xmlns:a="http://schemas.openxmlformats.org/drawingml/2006/main">
              <a:ext uri="{FF2B5EF4-FFF2-40B4-BE49-F238E27FC236}">
                <a16:creationId xmlns:a16="http://schemas.microsoft.com/office/drawing/2014/main" id="{F50CDF1B-8393-4C61-9F64-EE6BED12FE93}"/>
              </a:ext>
            </a:extLst>
          </p:cNvPr>
          <p:cNvSpPr>
            <a:spLocks xmlns:a="http://schemas.openxmlformats.org/drawingml/2006/main" noGrp="1"/>
          </p:cNvSpPr>
          <p:nvPr/>
        </p:nvSpPr>
        <p:spPr>
          <a:xfrm xmlns:a="http://schemas.openxmlformats.org/drawingml/2006/main">
            <a:off x="63627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92961A63-6834-4A00-A2C1-2BCB51EC4438}"/>
              </a:ext>
            </a:extLst>
          </p:cNvPr>
          <p:cNvSpPr>
            <a:spLocks xmlns:a="http://schemas.openxmlformats.org/drawingml/2006/main" noGrp="1"/>
          </p:cNvSpPr>
          <p:nvPr/>
        </p:nvSpPr>
        <p:spPr>
          <a:xfrm xmlns:a="http://schemas.openxmlformats.org/drawingml/2006/main">
            <a:off x="64389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Buyer</a:t>
            </a:r>
          </a:p>
        </p:txBody>
      </p:sp>
      <p:sp>
        <p:nvSpPr>
          <p:cNvPr id="12" name="">
            <a:extLst xmlns:a="http://schemas.openxmlformats.org/drawingml/2006/main">
              <a:ext uri="{FF2B5EF4-FFF2-40B4-BE49-F238E27FC236}">
                <a16:creationId xmlns:a16="http://schemas.microsoft.com/office/drawing/2014/main" id="{56016034-CFFC-4E43-A609-6B2624DAB20C}"/>
              </a:ext>
            </a:extLst>
          </p:cNvPr>
          <p:cNvSpPr>
            <a:spLocks xmlns:a="http://schemas.openxmlformats.org/drawingml/2006/main" noGrp="1"/>
          </p:cNvSpPr>
          <p:nvPr/>
        </p:nvSpPr>
        <p:spPr>
          <a:xfrm xmlns:a="http://schemas.openxmlformats.org/drawingml/2006/main">
            <a:off x="64389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Approves</a:t>
            </a:r>
          </a:p>
        </p:txBody>
      </p:sp>
      <p:sp>
        <p:nvSpPr>
          <p:cNvPr id="13" name="">
            <a:extLst xmlns:a="http://schemas.openxmlformats.org/drawingml/2006/main">
              <a:ext uri="{FF2B5EF4-FFF2-40B4-BE49-F238E27FC236}">
                <a16:creationId xmlns:a16="http://schemas.microsoft.com/office/drawing/2014/main" id="{1874E2BC-179D-4794-8192-C793AD2A4087}"/>
              </a:ext>
            </a:extLst>
          </p:cNvPr>
          <p:cNvSpPr>
            <a:spLocks xmlns:a="http://schemas.openxmlformats.org/drawingml/2006/main" noGrp="1"/>
          </p:cNvSpPr>
          <p:nvPr/>
        </p:nvSpPr>
        <p:spPr>
          <a:xfrm xmlns:a="http://schemas.openxmlformats.org/drawingml/2006/main">
            <a:off x="91630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4" name="">
            <a:extLst xmlns:a="http://schemas.openxmlformats.org/drawingml/2006/main">
              <a:ext uri="{FF2B5EF4-FFF2-40B4-BE49-F238E27FC236}">
                <a16:creationId xmlns:a16="http://schemas.microsoft.com/office/drawing/2014/main" id="{C879948B-84EB-422B-BAD2-5F97CB511D08}"/>
              </a:ext>
            </a:extLst>
          </p:cNvPr>
          <p:cNvSpPr>
            <a:spLocks xmlns:a="http://schemas.openxmlformats.org/drawingml/2006/main" noGrp="1"/>
          </p:cNvSpPr>
          <p:nvPr/>
        </p:nvSpPr>
        <p:spPr>
          <a:xfrm xmlns:a="http://schemas.openxmlformats.org/drawingml/2006/main">
            <a:off x="92392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Payment</a:t>
            </a:r>
          </a:p>
        </p:txBody>
      </p:sp>
      <p:sp>
        <p:nvSpPr>
          <p:cNvPr id="15" name="">
            <a:extLst xmlns:a="http://schemas.openxmlformats.org/drawingml/2006/main">
              <a:ext uri="{FF2B5EF4-FFF2-40B4-BE49-F238E27FC236}">
                <a16:creationId xmlns:a16="http://schemas.microsoft.com/office/drawing/2014/main" id="{3F657757-89BC-4946-83C0-203D12962A05}"/>
              </a:ext>
            </a:extLst>
          </p:cNvPr>
          <p:cNvSpPr>
            <a:spLocks xmlns:a="http://schemas.openxmlformats.org/drawingml/2006/main" noGrp="1"/>
          </p:cNvSpPr>
          <p:nvPr/>
        </p:nvSpPr>
        <p:spPr>
          <a:xfrm xmlns:a="http://schemas.openxmlformats.org/drawingml/2006/main">
            <a:off x="92392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Created</a:t>
            </a:r>
          </a:p>
        </p:txBody>
      </p:sp>
      <p:sp>
        <p:nvSpPr>
          <p:cNvPr id="19" name="">
            <a:extLst xmlns:a="http://schemas.openxmlformats.org/drawingml/2006/main">
              <a:ext uri="{FF2B5EF4-FFF2-40B4-BE49-F238E27FC236}">
                <a16:creationId xmlns:a16="http://schemas.microsoft.com/office/drawing/2014/main" id="{CA653632-7595-417F-B257-A0A8067E6EC4}"/>
              </a:ext>
            </a:extLst>
          </p:cNvPr>
          <p:cNvSpPr>
            <a:spLocks xmlns:a="http://schemas.openxmlformats.org/drawingml/2006/main" noGrp="1"/>
          </p:cNvSpPr>
          <p:nvPr/>
        </p:nvSpPr>
        <p:spPr>
          <a:xfrm xmlns:a="http://schemas.openxmlformats.org/drawingml/2006/main">
            <a:off x="800100" y="58102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F4C585"/>
                </a:solidFill>
                <a:latin typeface="Arial"/>
                <a:ea typeface="Arial"/>
                <a:cs typeface="Arial"/>
              </a:defRPr>
            </a:defPPr>
            <a:lvl1pPr algn="l">
              <a:buNone/>
              <a:defRPr sz="1650" b="0">
                <a:solidFill>
                  <a:srgbClr val="F4C585"/>
                </a:solidFill>
                <a:latin typeface="Arial"/>
                <a:ea typeface="Arial"/>
                <a:cs typeface="Arial"/>
              </a:defRPr>
            </a:lvl1pPr>
            <a:lvl2pPr algn="l">
              <a:buNone/>
              <a:defRPr sz="1650" b="0">
                <a:solidFill>
                  <a:srgbClr val="F4C585"/>
                </a:solidFill>
                <a:latin typeface="Arial"/>
                <a:ea typeface="Arial"/>
                <a:cs typeface="Arial"/>
              </a:defRPr>
            </a:lvl2pPr>
            <a:lvl3pPr algn="l">
              <a:buNone/>
              <a:defRPr sz="1650" b="0">
                <a:solidFill>
                  <a:srgbClr val="F4C585"/>
                </a:solidFill>
                <a:latin typeface="Arial"/>
                <a:ea typeface="Arial"/>
                <a:cs typeface="Arial"/>
              </a:defRPr>
            </a:lvl3pPr>
            <a:lvl4pPr algn="l">
              <a:buNone/>
              <a:defRPr sz="1650" b="0">
                <a:solidFill>
                  <a:srgbClr val="F4C585"/>
                </a:solidFill>
                <a:latin typeface="Arial"/>
                <a:ea typeface="Arial"/>
                <a:cs typeface="Arial"/>
              </a:defRPr>
            </a:lvl4pPr>
            <a:lvl5pPr algn="l">
              <a:buNone/>
              <a:defRPr sz="1650" b="0">
                <a:solidFill>
                  <a:srgbClr val="F4C585"/>
                </a:solidFill>
                <a:latin typeface="Arial"/>
                <a:ea typeface="Arial"/>
                <a:cs typeface="Arial"/>
              </a:defRPr>
            </a:lvl5pPr>
            <a:lvl6pPr algn="l">
              <a:buNone/>
              <a:defRPr sz="1650" b="0">
                <a:solidFill>
                  <a:srgbClr val="F4C585"/>
                </a:solidFill>
                <a:latin typeface="Arial"/>
                <a:ea typeface="Arial"/>
                <a:cs typeface="Arial"/>
              </a:defRPr>
            </a:lvl6pPr>
            <a:lvl7pPr algn="l">
              <a:buNone/>
              <a:defRPr sz="1650" b="0">
                <a:solidFill>
                  <a:srgbClr val="F4C585"/>
                </a:solidFill>
                <a:latin typeface="Arial"/>
                <a:ea typeface="Arial"/>
                <a:cs typeface="Arial"/>
              </a:defRPr>
            </a:lvl7pPr>
            <a:lvl8pPr algn="l">
              <a:buNone/>
              <a:defRPr sz="1650" b="0">
                <a:solidFill>
                  <a:srgbClr val="F4C585"/>
                </a:solidFill>
                <a:latin typeface="Arial"/>
                <a:ea typeface="Arial"/>
                <a:cs typeface="Arial"/>
              </a:defRPr>
            </a:lvl8pPr>
            <a:lvl9pPr algn="l">
              <a:buNone/>
              <a:defRPr sz="1650" b="0">
                <a:solidFill>
                  <a:srgbClr val="F4C585"/>
                </a:solidFill>
                <a:latin typeface="Arial"/>
                <a:ea typeface="Arial"/>
                <a:cs typeface="Arial"/>
              </a:defRPr>
            </a:lvl9pPr>
          </a:lstStyle>
          <a:p xmlns:a="http://schemas.openxmlformats.org/drawingml/2006/main">
            <a:pPr algn="l">
              <a:buNone/>
              <a:defRPr sz="1650" b="0">
                <a:solidFill>
                  <a:srgbClr val="F4C585"/>
                </a:solidFill>
                <a:latin typeface="Arial"/>
                <a:ea typeface="Arial"/>
                <a:cs typeface="Arial"/>
              </a:defRPr>
            </a:pPr>
          </a:p>
        </p:txBody>
      </p:sp>
      <p:sp>
        <p:nvSpPr>
          <p:cNvPr id="20" name="">
            <a:extLst xmlns:a="http://schemas.openxmlformats.org/drawingml/2006/main">
              <a:ext uri="{FF2B5EF4-FFF2-40B4-BE49-F238E27FC236}">
                <a16:creationId xmlns:a16="http://schemas.microsoft.com/office/drawing/2014/main" id="{5E7C8664-831A-446B-BE95-4DBC41484428}"/>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1" name="">
            <a:extLst xmlns:a="http://schemas.openxmlformats.org/drawingml/2006/main">
              <a:ext uri="{FF2B5EF4-FFF2-40B4-BE49-F238E27FC236}">
                <a16:creationId xmlns:a16="http://schemas.microsoft.com/office/drawing/2014/main" id="{D7F24970-32F8-4AF7-9ED5-C515886345A0}"/>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1</a:t>
            </a:r>
          </a:p>
        </p:txBody>
      </p:sp>
    </p:spTree>
    <p:extLst>
      <p:ext uri="{BB962C8B-B14F-4D97-AF65-F5344CB8AC3E}">
        <p14:creationId xmlns:p14="http://schemas.microsoft.com/office/powerpoint/2010/main" val="678856430"/>
      </p:ext>
    </p:extLst>
  </p:cSld>
</p:sld>
</file>

<file path=ppt/slides/slide2.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7161274-D4BF-45FB-B64B-08D70448D73F}"/>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ABBFB296-BB5C-459B-89A3-4D86C6CDB170}"/>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What is an invoice?</a:t>
            </a:r>
          </a:p>
        </p:txBody>
      </p:sp>
      <p:sp>
        <p:nvSpPr>
          <p:cNvPr id="3" name="">
            <a:extLst xmlns:a="http://schemas.openxmlformats.org/drawingml/2006/main">
              <a:ext uri="{FF2B5EF4-FFF2-40B4-BE49-F238E27FC236}">
                <a16:creationId xmlns:a16="http://schemas.microsoft.com/office/drawing/2014/main" id="{8A7D3511-9758-475C-A8CD-192AF6154CFA}"/>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The supplier sends the buyer a bill for work completed.</a:t>
            </a:r>
          </a:p>
        </p:txBody>
      </p:sp>
      <p:sp>
        <p:nvSpPr>
          <p:cNvPr id="4" name="">
            <a:extLst xmlns:a="http://schemas.openxmlformats.org/drawingml/2006/main">
              <a:ext uri="{FF2B5EF4-FFF2-40B4-BE49-F238E27FC236}">
                <a16:creationId xmlns:a16="http://schemas.microsoft.com/office/drawing/2014/main" id="{6EBA3EB2-A7E1-4EDD-8F0D-91CD2F049AB4}"/>
              </a:ext>
            </a:extLst>
          </p:cNvPr>
          <p:cNvSpPr>
            <a:spLocks xmlns:a="http://schemas.openxmlformats.org/drawingml/2006/main" noGrp="1"/>
          </p:cNvSpPr>
          <p:nvPr/>
        </p:nvSpPr>
        <p:spPr>
          <a:xfrm xmlns:a="http://schemas.openxmlformats.org/drawingml/2006/main">
            <a:off x="1028700" y="2647950"/>
            <a:ext cx="4381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1">
                <a:solidFill>
                  <a:srgbClr val="64E4CE"/>
                </a:solidFill>
                <a:latin typeface="Arial"/>
                <a:ea typeface="Arial"/>
                <a:cs typeface="Arial"/>
              </a:defRPr>
            </a:defPPr>
            <a:lvl1pPr algn="l">
              <a:buNone/>
              <a:defRPr sz="1500" b="1">
                <a:solidFill>
                  <a:srgbClr val="64E4CE"/>
                </a:solidFill>
                <a:latin typeface="Arial"/>
                <a:ea typeface="Arial"/>
                <a:cs typeface="Arial"/>
              </a:defRPr>
            </a:lvl1pPr>
            <a:lvl2pPr algn="l">
              <a:buNone/>
              <a:defRPr sz="1500" b="1">
                <a:solidFill>
                  <a:srgbClr val="64E4CE"/>
                </a:solidFill>
                <a:latin typeface="Arial"/>
                <a:ea typeface="Arial"/>
                <a:cs typeface="Arial"/>
              </a:defRPr>
            </a:lvl2pPr>
            <a:lvl3pPr algn="l">
              <a:buNone/>
              <a:defRPr sz="1500" b="1">
                <a:solidFill>
                  <a:srgbClr val="64E4CE"/>
                </a:solidFill>
                <a:latin typeface="Arial"/>
                <a:ea typeface="Arial"/>
                <a:cs typeface="Arial"/>
              </a:defRPr>
            </a:lvl3pPr>
            <a:lvl4pPr algn="l">
              <a:buNone/>
              <a:defRPr sz="1500" b="1">
                <a:solidFill>
                  <a:srgbClr val="64E4CE"/>
                </a:solidFill>
                <a:latin typeface="Arial"/>
                <a:ea typeface="Arial"/>
                <a:cs typeface="Arial"/>
              </a:defRPr>
            </a:lvl4pPr>
            <a:lvl5pPr algn="l">
              <a:buNone/>
              <a:defRPr sz="1500" b="1">
                <a:solidFill>
                  <a:srgbClr val="64E4CE"/>
                </a:solidFill>
                <a:latin typeface="Arial"/>
                <a:ea typeface="Arial"/>
                <a:cs typeface="Arial"/>
              </a:defRPr>
            </a:lvl5pPr>
            <a:lvl6pPr algn="l">
              <a:buNone/>
              <a:defRPr sz="1500" b="1">
                <a:solidFill>
                  <a:srgbClr val="64E4CE"/>
                </a:solidFill>
                <a:latin typeface="Arial"/>
                <a:ea typeface="Arial"/>
                <a:cs typeface="Arial"/>
              </a:defRPr>
            </a:lvl6pPr>
            <a:lvl7pPr algn="l">
              <a:buNone/>
              <a:defRPr sz="1500" b="1">
                <a:solidFill>
                  <a:srgbClr val="64E4CE"/>
                </a:solidFill>
                <a:latin typeface="Arial"/>
                <a:ea typeface="Arial"/>
                <a:cs typeface="Arial"/>
              </a:defRPr>
            </a:lvl7pPr>
            <a:lvl8pPr algn="l">
              <a:buNone/>
              <a:defRPr sz="1500" b="1">
                <a:solidFill>
                  <a:srgbClr val="64E4CE"/>
                </a:solidFill>
                <a:latin typeface="Arial"/>
                <a:ea typeface="Arial"/>
                <a:cs typeface="Arial"/>
              </a:defRPr>
            </a:lvl8pPr>
            <a:lvl9pPr algn="l">
              <a:buNone/>
              <a:defRPr sz="1500" b="1">
                <a:solidFill>
                  <a:srgbClr val="64E4CE"/>
                </a:solidFill>
                <a:latin typeface="Arial"/>
                <a:ea typeface="Arial"/>
                <a:cs typeface="Arial"/>
              </a:defRPr>
            </a:lvl9pPr>
          </a:lstStyle>
          <a:p xmlns:a="http://schemas.openxmlformats.org/drawingml/2006/main">
            <a:pPr algn="l">
              <a:buNone/>
              <a:defRPr sz="1500" b="1">
                <a:solidFill>
                  <a:srgbClr val="64E4CE"/>
                </a:solidFill>
                <a:latin typeface="Arial"/>
                <a:ea typeface="Arial"/>
                <a:cs typeface="Arial"/>
              </a:defRPr>
            </a:pPr>
            <a:r>
              <a:rPr sz="1500" b="1">
                <a:solidFill>
                  <a:srgbClr val="64E4CE"/>
                </a:solidFill>
                <a:latin typeface="Arial"/>
                <a:ea typeface="Arial"/>
                <a:cs typeface="Arial"/>
              </a:rPr>
              <a:t>SUPPLIER</a:t>
            </a:r>
          </a:p>
        </p:txBody>
      </p:sp>
      <p:sp>
        <p:nvSpPr>
          <p:cNvPr id="5" name="">
            <a:extLst xmlns:a="http://schemas.openxmlformats.org/drawingml/2006/main">
              <a:ext uri="{FF2B5EF4-FFF2-40B4-BE49-F238E27FC236}">
                <a16:creationId xmlns:a16="http://schemas.microsoft.com/office/drawing/2014/main" id="{A890F827-89BC-4FFE-95DE-A24787E2CE0F}"/>
              </a:ext>
            </a:extLst>
          </p:cNvPr>
          <p:cNvSpPr>
            <a:spLocks xmlns:a="http://schemas.openxmlformats.org/drawingml/2006/main" noGrp="1"/>
          </p:cNvSpPr>
          <p:nvPr/>
        </p:nvSpPr>
        <p:spPr>
          <a:xfrm xmlns:a="http://schemas.openxmlformats.org/drawingml/2006/main">
            <a:off x="1028700" y="30289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400" b="1">
                <a:solidFill>
                  <a:srgbClr val="F3F7FA"/>
                </a:solidFill>
                <a:latin typeface="Arial"/>
                <a:ea typeface="Arial"/>
                <a:cs typeface="Arial"/>
              </a:defRPr>
            </a:defPPr>
            <a:lvl1pPr algn="l">
              <a:buNone/>
              <a:defRPr sz="2400" b="1">
                <a:solidFill>
                  <a:srgbClr val="F3F7FA"/>
                </a:solidFill>
                <a:latin typeface="Arial"/>
                <a:ea typeface="Arial"/>
                <a:cs typeface="Arial"/>
              </a:defRPr>
            </a:lvl1pPr>
            <a:lvl2pPr algn="l">
              <a:buNone/>
              <a:defRPr sz="2400" b="1">
                <a:solidFill>
                  <a:srgbClr val="F3F7FA"/>
                </a:solidFill>
                <a:latin typeface="Arial"/>
                <a:ea typeface="Arial"/>
                <a:cs typeface="Arial"/>
              </a:defRPr>
            </a:lvl2pPr>
            <a:lvl3pPr algn="l">
              <a:buNone/>
              <a:defRPr sz="2400" b="1">
                <a:solidFill>
                  <a:srgbClr val="F3F7FA"/>
                </a:solidFill>
                <a:latin typeface="Arial"/>
                <a:ea typeface="Arial"/>
                <a:cs typeface="Arial"/>
              </a:defRPr>
            </a:lvl3pPr>
            <a:lvl4pPr algn="l">
              <a:buNone/>
              <a:defRPr sz="2400" b="1">
                <a:solidFill>
                  <a:srgbClr val="F3F7FA"/>
                </a:solidFill>
                <a:latin typeface="Arial"/>
                <a:ea typeface="Arial"/>
                <a:cs typeface="Arial"/>
              </a:defRPr>
            </a:lvl4pPr>
            <a:lvl5pPr algn="l">
              <a:buNone/>
              <a:defRPr sz="2400" b="1">
                <a:solidFill>
                  <a:srgbClr val="F3F7FA"/>
                </a:solidFill>
                <a:latin typeface="Arial"/>
                <a:ea typeface="Arial"/>
                <a:cs typeface="Arial"/>
              </a:defRPr>
            </a:lvl5pPr>
            <a:lvl6pPr algn="l">
              <a:buNone/>
              <a:defRPr sz="2400" b="1">
                <a:solidFill>
                  <a:srgbClr val="F3F7FA"/>
                </a:solidFill>
                <a:latin typeface="Arial"/>
                <a:ea typeface="Arial"/>
                <a:cs typeface="Arial"/>
              </a:defRPr>
            </a:lvl6pPr>
            <a:lvl7pPr algn="l">
              <a:buNone/>
              <a:defRPr sz="2400" b="1">
                <a:solidFill>
                  <a:srgbClr val="F3F7FA"/>
                </a:solidFill>
                <a:latin typeface="Arial"/>
                <a:ea typeface="Arial"/>
                <a:cs typeface="Arial"/>
              </a:defRPr>
            </a:lvl7pPr>
            <a:lvl8pPr algn="l">
              <a:buNone/>
              <a:defRPr sz="2400" b="1">
                <a:solidFill>
                  <a:srgbClr val="F3F7FA"/>
                </a:solidFill>
                <a:latin typeface="Arial"/>
                <a:ea typeface="Arial"/>
                <a:cs typeface="Arial"/>
              </a:defRPr>
            </a:lvl8pPr>
            <a:lvl9pPr algn="l">
              <a:buNone/>
              <a:defRPr sz="2400" b="1">
                <a:solidFill>
                  <a:srgbClr val="F3F7FA"/>
                </a:solidFill>
                <a:latin typeface="Arial"/>
                <a:ea typeface="Arial"/>
                <a:cs typeface="Arial"/>
              </a:defRPr>
            </a:lvl9pPr>
          </a:lstStyle>
          <a:p xmlns:a="http://schemas.openxmlformats.org/drawingml/2006/main">
            <a:pPr algn="l">
              <a:buNone/>
              <a:defRPr sz="2400" b="1">
                <a:solidFill>
                  <a:srgbClr val="F3F7FA"/>
                </a:solidFill>
                <a:latin typeface="Arial"/>
                <a:ea typeface="Arial"/>
                <a:cs typeface="Arial"/>
              </a:defRPr>
            </a:pPr>
            <a:r>
              <a:rPr sz="2400" b="1">
                <a:solidFill>
                  <a:srgbClr val="F3F7FA"/>
                </a:solidFill>
                <a:latin typeface="Arial"/>
                <a:ea typeface="Arial"/>
                <a:cs typeface="Arial"/>
              </a:rPr>
              <a:t>ABC Plumbing</a:t>
            </a:r>
          </a:p>
        </p:txBody>
      </p:sp>
      <p:sp>
        <p:nvSpPr>
          <p:cNvPr id="6" name="">
            <a:extLst xmlns:a="http://schemas.openxmlformats.org/drawingml/2006/main">
              <a:ext uri="{FF2B5EF4-FFF2-40B4-BE49-F238E27FC236}">
                <a16:creationId xmlns:a16="http://schemas.microsoft.com/office/drawing/2014/main" id="{42736EE9-DE20-46AF-B091-72CEE8B16308}"/>
              </a:ext>
            </a:extLst>
          </p:cNvPr>
          <p:cNvSpPr>
            <a:spLocks xmlns:a="http://schemas.openxmlformats.org/drawingml/2006/main" noGrp="1"/>
          </p:cNvSpPr>
          <p:nvPr/>
        </p:nvSpPr>
        <p:spPr>
          <a:xfrm xmlns:a="http://schemas.openxmlformats.org/drawingml/2006/main">
            <a:off x="1028700" y="3924300"/>
            <a:ext cx="4381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1">
                <a:solidFill>
                  <a:srgbClr val="64E4CE"/>
                </a:solidFill>
                <a:latin typeface="Arial"/>
                <a:ea typeface="Arial"/>
                <a:cs typeface="Arial"/>
              </a:defRPr>
            </a:defPPr>
            <a:lvl1pPr algn="l">
              <a:buNone/>
              <a:defRPr sz="1500" b="1">
                <a:solidFill>
                  <a:srgbClr val="64E4CE"/>
                </a:solidFill>
                <a:latin typeface="Arial"/>
                <a:ea typeface="Arial"/>
                <a:cs typeface="Arial"/>
              </a:defRPr>
            </a:lvl1pPr>
            <a:lvl2pPr algn="l">
              <a:buNone/>
              <a:defRPr sz="1500" b="1">
                <a:solidFill>
                  <a:srgbClr val="64E4CE"/>
                </a:solidFill>
                <a:latin typeface="Arial"/>
                <a:ea typeface="Arial"/>
                <a:cs typeface="Arial"/>
              </a:defRPr>
            </a:lvl2pPr>
            <a:lvl3pPr algn="l">
              <a:buNone/>
              <a:defRPr sz="1500" b="1">
                <a:solidFill>
                  <a:srgbClr val="64E4CE"/>
                </a:solidFill>
                <a:latin typeface="Arial"/>
                <a:ea typeface="Arial"/>
                <a:cs typeface="Arial"/>
              </a:defRPr>
            </a:lvl3pPr>
            <a:lvl4pPr algn="l">
              <a:buNone/>
              <a:defRPr sz="1500" b="1">
                <a:solidFill>
                  <a:srgbClr val="64E4CE"/>
                </a:solidFill>
                <a:latin typeface="Arial"/>
                <a:ea typeface="Arial"/>
                <a:cs typeface="Arial"/>
              </a:defRPr>
            </a:lvl4pPr>
            <a:lvl5pPr algn="l">
              <a:buNone/>
              <a:defRPr sz="1500" b="1">
                <a:solidFill>
                  <a:srgbClr val="64E4CE"/>
                </a:solidFill>
                <a:latin typeface="Arial"/>
                <a:ea typeface="Arial"/>
                <a:cs typeface="Arial"/>
              </a:defRPr>
            </a:lvl5pPr>
            <a:lvl6pPr algn="l">
              <a:buNone/>
              <a:defRPr sz="1500" b="1">
                <a:solidFill>
                  <a:srgbClr val="64E4CE"/>
                </a:solidFill>
                <a:latin typeface="Arial"/>
                <a:ea typeface="Arial"/>
                <a:cs typeface="Arial"/>
              </a:defRPr>
            </a:lvl6pPr>
            <a:lvl7pPr algn="l">
              <a:buNone/>
              <a:defRPr sz="1500" b="1">
                <a:solidFill>
                  <a:srgbClr val="64E4CE"/>
                </a:solidFill>
                <a:latin typeface="Arial"/>
                <a:ea typeface="Arial"/>
                <a:cs typeface="Arial"/>
              </a:defRPr>
            </a:lvl7pPr>
            <a:lvl8pPr algn="l">
              <a:buNone/>
              <a:defRPr sz="1500" b="1">
                <a:solidFill>
                  <a:srgbClr val="64E4CE"/>
                </a:solidFill>
                <a:latin typeface="Arial"/>
                <a:ea typeface="Arial"/>
                <a:cs typeface="Arial"/>
              </a:defRPr>
            </a:lvl8pPr>
            <a:lvl9pPr algn="l">
              <a:buNone/>
              <a:defRPr sz="1500" b="1">
                <a:solidFill>
                  <a:srgbClr val="64E4CE"/>
                </a:solidFill>
                <a:latin typeface="Arial"/>
                <a:ea typeface="Arial"/>
                <a:cs typeface="Arial"/>
              </a:defRPr>
            </a:lvl9pPr>
          </a:lstStyle>
          <a:p xmlns:a="http://schemas.openxmlformats.org/drawingml/2006/main">
            <a:pPr algn="l">
              <a:buNone/>
              <a:defRPr sz="1500" b="1">
                <a:solidFill>
                  <a:srgbClr val="64E4CE"/>
                </a:solidFill>
                <a:latin typeface="Arial"/>
                <a:ea typeface="Arial"/>
                <a:cs typeface="Arial"/>
              </a:defRPr>
            </a:pPr>
            <a:r>
              <a:rPr sz="1500" b="1">
                <a:solidFill>
                  <a:srgbClr val="64E4CE"/>
                </a:solidFill>
                <a:latin typeface="Arial"/>
                <a:ea typeface="Arial"/>
                <a:cs typeface="Arial"/>
              </a:rPr>
              <a:t>BUYER</a:t>
            </a:r>
          </a:p>
        </p:txBody>
      </p:sp>
      <p:sp>
        <p:nvSpPr>
          <p:cNvPr id="7" name="">
            <a:extLst xmlns:a="http://schemas.openxmlformats.org/drawingml/2006/main">
              <a:ext uri="{FF2B5EF4-FFF2-40B4-BE49-F238E27FC236}">
                <a16:creationId xmlns:a16="http://schemas.microsoft.com/office/drawing/2014/main" id="{F3840602-52FB-43AB-954A-C42E45200074}"/>
              </a:ext>
            </a:extLst>
          </p:cNvPr>
          <p:cNvSpPr>
            <a:spLocks xmlns:a="http://schemas.openxmlformats.org/drawingml/2006/main" noGrp="1"/>
          </p:cNvSpPr>
          <p:nvPr/>
        </p:nvSpPr>
        <p:spPr>
          <a:xfrm xmlns:a="http://schemas.openxmlformats.org/drawingml/2006/main">
            <a:off x="1028700" y="4305300"/>
            <a:ext cx="466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1">
                <a:solidFill>
                  <a:srgbClr val="F3F7FA"/>
                </a:solidFill>
                <a:latin typeface="Arial"/>
                <a:ea typeface="Arial"/>
                <a:cs typeface="Arial"/>
              </a:defRPr>
            </a:defPPr>
            <a:lvl1pPr algn="l">
              <a:buNone/>
              <a:defRPr sz="2250" b="1">
                <a:solidFill>
                  <a:srgbClr val="F3F7FA"/>
                </a:solidFill>
                <a:latin typeface="Arial"/>
                <a:ea typeface="Arial"/>
                <a:cs typeface="Arial"/>
              </a:defRPr>
            </a:lvl1pPr>
            <a:lvl2pPr algn="l">
              <a:buNone/>
              <a:defRPr sz="2250" b="1">
                <a:solidFill>
                  <a:srgbClr val="F3F7FA"/>
                </a:solidFill>
                <a:latin typeface="Arial"/>
                <a:ea typeface="Arial"/>
                <a:cs typeface="Arial"/>
              </a:defRPr>
            </a:lvl2pPr>
            <a:lvl3pPr algn="l">
              <a:buNone/>
              <a:defRPr sz="2250" b="1">
                <a:solidFill>
                  <a:srgbClr val="F3F7FA"/>
                </a:solidFill>
                <a:latin typeface="Arial"/>
                <a:ea typeface="Arial"/>
                <a:cs typeface="Arial"/>
              </a:defRPr>
            </a:lvl3pPr>
            <a:lvl4pPr algn="l">
              <a:buNone/>
              <a:defRPr sz="2250" b="1">
                <a:solidFill>
                  <a:srgbClr val="F3F7FA"/>
                </a:solidFill>
                <a:latin typeface="Arial"/>
                <a:ea typeface="Arial"/>
                <a:cs typeface="Arial"/>
              </a:defRPr>
            </a:lvl4pPr>
            <a:lvl5pPr algn="l">
              <a:buNone/>
              <a:defRPr sz="2250" b="1">
                <a:solidFill>
                  <a:srgbClr val="F3F7FA"/>
                </a:solidFill>
                <a:latin typeface="Arial"/>
                <a:ea typeface="Arial"/>
                <a:cs typeface="Arial"/>
              </a:defRPr>
            </a:lvl5pPr>
            <a:lvl6pPr algn="l">
              <a:buNone/>
              <a:defRPr sz="2250" b="1">
                <a:solidFill>
                  <a:srgbClr val="F3F7FA"/>
                </a:solidFill>
                <a:latin typeface="Arial"/>
                <a:ea typeface="Arial"/>
                <a:cs typeface="Arial"/>
              </a:defRPr>
            </a:lvl6pPr>
            <a:lvl7pPr algn="l">
              <a:buNone/>
              <a:defRPr sz="2250" b="1">
                <a:solidFill>
                  <a:srgbClr val="F3F7FA"/>
                </a:solidFill>
                <a:latin typeface="Arial"/>
                <a:ea typeface="Arial"/>
                <a:cs typeface="Arial"/>
              </a:defRPr>
            </a:lvl7pPr>
            <a:lvl8pPr algn="l">
              <a:buNone/>
              <a:defRPr sz="2250" b="1">
                <a:solidFill>
                  <a:srgbClr val="F3F7FA"/>
                </a:solidFill>
                <a:latin typeface="Arial"/>
                <a:ea typeface="Arial"/>
                <a:cs typeface="Arial"/>
              </a:defRPr>
            </a:lvl8pPr>
            <a:lvl9pPr algn="l">
              <a:buNone/>
              <a:defRPr sz="2250" b="1">
                <a:solidFill>
                  <a:srgbClr val="F3F7FA"/>
                </a:solidFill>
                <a:latin typeface="Arial"/>
                <a:ea typeface="Arial"/>
                <a:cs typeface="Arial"/>
              </a:defRPr>
            </a:lvl9pPr>
          </a:lstStyle>
          <a:p xmlns:a="http://schemas.openxmlformats.org/drawingml/2006/main">
            <a:pPr algn="l">
              <a:buNone/>
              <a:defRPr sz="2250" b="1">
                <a:solidFill>
                  <a:srgbClr val="F3F7FA"/>
                </a:solidFill>
                <a:latin typeface="Arial"/>
                <a:ea typeface="Arial"/>
                <a:cs typeface="Arial"/>
              </a:defRPr>
            </a:pPr>
            <a:r>
              <a:rPr sz="2250" b="1">
                <a:solidFill>
                  <a:srgbClr val="F3F7FA"/>
                </a:solidFill>
                <a:latin typeface="Arial"/>
                <a:ea typeface="Arial"/>
                <a:cs typeface="Arial"/>
              </a:rPr>
              <a:t>Sunrise Housing Association</a:t>
            </a:r>
          </a:p>
        </p:txBody>
      </p:sp>
      <p:sp>
        <p:nvSpPr>
          <p:cNvPr id="8" name="">
            <a:extLst xmlns:a="http://schemas.openxmlformats.org/drawingml/2006/main">
              <a:ext uri="{FF2B5EF4-FFF2-40B4-BE49-F238E27FC236}">
                <a16:creationId xmlns:a16="http://schemas.microsoft.com/office/drawing/2014/main" id="{82E0AAA3-240E-481D-A563-54D081CF01FE}"/>
              </a:ext>
            </a:extLst>
          </p:cNvPr>
          <p:cNvSpPr>
            <a:spLocks xmlns:a="http://schemas.openxmlformats.org/drawingml/2006/main" noGrp="1"/>
          </p:cNvSpPr>
          <p:nvPr/>
        </p:nvSpPr>
        <p:spPr>
          <a:xfrm xmlns:a="http://schemas.openxmlformats.org/drawingml/2006/main">
            <a:off x="7600950" y="3000375"/>
            <a:ext cx="3333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5100" b="1">
                <a:solidFill>
                  <a:srgbClr val="F3F7FA"/>
                </a:solidFill>
                <a:latin typeface="Arial"/>
                <a:ea typeface="Arial"/>
                <a:cs typeface="Arial"/>
              </a:defRPr>
            </a:defPPr>
            <a:lvl1pPr algn="l">
              <a:buNone/>
              <a:defRPr sz="5100" b="1">
                <a:solidFill>
                  <a:srgbClr val="F3F7FA"/>
                </a:solidFill>
                <a:latin typeface="Arial"/>
                <a:ea typeface="Arial"/>
                <a:cs typeface="Arial"/>
              </a:defRPr>
            </a:lvl1pPr>
            <a:lvl2pPr algn="l">
              <a:buNone/>
              <a:defRPr sz="5100" b="1">
                <a:solidFill>
                  <a:srgbClr val="F3F7FA"/>
                </a:solidFill>
                <a:latin typeface="Arial"/>
                <a:ea typeface="Arial"/>
                <a:cs typeface="Arial"/>
              </a:defRPr>
            </a:lvl2pPr>
            <a:lvl3pPr algn="l">
              <a:buNone/>
              <a:defRPr sz="5100" b="1">
                <a:solidFill>
                  <a:srgbClr val="F3F7FA"/>
                </a:solidFill>
                <a:latin typeface="Arial"/>
                <a:ea typeface="Arial"/>
                <a:cs typeface="Arial"/>
              </a:defRPr>
            </a:lvl3pPr>
            <a:lvl4pPr algn="l">
              <a:buNone/>
              <a:defRPr sz="5100" b="1">
                <a:solidFill>
                  <a:srgbClr val="F3F7FA"/>
                </a:solidFill>
                <a:latin typeface="Arial"/>
                <a:ea typeface="Arial"/>
                <a:cs typeface="Arial"/>
              </a:defRPr>
            </a:lvl4pPr>
            <a:lvl5pPr algn="l">
              <a:buNone/>
              <a:defRPr sz="5100" b="1">
                <a:solidFill>
                  <a:srgbClr val="F3F7FA"/>
                </a:solidFill>
                <a:latin typeface="Arial"/>
                <a:ea typeface="Arial"/>
                <a:cs typeface="Arial"/>
              </a:defRPr>
            </a:lvl5pPr>
            <a:lvl6pPr algn="l">
              <a:buNone/>
              <a:defRPr sz="5100" b="1">
                <a:solidFill>
                  <a:srgbClr val="F3F7FA"/>
                </a:solidFill>
                <a:latin typeface="Arial"/>
                <a:ea typeface="Arial"/>
                <a:cs typeface="Arial"/>
              </a:defRPr>
            </a:lvl6pPr>
            <a:lvl7pPr algn="l">
              <a:buNone/>
              <a:defRPr sz="5100" b="1">
                <a:solidFill>
                  <a:srgbClr val="F3F7FA"/>
                </a:solidFill>
                <a:latin typeface="Arial"/>
                <a:ea typeface="Arial"/>
                <a:cs typeface="Arial"/>
              </a:defRPr>
            </a:lvl7pPr>
            <a:lvl8pPr algn="l">
              <a:buNone/>
              <a:defRPr sz="5100" b="1">
                <a:solidFill>
                  <a:srgbClr val="F3F7FA"/>
                </a:solidFill>
                <a:latin typeface="Arial"/>
                <a:ea typeface="Arial"/>
                <a:cs typeface="Arial"/>
              </a:defRPr>
            </a:lvl8pPr>
            <a:lvl9pPr algn="l">
              <a:buNone/>
              <a:defRPr sz="5100" b="1">
                <a:solidFill>
                  <a:srgbClr val="F3F7FA"/>
                </a:solidFill>
                <a:latin typeface="Arial"/>
                <a:ea typeface="Arial"/>
                <a:cs typeface="Arial"/>
              </a:defRPr>
            </a:lvl9pPr>
          </a:lstStyle>
          <a:p xmlns:a="http://schemas.openxmlformats.org/drawingml/2006/main">
            <a:pPr algn="l">
              <a:buNone/>
              <a:defRPr sz="5100" b="1">
                <a:solidFill>
                  <a:srgbClr val="F3F7FA"/>
                </a:solidFill>
                <a:latin typeface="Arial"/>
                <a:ea typeface="Arial"/>
                <a:cs typeface="Arial"/>
              </a:defRPr>
            </a:pPr>
            <a:r>
              <a:rPr sz="5100" b="1">
                <a:solidFill>
                  <a:srgbClr val="F3F7FA"/>
                </a:solidFill>
                <a:latin typeface="Arial"/>
                <a:ea typeface="Arial"/>
                <a:cs typeface="Arial"/>
              </a:rPr>
              <a:t>$500</a:t>
            </a:r>
          </a:p>
        </p:txBody>
      </p:sp>
      <p:sp>
        <p:nvSpPr>
          <p:cNvPr id="9" name="">
            <a:extLst xmlns:a="http://schemas.openxmlformats.org/drawingml/2006/main">
              <a:ext uri="{FF2B5EF4-FFF2-40B4-BE49-F238E27FC236}">
                <a16:creationId xmlns:a16="http://schemas.microsoft.com/office/drawing/2014/main" id="{D94DE339-1B52-4BDC-8E1B-01C496BB525E}"/>
              </a:ext>
            </a:extLst>
          </p:cNvPr>
          <p:cNvSpPr>
            <a:spLocks xmlns:a="http://schemas.openxmlformats.org/drawingml/2006/main" noGrp="1"/>
          </p:cNvSpPr>
          <p:nvPr/>
        </p:nvSpPr>
        <p:spPr>
          <a:xfrm xmlns:a="http://schemas.openxmlformats.org/drawingml/2006/main">
            <a:off x="7629525" y="405765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B6CCD7"/>
                </a:solidFill>
                <a:latin typeface="Arial"/>
                <a:ea typeface="Arial"/>
                <a:cs typeface="Arial"/>
              </a:defRPr>
            </a:defPPr>
            <a:lvl1pPr algn="l">
              <a:buNone/>
              <a:defRPr sz="1800" b="0">
                <a:solidFill>
                  <a:srgbClr val="B6CCD7"/>
                </a:solidFill>
                <a:latin typeface="Arial"/>
                <a:ea typeface="Arial"/>
                <a:cs typeface="Arial"/>
              </a:defRPr>
            </a:lvl1pPr>
            <a:lvl2pPr algn="l">
              <a:buNone/>
              <a:defRPr sz="1800" b="0">
                <a:solidFill>
                  <a:srgbClr val="B6CCD7"/>
                </a:solidFill>
                <a:latin typeface="Arial"/>
                <a:ea typeface="Arial"/>
                <a:cs typeface="Arial"/>
              </a:defRPr>
            </a:lvl2pPr>
            <a:lvl3pPr algn="l">
              <a:buNone/>
              <a:defRPr sz="1800" b="0">
                <a:solidFill>
                  <a:srgbClr val="B6CCD7"/>
                </a:solidFill>
                <a:latin typeface="Arial"/>
                <a:ea typeface="Arial"/>
                <a:cs typeface="Arial"/>
              </a:defRPr>
            </a:lvl3pPr>
            <a:lvl4pPr algn="l">
              <a:buNone/>
              <a:defRPr sz="1800" b="0">
                <a:solidFill>
                  <a:srgbClr val="B6CCD7"/>
                </a:solidFill>
                <a:latin typeface="Arial"/>
                <a:ea typeface="Arial"/>
                <a:cs typeface="Arial"/>
              </a:defRPr>
            </a:lvl4pPr>
            <a:lvl5pPr algn="l">
              <a:buNone/>
              <a:defRPr sz="1800" b="0">
                <a:solidFill>
                  <a:srgbClr val="B6CCD7"/>
                </a:solidFill>
                <a:latin typeface="Arial"/>
                <a:ea typeface="Arial"/>
                <a:cs typeface="Arial"/>
              </a:defRPr>
            </a:lvl5pPr>
            <a:lvl6pPr algn="l">
              <a:buNone/>
              <a:defRPr sz="1800" b="0">
                <a:solidFill>
                  <a:srgbClr val="B6CCD7"/>
                </a:solidFill>
                <a:latin typeface="Arial"/>
                <a:ea typeface="Arial"/>
                <a:cs typeface="Arial"/>
              </a:defRPr>
            </a:lvl6pPr>
            <a:lvl7pPr algn="l">
              <a:buNone/>
              <a:defRPr sz="1800" b="0">
                <a:solidFill>
                  <a:srgbClr val="B6CCD7"/>
                </a:solidFill>
                <a:latin typeface="Arial"/>
                <a:ea typeface="Arial"/>
                <a:cs typeface="Arial"/>
              </a:defRPr>
            </a:lvl7pPr>
            <a:lvl8pPr algn="l">
              <a:buNone/>
              <a:defRPr sz="1800" b="0">
                <a:solidFill>
                  <a:srgbClr val="B6CCD7"/>
                </a:solidFill>
                <a:latin typeface="Arial"/>
                <a:ea typeface="Arial"/>
                <a:cs typeface="Arial"/>
              </a:defRPr>
            </a:lvl8pPr>
            <a:lvl9pPr algn="l">
              <a:buNone/>
              <a:defRPr sz="1800" b="0">
                <a:solidFill>
                  <a:srgbClr val="B6CCD7"/>
                </a:solidFill>
                <a:latin typeface="Arial"/>
                <a:ea typeface="Arial"/>
                <a:cs typeface="Arial"/>
              </a:defRPr>
            </a:lvl9pPr>
          </a:lstStyle>
          <a:p xmlns:a="http://schemas.openxmlformats.org/drawingml/2006/main">
            <a:pPr algn="l">
              <a:buNone/>
              <a:defRPr sz="1800" b="0">
                <a:solidFill>
                  <a:srgbClr val="B6CCD7"/>
                </a:solidFill>
                <a:latin typeface="Arial"/>
                <a:ea typeface="Arial"/>
                <a:cs typeface="Arial"/>
              </a:defRPr>
            </a:pPr>
            <a:r>
              <a:rPr sz="1800" b="0">
                <a:solidFill>
                  <a:srgbClr val="B6CCD7"/>
                </a:solidFill>
                <a:latin typeface="Arial"/>
                <a:ea typeface="Arial"/>
                <a:cs typeface="Arial"/>
              </a:rPr>
              <a:t>Pipe repair invoice</a:t>
            </a:r>
          </a:p>
        </p:txBody>
      </p:sp>
      <p:sp>
        <p:nvSpPr>
          <p:cNvPr id="10" name="">
            <a:extLst xmlns:a="http://schemas.openxmlformats.org/drawingml/2006/main">
              <a:ext uri="{FF2B5EF4-FFF2-40B4-BE49-F238E27FC236}">
                <a16:creationId xmlns:a16="http://schemas.microsoft.com/office/drawing/2014/main" id="{0197CEAB-4BC3-4665-86C7-85D121477AB4}"/>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11" name="">
            <a:extLst xmlns:a="http://schemas.openxmlformats.org/drawingml/2006/main">
              <a:ext uri="{FF2B5EF4-FFF2-40B4-BE49-F238E27FC236}">
                <a16:creationId xmlns:a16="http://schemas.microsoft.com/office/drawing/2014/main" id="{91651540-3467-41B2-B7A4-077BA11ED58C}"/>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2</a:t>
            </a:r>
          </a:p>
        </p:txBody>
      </p:sp>
    </p:spTree>
    <p:extLst>
      <p:ext uri="{BB962C8B-B14F-4D97-AF65-F5344CB8AC3E}">
        <p14:creationId xmlns:p14="http://schemas.microsoft.com/office/powerpoint/2010/main" val="33018220"/>
      </p:ext>
    </p:extLst>
  </p:cSld>
</p:sld>
</file>

<file path=ppt/slides/slide3.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CFD58282-01AB-4B65-BA1E-7240375F267F}"/>
              </a:ext>
            </a:extLst>
          </p:cNvPr>
          <p:cNvCxnSpPr>
            <a:stCxn xmlns:a="http://schemas.openxmlformats.org/drawingml/2006/main" id="10" idx="3"/>
            <a:endCxn xmlns:a="http://schemas.openxmlformats.org/drawingml/2006/main" id="13" idx="1"/>
          </p:cNvCxnSpPr>
          <p:nvPr/>
        </p:nvCxnSpPr>
        <p:spPr>
          <a:xfrm xmlns:a="http://schemas.openxmlformats.org/drawingml/2006/main">
            <a:off x="7381875" y="3857625"/>
            <a:ext cx="1952625"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AA7CEC30-8CE1-4B29-8873-183D02DA02CF}"/>
              </a:ext>
            </a:extLst>
          </p:cNvPr>
          <p:cNvCxnSpPr>
            <a:stCxn xmlns:a="http://schemas.openxmlformats.org/drawingml/2006/main" id="7" idx="3"/>
            <a:endCxn xmlns:a="http://schemas.openxmlformats.org/drawingml/2006/main" id="10" idx="1"/>
          </p:cNvCxnSpPr>
          <p:nvPr/>
        </p:nvCxnSpPr>
        <p:spPr>
          <a:xfrm xmlns:a="http://schemas.openxmlformats.org/drawingml/2006/main" flipV="1">
            <a:off x="2809875" y="3857625"/>
            <a:ext cx="2381250" cy="685800"/>
          </a:xfrm>
          <a:prstGeom xmlns:a="http://schemas.openxmlformats.org/drawingml/2006/main" prst="bentConnector3">
            <a:avLst>
              <a:gd name="adj1" fmla="val 50000"/>
            </a:avLst>
          </a:prstGeom>
          <a:ln xmlns:a="http://schemas.openxmlformats.org/drawingml/2006/main" w="22860">
            <a:solidFill>
              <a:srgbClr val="6FA99E"/>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7AF3BA5E-9AE8-4122-BC2B-881250552013}"/>
              </a:ext>
            </a:extLst>
          </p:cNvPr>
          <p:cNvCxnSpPr>
            <a:stCxn xmlns:a="http://schemas.openxmlformats.org/drawingml/2006/main" id="4" idx="3"/>
            <a:endCxn xmlns:a="http://schemas.openxmlformats.org/drawingml/2006/main" id="10" idx="1"/>
          </p:cNvCxnSpPr>
          <p:nvPr/>
        </p:nvCxnSpPr>
        <p:spPr>
          <a:xfrm xmlns:a="http://schemas.openxmlformats.org/drawingml/2006/main">
            <a:off x="2809875" y="3114675"/>
            <a:ext cx="2381250" cy="742950"/>
          </a:xfrm>
          <a:prstGeom xmlns:a="http://schemas.openxmlformats.org/drawingml/2006/main" prst="bentConnector3">
            <a:avLst>
              <a:gd name="adj1" fmla="val 50000"/>
            </a:avLst>
          </a:prstGeom>
          <a:ln xmlns:a="http://schemas.openxmlformats.org/drawingml/2006/main" w="22860">
            <a:solidFill>
              <a:srgbClr val="6FA99E"/>
            </a:solidFill>
            <a:prstDash val="solid"/>
            <a:tailEnd type="triangle" w="sm" len="sm"/>
          </a:ln>
        </p:spPr>
      </p:cxnSp>
      <p:sp>
        <p:nvSpPr>
          <p:cNvPr id="21" name="">
            <a:extLst xmlns:a="http://schemas.openxmlformats.org/drawingml/2006/main">
              <a:ext uri="{FF2B5EF4-FFF2-40B4-BE49-F238E27FC236}">
                <a16:creationId xmlns:a16="http://schemas.microsoft.com/office/drawing/2014/main" id="{2316D0E5-A4DD-44F3-AB19-407711331A97}"/>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8F0C06E0-46CE-499C-9C8E-307EAFAA979E}"/>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How the invoice enters</a:t>
            </a:r>
          </a:p>
        </p:txBody>
      </p:sp>
      <p:sp>
        <p:nvSpPr>
          <p:cNvPr id="3" name="">
            <a:extLst xmlns:a="http://schemas.openxmlformats.org/drawingml/2006/main">
              <a:ext uri="{FF2B5EF4-FFF2-40B4-BE49-F238E27FC236}">
                <a16:creationId xmlns:a16="http://schemas.microsoft.com/office/drawing/2014/main" id="{9F608C72-0F2B-4E44-AFA9-6EDF08558738}"/>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Invoice information arrives by email or scanned document.</a:t>
            </a:r>
          </a:p>
        </p:txBody>
      </p:sp>
      <p:sp>
        <p:nvSpPr>
          <p:cNvPr id="4" name="">
            <a:extLst xmlns:a="http://schemas.openxmlformats.org/drawingml/2006/main">
              <a:ext uri="{FF2B5EF4-FFF2-40B4-BE49-F238E27FC236}">
                <a16:creationId xmlns:a16="http://schemas.microsoft.com/office/drawing/2014/main" id="{0CC1BB6F-433B-42C4-84CD-3D6D57AB82D0}"/>
              </a:ext>
            </a:extLst>
          </p:cNvPr>
          <p:cNvSpPr>
            <a:spLocks xmlns:a="http://schemas.openxmlformats.org/drawingml/2006/main" noGrp="1"/>
          </p:cNvSpPr>
          <p:nvPr/>
        </p:nvSpPr>
        <p:spPr>
          <a:xfrm xmlns:a="http://schemas.openxmlformats.org/drawingml/2006/main">
            <a:off x="857250" y="2619375"/>
            <a:ext cx="1952625" cy="990600"/>
          </a:xfrm>
          <a:prstGeom xmlns:a="http://schemas.openxmlformats.org/drawingml/2006/main" prst="roundRect">
            <a:avLst>
              <a:gd name="adj" fmla="val 9615"/>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0CFF2BE4-186E-4431-BEDA-2A79FF9D2904}"/>
              </a:ext>
            </a:extLst>
          </p:cNvPr>
          <p:cNvSpPr>
            <a:spLocks xmlns:a="http://schemas.openxmlformats.org/drawingml/2006/main" noGrp="1"/>
          </p:cNvSpPr>
          <p:nvPr/>
        </p:nvSpPr>
        <p:spPr>
          <a:xfrm xmlns:a="http://schemas.openxmlformats.org/drawingml/2006/main">
            <a:off x="933450" y="2752725"/>
            <a:ext cx="18002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Email</a:t>
            </a:r>
          </a:p>
        </p:txBody>
      </p:sp>
      <p:sp>
        <p:nvSpPr>
          <p:cNvPr id="6" name="">
            <a:extLst xmlns:a="http://schemas.openxmlformats.org/drawingml/2006/main">
              <a:ext uri="{FF2B5EF4-FFF2-40B4-BE49-F238E27FC236}">
                <a16:creationId xmlns:a16="http://schemas.microsoft.com/office/drawing/2014/main" id="{338620F1-21C0-445A-8E72-ACF068248FB3}"/>
              </a:ext>
            </a:extLst>
          </p:cNvPr>
          <p:cNvSpPr>
            <a:spLocks xmlns:a="http://schemas.openxmlformats.org/drawingml/2006/main" noGrp="1"/>
          </p:cNvSpPr>
          <p:nvPr/>
        </p:nvSpPr>
        <p:spPr>
          <a:xfrm xmlns:a="http://schemas.openxmlformats.org/drawingml/2006/main">
            <a:off x="933450" y="3209925"/>
            <a:ext cx="18002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Rackspace inbox</a:t>
            </a:r>
          </a:p>
        </p:txBody>
      </p:sp>
      <p:sp>
        <p:nvSpPr>
          <p:cNvPr id="7" name="">
            <a:extLst xmlns:a="http://schemas.openxmlformats.org/drawingml/2006/main">
              <a:ext uri="{FF2B5EF4-FFF2-40B4-BE49-F238E27FC236}">
                <a16:creationId xmlns:a16="http://schemas.microsoft.com/office/drawing/2014/main" id="{3A3F5773-A6BA-4983-813B-BA14D41DB787}"/>
              </a:ext>
            </a:extLst>
          </p:cNvPr>
          <p:cNvSpPr>
            <a:spLocks xmlns:a="http://schemas.openxmlformats.org/drawingml/2006/main" noGrp="1"/>
          </p:cNvSpPr>
          <p:nvPr/>
        </p:nvSpPr>
        <p:spPr>
          <a:xfrm xmlns:a="http://schemas.openxmlformats.org/drawingml/2006/main">
            <a:off x="857250" y="4048125"/>
            <a:ext cx="1952625" cy="990600"/>
          </a:xfrm>
          <a:prstGeom xmlns:a="http://schemas.openxmlformats.org/drawingml/2006/main" prst="roundRect">
            <a:avLst>
              <a:gd name="adj" fmla="val 9615"/>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4B015061-8CD6-4CAB-889E-A8C0770E8AB9}"/>
              </a:ext>
            </a:extLst>
          </p:cNvPr>
          <p:cNvSpPr>
            <a:spLocks xmlns:a="http://schemas.openxmlformats.org/drawingml/2006/main" noGrp="1"/>
          </p:cNvSpPr>
          <p:nvPr/>
        </p:nvSpPr>
        <p:spPr>
          <a:xfrm xmlns:a="http://schemas.openxmlformats.org/drawingml/2006/main">
            <a:off x="933450" y="4181475"/>
            <a:ext cx="18002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Scan</a:t>
            </a:r>
          </a:p>
        </p:txBody>
      </p:sp>
      <p:sp>
        <p:nvSpPr>
          <p:cNvPr id="9" name="">
            <a:extLst xmlns:a="http://schemas.openxmlformats.org/drawingml/2006/main">
              <a:ext uri="{FF2B5EF4-FFF2-40B4-BE49-F238E27FC236}">
                <a16:creationId xmlns:a16="http://schemas.microsoft.com/office/drawing/2014/main" id="{3599E8F6-9978-4EFF-9BA3-F53B6E8A399A}"/>
              </a:ext>
            </a:extLst>
          </p:cNvPr>
          <p:cNvSpPr>
            <a:spLocks xmlns:a="http://schemas.openxmlformats.org/drawingml/2006/main" noGrp="1"/>
          </p:cNvSpPr>
          <p:nvPr/>
        </p:nvSpPr>
        <p:spPr>
          <a:xfrm xmlns:a="http://schemas.openxmlformats.org/drawingml/2006/main">
            <a:off x="933450" y="4638675"/>
            <a:ext cx="18002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Invoice PDF</a:t>
            </a:r>
          </a:p>
        </p:txBody>
      </p:sp>
      <p:sp>
        <p:nvSpPr>
          <p:cNvPr id="10" name="">
            <a:extLst xmlns:a="http://schemas.openxmlformats.org/drawingml/2006/main">
              <a:ext uri="{FF2B5EF4-FFF2-40B4-BE49-F238E27FC236}">
                <a16:creationId xmlns:a16="http://schemas.microsoft.com/office/drawing/2014/main" id="{D1963698-90A9-4DA4-91BB-D15B82DD5FFD}"/>
              </a:ext>
            </a:extLst>
          </p:cNvPr>
          <p:cNvSpPr>
            <a:spLocks xmlns:a="http://schemas.openxmlformats.org/drawingml/2006/main" noGrp="1"/>
          </p:cNvSpPr>
          <p:nvPr/>
        </p:nvSpPr>
        <p:spPr>
          <a:xfrm xmlns:a="http://schemas.openxmlformats.org/drawingml/2006/main">
            <a:off x="5191125" y="3333750"/>
            <a:ext cx="2190750" cy="1047750"/>
          </a:xfrm>
          <a:prstGeom xmlns:a="http://schemas.openxmlformats.org/drawingml/2006/main" prst="roundRect">
            <a:avLst>
              <a:gd name="adj" fmla="val 9091"/>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2D2025F0-090F-48D4-9BB7-AA80A490FF0E}"/>
              </a:ext>
            </a:extLst>
          </p:cNvPr>
          <p:cNvSpPr>
            <a:spLocks xmlns:a="http://schemas.openxmlformats.org/drawingml/2006/main" noGrp="1"/>
          </p:cNvSpPr>
          <p:nvPr/>
        </p:nvSpPr>
        <p:spPr>
          <a:xfrm xmlns:a="http://schemas.openxmlformats.org/drawingml/2006/main">
            <a:off x="5267325" y="3467100"/>
            <a:ext cx="2038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Processing</a:t>
            </a:r>
          </a:p>
        </p:txBody>
      </p:sp>
      <p:sp>
        <p:nvSpPr>
          <p:cNvPr id="12" name="">
            <a:extLst xmlns:a="http://schemas.openxmlformats.org/drawingml/2006/main">
              <a:ext uri="{FF2B5EF4-FFF2-40B4-BE49-F238E27FC236}">
                <a16:creationId xmlns:a16="http://schemas.microsoft.com/office/drawing/2014/main" id="{A6287226-886E-4BAF-A344-A2C401BB11CE}"/>
              </a:ext>
            </a:extLst>
          </p:cNvPr>
          <p:cNvSpPr>
            <a:spLocks xmlns:a="http://schemas.openxmlformats.org/drawingml/2006/main" noGrp="1"/>
          </p:cNvSpPr>
          <p:nvPr/>
        </p:nvSpPr>
        <p:spPr>
          <a:xfrm xmlns:a="http://schemas.openxmlformats.org/drawingml/2006/main">
            <a:off x="5267325" y="3924300"/>
            <a:ext cx="2038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Invoice worker</a:t>
            </a:r>
          </a:p>
        </p:txBody>
      </p:sp>
      <p:sp>
        <p:nvSpPr>
          <p:cNvPr id="13" name="">
            <a:extLst xmlns:a="http://schemas.openxmlformats.org/drawingml/2006/main">
              <a:ext uri="{FF2B5EF4-FFF2-40B4-BE49-F238E27FC236}">
                <a16:creationId xmlns:a16="http://schemas.microsoft.com/office/drawing/2014/main" id="{836088C2-D7E3-4BBC-B625-42BD4128B46A}"/>
              </a:ext>
            </a:extLst>
          </p:cNvPr>
          <p:cNvSpPr>
            <a:spLocks xmlns:a="http://schemas.openxmlformats.org/drawingml/2006/main" noGrp="1"/>
          </p:cNvSpPr>
          <p:nvPr/>
        </p:nvSpPr>
        <p:spPr>
          <a:xfrm xmlns:a="http://schemas.openxmlformats.org/drawingml/2006/main">
            <a:off x="9334500" y="3333750"/>
            <a:ext cx="1952625" cy="1047750"/>
          </a:xfrm>
          <a:prstGeom xmlns:a="http://schemas.openxmlformats.org/drawingml/2006/main" prst="roundRect">
            <a:avLst>
              <a:gd name="adj" fmla="val 9091"/>
            </a:avLst>
          </a:prstGeom>
          <a:solidFill xmlns:a="http://schemas.openxmlformats.org/drawingml/2006/main">
            <a:srgbClr val="18384C"/>
          </a:solidFill>
          <a:ln xmlns:a="http://schemas.openxmlformats.org/drawingml/2006/main" w="12383">
            <a:solidFill>
              <a:srgbClr val="578095"/>
            </a:solidFill>
            <a:prstDash val="solid"/>
          </a:ln>
        </p:spPr>
      </p:sp>
      <p:sp>
        <p:nvSpPr>
          <p:cNvPr id="14" name="">
            <a:extLst xmlns:a="http://schemas.openxmlformats.org/drawingml/2006/main">
              <a:ext uri="{FF2B5EF4-FFF2-40B4-BE49-F238E27FC236}">
                <a16:creationId xmlns:a16="http://schemas.microsoft.com/office/drawing/2014/main" id="{932712E3-DCBD-4281-91ED-3510BBCC829F}"/>
              </a:ext>
            </a:extLst>
          </p:cNvPr>
          <p:cNvSpPr>
            <a:spLocks xmlns:a="http://schemas.openxmlformats.org/drawingml/2006/main" noGrp="1"/>
          </p:cNvSpPr>
          <p:nvPr/>
        </p:nvSpPr>
        <p:spPr>
          <a:xfrm xmlns:a="http://schemas.openxmlformats.org/drawingml/2006/main">
            <a:off x="9410700" y="3467100"/>
            <a:ext cx="18002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StrongRoom</a:t>
            </a:r>
          </a:p>
        </p:txBody>
      </p:sp>
      <p:sp>
        <p:nvSpPr>
          <p:cNvPr id="15" name="">
            <a:extLst xmlns:a="http://schemas.openxmlformats.org/drawingml/2006/main">
              <a:ext uri="{FF2B5EF4-FFF2-40B4-BE49-F238E27FC236}">
                <a16:creationId xmlns:a16="http://schemas.microsoft.com/office/drawing/2014/main" id="{D51F1761-492C-4029-85A6-07E6E3D55234}"/>
              </a:ext>
            </a:extLst>
          </p:cNvPr>
          <p:cNvSpPr>
            <a:spLocks xmlns:a="http://schemas.openxmlformats.org/drawingml/2006/main" noGrp="1"/>
          </p:cNvSpPr>
          <p:nvPr/>
        </p:nvSpPr>
        <p:spPr>
          <a:xfrm xmlns:a="http://schemas.openxmlformats.org/drawingml/2006/main">
            <a:off x="9410700" y="3924300"/>
            <a:ext cx="18002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Invoice record</a:t>
            </a:r>
          </a:p>
        </p:txBody>
      </p:sp>
      <p:sp>
        <p:nvSpPr>
          <p:cNvPr id="19" name="">
            <a:extLst xmlns:a="http://schemas.openxmlformats.org/drawingml/2006/main">
              <a:ext uri="{FF2B5EF4-FFF2-40B4-BE49-F238E27FC236}">
                <a16:creationId xmlns:a16="http://schemas.microsoft.com/office/drawing/2014/main" id="{220E8100-6393-43C0-B5E6-52662D0C9893}"/>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0" name="">
            <a:extLst xmlns:a="http://schemas.openxmlformats.org/drawingml/2006/main">
              <a:ext uri="{FF2B5EF4-FFF2-40B4-BE49-F238E27FC236}">
                <a16:creationId xmlns:a16="http://schemas.microsoft.com/office/drawing/2014/main" id="{213052BB-6B0B-4657-A33F-2A82110E1A38}"/>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3</a:t>
            </a:r>
          </a:p>
        </p:txBody>
      </p:sp>
    </p:spTree>
    <p:extLst>
      <p:ext uri="{BB962C8B-B14F-4D97-AF65-F5344CB8AC3E}">
        <p14:creationId xmlns:p14="http://schemas.microsoft.com/office/powerpoint/2010/main" val="1702511001"/>
      </p:ext>
    </p:extLst>
  </p:cSld>
</p:sld>
</file>

<file path=ppt/slides/slide4.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CA8DEC46-FE09-41E3-B7EE-6978109F75D0}"/>
              </a:ext>
            </a:extLst>
          </p:cNvPr>
          <p:cNvCxnSpPr>
            <a:stCxn xmlns:a="http://schemas.openxmlformats.org/drawingml/2006/main" id="10" idx="3"/>
            <a:endCxn xmlns:a="http://schemas.openxmlformats.org/drawingml/2006/main" id="13" idx="1"/>
          </p:cNvCxnSpPr>
          <p:nvPr/>
        </p:nvCxnSpPr>
        <p:spPr>
          <a:xfrm xmlns:a="http://schemas.openxmlformats.org/drawingml/2006/main">
            <a:off x="86296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4620B6AD-EEAA-42F3-BDB8-7DBCD71B2659}"/>
              </a:ext>
            </a:extLst>
          </p:cNvPr>
          <p:cNvCxnSpPr>
            <a:stCxn xmlns:a="http://schemas.openxmlformats.org/drawingml/2006/main" id="7" idx="3"/>
            <a:endCxn xmlns:a="http://schemas.openxmlformats.org/drawingml/2006/main" id="10" idx="1"/>
          </p:cNvCxnSpPr>
          <p:nvPr/>
        </p:nvCxnSpPr>
        <p:spPr>
          <a:xfrm xmlns:a="http://schemas.openxmlformats.org/drawingml/2006/main">
            <a:off x="582930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1D72693C-2758-4F54-8293-20A3A3606B23}"/>
              </a:ext>
            </a:extLst>
          </p:cNvPr>
          <p:cNvCxnSpPr>
            <a:stCxn xmlns:a="http://schemas.openxmlformats.org/drawingml/2006/main" id="4" idx="3"/>
            <a:endCxn xmlns:a="http://schemas.openxmlformats.org/drawingml/2006/main" id="7" idx="1"/>
          </p:cNvCxnSpPr>
          <p:nvPr/>
        </p:nvCxnSpPr>
        <p:spPr>
          <a:xfrm xmlns:a="http://schemas.openxmlformats.org/drawingml/2006/main">
            <a:off x="30289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21" name="">
            <a:extLst xmlns:a="http://schemas.openxmlformats.org/drawingml/2006/main">
              <a:ext uri="{FF2B5EF4-FFF2-40B4-BE49-F238E27FC236}">
                <a16:creationId xmlns:a16="http://schemas.microsoft.com/office/drawing/2014/main" id="{769B6305-E2D8-4649-8970-5DC5E6BD8366}"/>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76F9C807-088D-4A15-A8AC-BD2F8CC97895}"/>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Indexing and approval</a:t>
            </a:r>
          </a:p>
        </p:txBody>
      </p:sp>
      <p:sp>
        <p:nvSpPr>
          <p:cNvPr id="3" name="">
            <a:extLst xmlns:a="http://schemas.openxmlformats.org/drawingml/2006/main">
              <a:ext uri="{FF2B5EF4-FFF2-40B4-BE49-F238E27FC236}">
                <a16:creationId xmlns:a16="http://schemas.microsoft.com/office/drawing/2014/main" id="{530F8BF4-9242-4B06-B938-AD38E94BB4F5}"/>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An internal team checks details before the buyer reviews the invoice.</a:t>
            </a:r>
          </a:p>
        </p:txBody>
      </p:sp>
      <p:sp>
        <p:nvSpPr>
          <p:cNvPr id="4" name="">
            <a:extLst xmlns:a="http://schemas.openxmlformats.org/drawingml/2006/main">
              <a:ext uri="{FF2B5EF4-FFF2-40B4-BE49-F238E27FC236}">
                <a16:creationId xmlns:a16="http://schemas.microsoft.com/office/drawing/2014/main" id="{705C2483-D6E2-4C4C-AF36-8480A589599D}"/>
              </a:ext>
            </a:extLst>
          </p:cNvPr>
          <p:cNvSpPr>
            <a:spLocks xmlns:a="http://schemas.openxmlformats.org/drawingml/2006/main" noGrp="1"/>
          </p:cNvSpPr>
          <p:nvPr/>
        </p:nvSpPr>
        <p:spPr>
          <a:xfrm xmlns:a="http://schemas.openxmlformats.org/drawingml/2006/main">
            <a:off x="7620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A04A64A3-5846-40AE-A2C2-E724658CFF44}"/>
              </a:ext>
            </a:extLst>
          </p:cNvPr>
          <p:cNvSpPr>
            <a:spLocks xmlns:a="http://schemas.openxmlformats.org/drawingml/2006/main" noGrp="1"/>
          </p:cNvSpPr>
          <p:nvPr/>
        </p:nvSpPr>
        <p:spPr>
          <a:xfrm xmlns:a="http://schemas.openxmlformats.org/drawingml/2006/main">
            <a:off x="8382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Index</a:t>
            </a:r>
          </a:p>
        </p:txBody>
      </p:sp>
      <p:sp>
        <p:nvSpPr>
          <p:cNvPr id="6" name="">
            <a:extLst xmlns:a="http://schemas.openxmlformats.org/drawingml/2006/main">
              <a:ext uri="{FF2B5EF4-FFF2-40B4-BE49-F238E27FC236}">
                <a16:creationId xmlns:a16="http://schemas.microsoft.com/office/drawing/2014/main" id="{BBB8E456-CF5A-481B-810C-6386E41DDD1A}"/>
              </a:ext>
            </a:extLst>
          </p:cNvPr>
          <p:cNvSpPr>
            <a:spLocks xmlns:a="http://schemas.openxmlformats.org/drawingml/2006/main" noGrp="1"/>
          </p:cNvSpPr>
          <p:nvPr/>
        </p:nvSpPr>
        <p:spPr>
          <a:xfrm xmlns:a="http://schemas.openxmlformats.org/drawingml/2006/main">
            <a:off x="8382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Internal team</a:t>
            </a:r>
          </a:p>
        </p:txBody>
      </p:sp>
      <p:sp>
        <p:nvSpPr>
          <p:cNvPr id="7" name="">
            <a:extLst xmlns:a="http://schemas.openxmlformats.org/drawingml/2006/main">
              <a:ext uri="{FF2B5EF4-FFF2-40B4-BE49-F238E27FC236}">
                <a16:creationId xmlns:a16="http://schemas.microsoft.com/office/drawing/2014/main" id="{7F5B3699-A710-4FBD-973E-45A0F5A524E6}"/>
              </a:ext>
            </a:extLst>
          </p:cNvPr>
          <p:cNvSpPr>
            <a:spLocks xmlns:a="http://schemas.openxmlformats.org/drawingml/2006/main" noGrp="1"/>
          </p:cNvSpPr>
          <p:nvPr/>
        </p:nvSpPr>
        <p:spPr>
          <a:xfrm xmlns:a="http://schemas.openxmlformats.org/drawingml/2006/main">
            <a:off x="35623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74AC1022-7D42-4164-A0C5-E107968523FB}"/>
              </a:ext>
            </a:extLst>
          </p:cNvPr>
          <p:cNvSpPr>
            <a:spLocks xmlns:a="http://schemas.openxmlformats.org/drawingml/2006/main" noGrp="1"/>
          </p:cNvSpPr>
          <p:nvPr/>
        </p:nvSpPr>
        <p:spPr>
          <a:xfrm xmlns:a="http://schemas.openxmlformats.org/drawingml/2006/main">
            <a:off x="36385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Review</a:t>
            </a:r>
          </a:p>
        </p:txBody>
      </p:sp>
      <p:sp>
        <p:nvSpPr>
          <p:cNvPr id="9" name="">
            <a:extLst xmlns:a="http://schemas.openxmlformats.org/drawingml/2006/main">
              <a:ext uri="{FF2B5EF4-FFF2-40B4-BE49-F238E27FC236}">
                <a16:creationId xmlns:a16="http://schemas.microsoft.com/office/drawing/2014/main" id="{58E4A17A-7D59-4A09-8EFB-298D0A3D1BC1}"/>
              </a:ext>
            </a:extLst>
          </p:cNvPr>
          <p:cNvSpPr>
            <a:spLocks xmlns:a="http://schemas.openxmlformats.org/drawingml/2006/main" noGrp="1"/>
          </p:cNvSpPr>
          <p:nvPr/>
        </p:nvSpPr>
        <p:spPr>
          <a:xfrm xmlns:a="http://schemas.openxmlformats.org/drawingml/2006/main">
            <a:off x="36385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Association</a:t>
            </a:r>
          </a:p>
        </p:txBody>
      </p:sp>
      <p:sp>
        <p:nvSpPr>
          <p:cNvPr id="10" name="">
            <a:extLst xmlns:a="http://schemas.openxmlformats.org/drawingml/2006/main">
              <a:ext uri="{FF2B5EF4-FFF2-40B4-BE49-F238E27FC236}">
                <a16:creationId xmlns:a16="http://schemas.microsoft.com/office/drawing/2014/main" id="{41402F4F-C8C4-4C86-A837-2C166D869BF2}"/>
              </a:ext>
            </a:extLst>
          </p:cNvPr>
          <p:cNvSpPr>
            <a:spLocks xmlns:a="http://schemas.openxmlformats.org/drawingml/2006/main" noGrp="1"/>
          </p:cNvSpPr>
          <p:nvPr/>
        </p:nvSpPr>
        <p:spPr>
          <a:xfrm xmlns:a="http://schemas.openxmlformats.org/drawingml/2006/main">
            <a:off x="63627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92B72F76-554A-40BF-903B-20B711847D9C}"/>
              </a:ext>
            </a:extLst>
          </p:cNvPr>
          <p:cNvSpPr>
            <a:spLocks xmlns:a="http://schemas.openxmlformats.org/drawingml/2006/main" noGrp="1"/>
          </p:cNvSpPr>
          <p:nvPr/>
        </p:nvSpPr>
        <p:spPr>
          <a:xfrm xmlns:a="http://schemas.openxmlformats.org/drawingml/2006/main">
            <a:off x="64389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Approve</a:t>
            </a:r>
          </a:p>
        </p:txBody>
      </p:sp>
      <p:sp>
        <p:nvSpPr>
          <p:cNvPr id="12" name="">
            <a:extLst xmlns:a="http://schemas.openxmlformats.org/drawingml/2006/main">
              <a:ext uri="{FF2B5EF4-FFF2-40B4-BE49-F238E27FC236}">
                <a16:creationId xmlns:a16="http://schemas.microsoft.com/office/drawing/2014/main" id="{3907E1B5-1577-4A2F-B1BB-421C771D7F66}"/>
              </a:ext>
            </a:extLst>
          </p:cNvPr>
          <p:cNvSpPr>
            <a:spLocks xmlns:a="http://schemas.openxmlformats.org/drawingml/2006/main" noGrp="1"/>
          </p:cNvSpPr>
          <p:nvPr/>
        </p:nvSpPr>
        <p:spPr>
          <a:xfrm xmlns:a="http://schemas.openxmlformats.org/drawingml/2006/main">
            <a:off x="64389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Buyer</a:t>
            </a:r>
          </a:p>
        </p:txBody>
      </p:sp>
      <p:sp>
        <p:nvSpPr>
          <p:cNvPr id="13" name="">
            <a:extLst xmlns:a="http://schemas.openxmlformats.org/drawingml/2006/main">
              <a:ext uri="{FF2B5EF4-FFF2-40B4-BE49-F238E27FC236}">
                <a16:creationId xmlns:a16="http://schemas.microsoft.com/office/drawing/2014/main" id="{7DCEAB7B-E42D-4C1C-A327-477169EDBE65}"/>
              </a:ext>
            </a:extLst>
          </p:cNvPr>
          <p:cNvSpPr>
            <a:spLocks xmlns:a="http://schemas.openxmlformats.org/drawingml/2006/main" noGrp="1"/>
          </p:cNvSpPr>
          <p:nvPr/>
        </p:nvSpPr>
        <p:spPr>
          <a:xfrm xmlns:a="http://schemas.openxmlformats.org/drawingml/2006/main">
            <a:off x="91630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4" name="">
            <a:extLst xmlns:a="http://schemas.openxmlformats.org/drawingml/2006/main">
              <a:ext uri="{FF2B5EF4-FFF2-40B4-BE49-F238E27FC236}">
                <a16:creationId xmlns:a16="http://schemas.microsoft.com/office/drawing/2014/main" id="{BC4634E9-533F-4C72-8B6D-356589DB9167}"/>
              </a:ext>
            </a:extLst>
          </p:cNvPr>
          <p:cNvSpPr>
            <a:spLocks xmlns:a="http://schemas.openxmlformats.org/drawingml/2006/main" noGrp="1"/>
          </p:cNvSpPr>
          <p:nvPr/>
        </p:nvSpPr>
        <p:spPr>
          <a:xfrm xmlns:a="http://schemas.openxmlformats.org/drawingml/2006/main">
            <a:off x="92392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Authorize</a:t>
            </a:r>
          </a:p>
        </p:txBody>
      </p:sp>
      <p:sp>
        <p:nvSpPr>
          <p:cNvPr id="15" name="">
            <a:extLst xmlns:a="http://schemas.openxmlformats.org/drawingml/2006/main">
              <a:ext uri="{FF2B5EF4-FFF2-40B4-BE49-F238E27FC236}">
                <a16:creationId xmlns:a16="http://schemas.microsoft.com/office/drawing/2014/main" id="{F6571184-BF4F-4514-8FB6-EF661AB80B62}"/>
              </a:ext>
            </a:extLst>
          </p:cNvPr>
          <p:cNvSpPr>
            <a:spLocks xmlns:a="http://schemas.openxmlformats.org/drawingml/2006/main" noGrp="1"/>
          </p:cNvSpPr>
          <p:nvPr/>
        </p:nvSpPr>
        <p:spPr>
          <a:xfrm xmlns:a="http://schemas.openxmlformats.org/drawingml/2006/main">
            <a:off x="92392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Ready for payment</a:t>
            </a:r>
          </a:p>
        </p:txBody>
      </p:sp>
      <p:sp>
        <p:nvSpPr>
          <p:cNvPr id="19" name="">
            <a:extLst xmlns:a="http://schemas.openxmlformats.org/drawingml/2006/main">
              <a:ext uri="{FF2B5EF4-FFF2-40B4-BE49-F238E27FC236}">
                <a16:creationId xmlns:a16="http://schemas.microsoft.com/office/drawing/2014/main" id="{C34B468E-0833-498C-9C09-067C01A2FBAB}"/>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0" name="">
            <a:extLst xmlns:a="http://schemas.openxmlformats.org/drawingml/2006/main">
              <a:ext uri="{FF2B5EF4-FFF2-40B4-BE49-F238E27FC236}">
                <a16:creationId xmlns:a16="http://schemas.microsoft.com/office/drawing/2014/main" id="{14575549-561A-4300-844C-1123362C349D}"/>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4</a:t>
            </a:r>
          </a:p>
        </p:txBody>
      </p:sp>
    </p:spTree>
    <p:extLst>
      <p:ext uri="{BB962C8B-B14F-4D97-AF65-F5344CB8AC3E}">
        <p14:creationId xmlns:p14="http://schemas.microsoft.com/office/powerpoint/2010/main" val="887410336"/>
      </p:ext>
    </p:extLst>
  </p:cSld>
</p:sld>
</file>

<file path=ppt/slides/slide5.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84DD4DB5-1237-4A4B-9B66-8C8EB79C5222}"/>
              </a:ext>
            </a:extLst>
          </p:cNvPr>
          <p:cNvCxnSpPr>
            <a:stCxn xmlns:a="http://schemas.openxmlformats.org/drawingml/2006/main" id="7" idx="3"/>
            <a:endCxn xmlns:a="http://schemas.openxmlformats.org/drawingml/2006/main" id="10" idx="1"/>
          </p:cNvCxnSpPr>
          <p:nvPr/>
        </p:nvCxnSpPr>
        <p:spPr>
          <a:xfrm xmlns:a="http://schemas.openxmlformats.org/drawingml/2006/main">
            <a:off x="7229475" y="3619500"/>
            <a:ext cx="1933575"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3" name="">
            <a:extLst xmlns:a="http://schemas.openxmlformats.org/drawingml/2006/main">
              <a:ext uri="{FF2B5EF4-FFF2-40B4-BE49-F238E27FC236}">
                <a16:creationId xmlns:a16="http://schemas.microsoft.com/office/drawing/2014/main" id="{62D781BE-8FA8-490F-8D1E-C6AC0DCFE2D0}"/>
              </a:ext>
            </a:extLst>
          </p:cNvPr>
          <p:cNvCxnSpPr>
            <a:stCxn xmlns:a="http://schemas.openxmlformats.org/drawingml/2006/main" id="4" idx="3"/>
            <a:endCxn xmlns:a="http://schemas.openxmlformats.org/drawingml/2006/main" id="7" idx="1"/>
          </p:cNvCxnSpPr>
          <p:nvPr/>
        </p:nvCxnSpPr>
        <p:spPr>
          <a:xfrm xmlns:a="http://schemas.openxmlformats.org/drawingml/2006/main">
            <a:off x="3028950" y="3619500"/>
            <a:ext cx="1933575"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17" name="">
            <a:extLst xmlns:a="http://schemas.openxmlformats.org/drawingml/2006/main">
              <a:ext uri="{FF2B5EF4-FFF2-40B4-BE49-F238E27FC236}">
                <a16:creationId xmlns:a16="http://schemas.microsoft.com/office/drawing/2014/main" id="{723ACB63-D0E9-4BCE-B8D0-9A9EC0BD65E4}"/>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EC22921F-04FC-413B-A5E3-131AFD449A2C}"/>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Generate the payment</a:t>
            </a:r>
          </a:p>
        </p:txBody>
      </p:sp>
      <p:sp>
        <p:nvSpPr>
          <p:cNvPr id="3" name="">
            <a:extLst xmlns:a="http://schemas.openxmlformats.org/drawingml/2006/main">
              <a:ext uri="{FF2B5EF4-FFF2-40B4-BE49-F238E27FC236}">
                <a16:creationId xmlns:a16="http://schemas.microsoft.com/office/drawing/2014/main" id="{2983DD15-C5C6-4983-9F35-DD2567DA26CF}"/>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A scheduled process creates a payment for an eligible invoice.</a:t>
            </a:r>
          </a:p>
        </p:txBody>
      </p:sp>
      <p:sp>
        <p:nvSpPr>
          <p:cNvPr id="4" name="">
            <a:extLst xmlns:a="http://schemas.openxmlformats.org/drawingml/2006/main">
              <a:ext uri="{FF2B5EF4-FFF2-40B4-BE49-F238E27FC236}">
                <a16:creationId xmlns:a16="http://schemas.microsoft.com/office/drawing/2014/main" id="{84F7CB02-563F-4862-A70E-E4EB3A7B8A6D}"/>
              </a:ext>
            </a:extLst>
          </p:cNvPr>
          <p:cNvSpPr>
            <a:spLocks xmlns:a="http://schemas.openxmlformats.org/drawingml/2006/main" noGrp="1"/>
          </p:cNvSpPr>
          <p:nvPr/>
        </p:nvSpPr>
        <p:spPr>
          <a:xfrm xmlns:a="http://schemas.openxmlformats.org/drawingml/2006/main">
            <a:off x="7620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DCBC3A98-2786-4F5A-A8A9-4253D4F3E4DA}"/>
              </a:ext>
            </a:extLst>
          </p:cNvPr>
          <p:cNvSpPr>
            <a:spLocks xmlns:a="http://schemas.openxmlformats.org/drawingml/2006/main" noGrp="1"/>
          </p:cNvSpPr>
          <p:nvPr/>
        </p:nvSpPr>
        <p:spPr>
          <a:xfrm xmlns:a="http://schemas.openxmlformats.org/drawingml/2006/main">
            <a:off x="8382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Invoice</a:t>
            </a:r>
          </a:p>
        </p:txBody>
      </p:sp>
      <p:sp>
        <p:nvSpPr>
          <p:cNvPr id="6" name="">
            <a:extLst xmlns:a="http://schemas.openxmlformats.org/drawingml/2006/main">
              <a:ext uri="{FF2B5EF4-FFF2-40B4-BE49-F238E27FC236}">
                <a16:creationId xmlns:a16="http://schemas.microsoft.com/office/drawing/2014/main" id="{D77FB19E-E785-43A0-919F-E56DD0B3FEAB}"/>
              </a:ext>
            </a:extLst>
          </p:cNvPr>
          <p:cNvSpPr>
            <a:spLocks xmlns:a="http://schemas.openxmlformats.org/drawingml/2006/main" noGrp="1"/>
          </p:cNvSpPr>
          <p:nvPr/>
        </p:nvSpPr>
        <p:spPr>
          <a:xfrm xmlns:a="http://schemas.openxmlformats.org/drawingml/2006/main">
            <a:off x="8382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Authorized</a:t>
            </a:r>
          </a:p>
        </p:txBody>
      </p:sp>
      <p:sp>
        <p:nvSpPr>
          <p:cNvPr id="7" name="">
            <a:extLst xmlns:a="http://schemas.openxmlformats.org/drawingml/2006/main">
              <a:ext uri="{FF2B5EF4-FFF2-40B4-BE49-F238E27FC236}">
                <a16:creationId xmlns:a16="http://schemas.microsoft.com/office/drawing/2014/main" id="{4DCE9478-AAA3-4DC3-8B40-F0FEFDAF90BA}"/>
              </a:ext>
            </a:extLst>
          </p:cNvPr>
          <p:cNvSpPr>
            <a:spLocks xmlns:a="http://schemas.openxmlformats.org/drawingml/2006/main" noGrp="1"/>
          </p:cNvSpPr>
          <p:nvPr/>
        </p:nvSpPr>
        <p:spPr>
          <a:xfrm xmlns:a="http://schemas.openxmlformats.org/drawingml/2006/main">
            <a:off x="4962525"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2FC12CE6-A3AC-48A1-98B7-0BACEC461717}"/>
              </a:ext>
            </a:extLst>
          </p:cNvPr>
          <p:cNvSpPr>
            <a:spLocks xmlns:a="http://schemas.openxmlformats.org/drawingml/2006/main" noGrp="1"/>
          </p:cNvSpPr>
          <p:nvPr/>
        </p:nvSpPr>
        <p:spPr>
          <a:xfrm xmlns:a="http://schemas.openxmlformats.org/drawingml/2006/main">
            <a:off x="5038725"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Scheduled job</a:t>
            </a:r>
          </a:p>
        </p:txBody>
      </p:sp>
      <p:sp>
        <p:nvSpPr>
          <p:cNvPr id="9" name="">
            <a:extLst xmlns:a="http://schemas.openxmlformats.org/drawingml/2006/main">
              <a:ext uri="{FF2B5EF4-FFF2-40B4-BE49-F238E27FC236}">
                <a16:creationId xmlns:a16="http://schemas.microsoft.com/office/drawing/2014/main" id="{2563B587-AD3C-497C-9FE6-330D366EAE9C}"/>
              </a:ext>
            </a:extLst>
          </p:cNvPr>
          <p:cNvSpPr>
            <a:spLocks xmlns:a="http://schemas.openxmlformats.org/drawingml/2006/main" noGrp="1"/>
          </p:cNvSpPr>
          <p:nvPr/>
        </p:nvSpPr>
        <p:spPr>
          <a:xfrm xmlns:a="http://schemas.openxmlformats.org/drawingml/2006/main">
            <a:off x="5038725"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Payment generation</a:t>
            </a:r>
          </a:p>
        </p:txBody>
      </p:sp>
      <p:sp>
        <p:nvSpPr>
          <p:cNvPr id="10" name="">
            <a:extLst xmlns:a="http://schemas.openxmlformats.org/drawingml/2006/main">
              <a:ext uri="{FF2B5EF4-FFF2-40B4-BE49-F238E27FC236}">
                <a16:creationId xmlns:a16="http://schemas.microsoft.com/office/drawing/2014/main" id="{A80C8B21-8121-4874-A42C-B4A674D4584E}"/>
              </a:ext>
            </a:extLst>
          </p:cNvPr>
          <p:cNvSpPr>
            <a:spLocks xmlns:a="http://schemas.openxmlformats.org/drawingml/2006/main" noGrp="1"/>
          </p:cNvSpPr>
          <p:nvPr/>
        </p:nvSpPr>
        <p:spPr>
          <a:xfrm xmlns:a="http://schemas.openxmlformats.org/drawingml/2006/main">
            <a:off x="91630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DAE6ABC6-F253-46BF-B821-433699CEB5F0}"/>
              </a:ext>
            </a:extLst>
          </p:cNvPr>
          <p:cNvSpPr>
            <a:spLocks xmlns:a="http://schemas.openxmlformats.org/drawingml/2006/main" noGrp="1"/>
          </p:cNvSpPr>
          <p:nvPr/>
        </p:nvSpPr>
        <p:spPr>
          <a:xfrm xmlns:a="http://schemas.openxmlformats.org/drawingml/2006/main">
            <a:off x="92392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Payment</a:t>
            </a:r>
          </a:p>
        </p:txBody>
      </p:sp>
      <p:sp>
        <p:nvSpPr>
          <p:cNvPr id="12" name="">
            <a:extLst xmlns:a="http://schemas.openxmlformats.org/drawingml/2006/main">
              <a:ext uri="{FF2B5EF4-FFF2-40B4-BE49-F238E27FC236}">
                <a16:creationId xmlns:a16="http://schemas.microsoft.com/office/drawing/2014/main" id="{5584DEC6-F3B6-41F1-ABBA-49C579BD54D0}"/>
              </a:ext>
            </a:extLst>
          </p:cNvPr>
          <p:cNvSpPr>
            <a:spLocks xmlns:a="http://schemas.openxmlformats.org/drawingml/2006/main" noGrp="1"/>
          </p:cNvSpPr>
          <p:nvPr/>
        </p:nvSpPr>
        <p:spPr>
          <a:xfrm xmlns:a="http://schemas.openxmlformats.org/drawingml/2006/main">
            <a:off x="92392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Record created</a:t>
            </a:r>
          </a:p>
        </p:txBody>
      </p:sp>
      <p:sp>
        <p:nvSpPr>
          <p:cNvPr id="15" name="">
            <a:extLst xmlns:a="http://schemas.openxmlformats.org/drawingml/2006/main">
              <a:ext uri="{FF2B5EF4-FFF2-40B4-BE49-F238E27FC236}">
                <a16:creationId xmlns:a16="http://schemas.microsoft.com/office/drawing/2014/main" id="{B17ACFD2-053F-4AD2-882C-1B14BEC07366}"/>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16" name="">
            <a:extLst xmlns:a="http://schemas.openxmlformats.org/drawingml/2006/main">
              <a:ext uri="{FF2B5EF4-FFF2-40B4-BE49-F238E27FC236}">
                <a16:creationId xmlns:a16="http://schemas.microsoft.com/office/drawing/2014/main" id="{BB497E39-A996-401D-A047-2258AF8DB93D}"/>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5</a:t>
            </a:r>
          </a:p>
        </p:txBody>
      </p:sp>
    </p:spTree>
    <p:extLst>
      <p:ext uri="{BB962C8B-B14F-4D97-AF65-F5344CB8AC3E}">
        <p14:creationId xmlns:p14="http://schemas.microsoft.com/office/powerpoint/2010/main" val="1203039787"/>
      </p:ext>
    </p:extLst>
  </p:cSld>
</p:sld>
</file>

<file path=ppt/slides/slide6.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144E6693-1BE5-4F1D-A3C5-CB179E8FBE3A}"/>
              </a:ext>
            </a:extLst>
          </p:cNvPr>
          <p:cNvCxnSpPr>
            <a:stCxn xmlns:a="http://schemas.openxmlformats.org/drawingml/2006/main" id="4" idx="3"/>
            <a:endCxn xmlns:a="http://schemas.openxmlformats.org/drawingml/2006/main" id="11" idx="1"/>
          </p:cNvCxnSpPr>
          <p:nvPr/>
        </p:nvCxnSpPr>
        <p:spPr>
          <a:xfrm xmlns:a="http://schemas.openxmlformats.org/drawingml/2006/main">
            <a:off x="3286125" y="3781425"/>
            <a:ext cx="4524375" cy="566738"/>
          </a:xfrm>
          <a:prstGeom xmlns:a="http://schemas.openxmlformats.org/drawingml/2006/main" prst="bentConnector3">
            <a:avLst>
              <a:gd name="adj1" fmla="val 50000"/>
            </a:avLst>
          </a:prstGeom>
          <a:ln xmlns:a="http://schemas.openxmlformats.org/drawingml/2006/main" w="22860">
            <a:solidFill>
              <a:srgbClr val="6FA99E"/>
            </a:solidFill>
            <a:prstDash val="solid"/>
            <a:tailEnd type="triangle" w="sm" len="sm"/>
          </a:ln>
        </p:spPr>
      </p:cxnSp>
      <p:cxnSp>
        <p:nvCxnSpPr>
          <p:cNvPr id="10" name="">
            <a:extLst xmlns:a="http://schemas.openxmlformats.org/drawingml/2006/main">
              <a:ext uri="{FF2B5EF4-FFF2-40B4-BE49-F238E27FC236}">
                <a16:creationId xmlns:a16="http://schemas.microsoft.com/office/drawing/2014/main" id="{7A2AF9FE-8B16-4A83-9129-FFD153DFD946}"/>
              </a:ext>
            </a:extLst>
          </p:cNvPr>
          <p:cNvCxnSpPr>
            <a:stCxn xmlns:a="http://schemas.openxmlformats.org/drawingml/2006/main" id="4" idx="3"/>
            <a:endCxn xmlns:a="http://schemas.openxmlformats.org/drawingml/2006/main" id="7" idx="1"/>
          </p:cNvCxnSpPr>
          <p:nvPr/>
        </p:nvCxnSpPr>
        <p:spPr>
          <a:xfrm xmlns:a="http://schemas.openxmlformats.org/drawingml/2006/main" flipV="1">
            <a:off x="3286125" y="3176588"/>
            <a:ext cx="4524375" cy="604838"/>
          </a:xfrm>
          <a:prstGeom xmlns:a="http://schemas.openxmlformats.org/drawingml/2006/main" prst="bentConnector3">
            <a:avLst>
              <a:gd name="adj1" fmla="val 50000"/>
            </a:avLst>
          </a:prstGeom>
          <a:ln xmlns:a="http://schemas.openxmlformats.org/drawingml/2006/main" w="22860">
            <a:solidFill>
              <a:srgbClr val="6FA99E"/>
            </a:solidFill>
            <a:prstDash val="solid"/>
            <a:tailEnd type="triangle" w="sm" len="sm"/>
          </a:ln>
        </p:spPr>
      </p:cxnSp>
      <p:sp>
        <p:nvSpPr>
          <p:cNvPr id="18" name="">
            <a:extLst xmlns:a="http://schemas.openxmlformats.org/drawingml/2006/main">
              <a:ext uri="{FF2B5EF4-FFF2-40B4-BE49-F238E27FC236}">
                <a16:creationId xmlns:a16="http://schemas.microsoft.com/office/drawing/2014/main" id="{0437E5F5-7980-4663-9253-08F31079DC9E}"/>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4A2B4141-5117-4050-9065-D46F0EE97621}"/>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Choose the configured route</a:t>
            </a:r>
          </a:p>
        </p:txBody>
      </p:sp>
      <p:sp>
        <p:nvSpPr>
          <p:cNvPr id="3" name="">
            <a:extLst xmlns:a="http://schemas.openxmlformats.org/drawingml/2006/main">
              <a:ext uri="{FF2B5EF4-FFF2-40B4-BE49-F238E27FC236}">
                <a16:creationId xmlns:a16="http://schemas.microsoft.com/office/drawing/2014/main" id="{E0437A4A-46D9-410D-B637-50EA7A418374}"/>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Buyer configuration and payment type determine the applicable route.</a:t>
            </a:r>
          </a:p>
        </p:txBody>
      </p:sp>
      <p:sp>
        <p:nvSpPr>
          <p:cNvPr id="4" name="">
            <a:extLst xmlns:a="http://schemas.openxmlformats.org/drawingml/2006/main">
              <a:ext uri="{FF2B5EF4-FFF2-40B4-BE49-F238E27FC236}">
                <a16:creationId xmlns:a16="http://schemas.microsoft.com/office/drawing/2014/main" id="{53237032-45DB-49A8-96A4-3A30A10B190B}"/>
              </a:ext>
            </a:extLst>
          </p:cNvPr>
          <p:cNvSpPr>
            <a:spLocks xmlns:a="http://schemas.openxmlformats.org/drawingml/2006/main" noGrp="1"/>
          </p:cNvSpPr>
          <p:nvPr/>
        </p:nvSpPr>
        <p:spPr>
          <a:xfrm xmlns:a="http://schemas.openxmlformats.org/drawingml/2006/main">
            <a:off x="1000125" y="3209925"/>
            <a:ext cx="228600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47A1BECC-8079-40AF-B64C-F15E80646C70}"/>
              </a:ext>
            </a:extLst>
          </p:cNvPr>
          <p:cNvSpPr>
            <a:spLocks xmlns:a="http://schemas.openxmlformats.org/drawingml/2006/main" noGrp="1"/>
          </p:cNvSpPr>
          <p:nvPr/>
        </p:nvSpPr>
        <p:spPr>
          <a:xfrm xmlns:a="http://schemas.openxmlformats.org/drawingml/2006/main">
            <a:off x="1076325" y="3343275"/>
            <a:ext cx="2133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Payment</a:t>
            </a:r>
          </a:p>
        </p:txBody>
      </p:sp>
      <p:sp>
        <p:nvSpPr>
          <p:cNvPr id="6" name="">
            <a:extLst xmlns:a="http://schemas.openxmlformats.org/drawingml/2006/main">
              <a:ext uri="{FF2B5EF4-FFF2-40B4-BE49-F238E27FC236}">
                <a16:creationId xmlns:a16="http://schemas.microsoft.com/office/drawing/2014/main" id="{EA233282-B393-4BE0-8DAA-0AB5DD57763E}"/>
              </a:ext>
            </a:extLst>
          </p:cNvPr>
          <p:cNvSpPr>
            <a:spLocks xmlns:a="http://schemas.openxmlformats.org/drawingml/2006/main" noGrp="1"/>
          </p:cNvSpPr>
          <p:nvPr/>
        </p:nvSpPr>
        <p:spPr>
          <a:xfrm xmlns:a="http://schemas.openxmlformats.org/drawingml/2006/main">
            <a:off x="1076325" y="3800475"/>
            <a:ext cx="2133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Created</a:t>
            </a:r>
          </a:p>
        </p:txBody>
      </p:sp>
      <p:sp>
        <p:nvSpPr>
          <p:cNvPr id="7" name="">
            <a:extLst xmlns:a="http://schemas.openxmlformats.org/drawingml/2006/main">
              <a:ext uri="{FF2B5EF4-FFF2-40B4-BE49-F238E27FC236}">
                <a16:creationId xmlns:a16="http://schemas.microsoft.com/office/drawing/2014/main" id="{8B3B60E5-1E21-46E9-A009-F7D34436AE01}"/>
              </a:ext>
            </a:extLst>
          </p:cNvPr>
          <p:cNvSpPr>
            <a:spLocks xmlns:a="http://schemas.openxmlformats.org/drawingml/2006/main" noGrp="1"/>
          </p:cNvSpPr>
          <p:nvPr/>
        </p:nvSpPr>
        <p:spPr>
          <a:xfrm xmlns:a="http://schemas.openxmlformats.org/drawingml/2006/main">
            <a:off x="7810500" y="2724150"/>
            <a:ext cx="2667000" cy="904875"/>
          </a:xfrm>
          <a:prstGeom xmlns:a="http://schemas.openxmlformats.org/drawingml/2006/main" prst="roundRect">
            <a:avLst>
              <a:gd name="adj" fmla="val 10526"/>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CAB9CF4D-871B-43ED-AF0E-D47D638EECC9}"/>
              </a:ext>
            </a:extLst>
          </p:cNvPr>
          <p:cNvSpPr>
            <a:spLocks xmlns:a="http://schemas.openxmlformats.org/drawingml/2006/main" noGrp="1"/>
          </p:cNvSpPr>
          <p:nvPr/>
        </p:nvSpPr>
        <p:spPr>
          <a:xfrm xmlns:a="http://schemas.openxmlformats.org/drawingml/2006/main">
            <a:off x="7886700" y="285750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StrongRoom</a:t>
            </a:r>
          </a:p>
        </p:txBody>
      </p:sp>
      <p:sp>
        <p:nvSpPr>
          <p:cNvPr id="9" name="">
            <a:extLst xmlns:a="http://schemas.openxmlformats.org/drawingml/2006/main">
              <a:ext uri="{FF2B5EF4-FFF2-40B4-BE49-F238E27FC236}">
                <a16:creationId xmlns:a16="http://schemas.microsoft.com/office/drawing/2014/main" id="{BF8ECD73-276F-4D05-92BB-999EF0697C9B}"/>
              </a:ext>
            </a:extLst>
          </p:cNvPr>
          <p:cNvSpPr>
            <a:spLocks xmlns:a="http://schemas.openxmlformats.org/drawingml/2006/main" noGrp="1"/>
          </p:cNvSpPr>
          <p:nvPr/>
        </p:nvSpPr>
        <p:spPr>
          <a:xfrm xmlns:a="http://schemas.openxmlformats.org/drawingml/2006/main">
            <a:off x="7886700" y="3314700"/>
            <a:ext cx="2514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Check system</a:t>
            </a:r>
          </a:p>
        </p:txBody>
      </p:sp>
      <p:sp>
        <p:nvSpPr>
          <p:cNvPr id="11" name="">
            <a:extLst xmlns:a="http://schemas.openxmlformats.org/drawingml/2006/main">
              <a:ext uri="{FF2B5EF4-FFF2-40B4-BE49-F238E27FC236}">
                <a16:creationId xmlns:a16="http://schemas.microsoft.com/office/drawing/2014/main" id="{A7FB961C-041A-4186-941C-507EDF20C12C}"/>
              </a:ext>
            </a:extLst>
          </p:cNvPr>
          <p:cNvSpPr>
            <a:spLocks xmlns:a="http://schemas.openxmlformats.org/drawingml/2006/main" noGrp="1"/>
          </p:cNvSpPr>
          <p:nvPr/>
        </p:nvSpPr>
        <p:spPr>
          <a:xfrm xmlns:a="http://schemas.openxmlformats.org/drawingml/2006/main">
            <a:off x="7810500" y="3895725"/>
            <a:ext cx="2667000" cy="904875"/>
          </a:xfrm>
          <a:prstGeom xmlns:a="http://schemas.openxmlformats.org/drawingml/2006/main" prst="roundRect">
            <a:avLst>
              <a:gd name="adj" fmla="val 10526"/>
            </a:avLst>
          </a:prstGeom>
          <a:solidFill xmlns:a="http://schemas.openxmlformats.org/drawingml/2006/main">
            <a:srgbClr val="18384C"/>
          </a:solidFill>
          <a:ln xmlns:a="http://schemas.openxmlformats.org/drawingml/2006/main" w="12383">
            <a:solidFill>
              <a:srgbClr val="578095"/>
            </a:solidFill>
            <a:prstDash val="solid"/>
          </a:ln>
        </p:spPr>
      </p:sp>
      <p:sp>
        <p:nvSpPr>
          <p:cNvPr id="12" name="">
            <a:extLst xmlns:a="http://schemas.openxmlformats.org/drawingml/2006/main">
              <a:ext uri="{FF2B5EF4-FFF2-40B4-BE49-F238E27FC236}">
                <a16:creationId xmlns:a16="http://schemas.microsoft.com/office/drawing/2014/main" id="{4A19F4AE-108E-4A9C-96BA-60AC613EFA01}"/>
              </a:ext>
            </a:extLst>
          </p:cNvPr>
          <p:cNvSpPr>
            <a:spLocks xmlns:a="http://schemas.openxmlformats.org/drawingml/2006/main" noGrp="1"/>
          </p:cNvSpPr>
          <p:nvPr/>
        </p:nvSpPr>
        <p:spPr>
          <a:xfrm xmlns:a="http://schemas.openxmlformats.org/drawingml/2006/main">
            <a:off x="7886700" y="4029075"/>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AvidPay</a:t>
            </a:r>
          </a:p>
        </p:txBody>
      </p:sp>
      <p:sp>
        <p:nvSpPr>
          <p:cNvPr id="13" name="">
            <a:extLst xmlns:a="http://schemas.openxmlformats.org/drawingml/2006/main">
              <a:ext uri="{FF2B5EF4-FFF2-40B4-BE49-F238E27FC236}">
                <a16:creationId xmlns:a16="http://schemas.microsoft.com/office/drawing/2014/main" id="{5CF48F6F-E1E8-44D6-8FBD-437A42EB43C0}"/>
              </a:ext>
            </a:extLst>
          </p:cNvPr>
          <p:cNvSpPr>
            <a:spLocks xmlns:a="http://schemas.openxmlformats.org/drawingml/2006/main" noGrp="1"/>
          </p:cNvSpPr>
          <p:nvPr/>
        </p:nvSpPr>
        <p:spPr>
          <a:xfrm xmlns:a="http://schemas.openxmlformats.org/drawingml/2006/main">
            <a:off x="7886700" y="4486275"/>
            <a:ext cx="2514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Payment platform</a:t>
            </a:r>
          </a:p>
        </p:txBody>
      </p:sp>
      <p:sp>
        <p:nvSpPr>
          <p:cNvPr id="15" name="">
            <a:extLst xmlns:a="http://schemas.openxmlformats.org/drawingml/2006/main">
              <a:ext uri="{FF2B5EF4-FFF2-40B4-BE49-F238E27FC236}">
                <a16:creationId xmlns:a16="http://schemas.microsoft.com/office/drawing/2014/main" id="{87EFF463-B8B8-459D-869D-40C04FBF4121}"/>
              </a:ext>
            </a:extLst>
          </p:cNvPr>
          <p:cNvSpPr>
            <a:spLocks xmlns:a="http://schemas.openxmlformats.org/drawingml/2006/main" noGrp="1"/>
          </p:cNvSpPr>
          <p:nvPr/>
        </p:nvSpPr>
        <p:spPr>
          <a:xfrm xmlns:a="http://schemas.openxmlformats.org/drawingml/2006/main">
            <a:off x="762000" y="5810250"/>
            <a:ext cx="1000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F4C585"/>
                </a:solidFill>
                <a:latin typeface="Arial"/>
                <a:ea typeface="Arial"/>
                <a:cs typeface="Arial"/>
              </a:defRPr>
            </a:defPPr>
            <a:lvl1pPr algn="l">
              <a:buNone/>
              <a:defRPr sz="1650" b="0">
                <a:solidFill>
                  <a:srgbClr val="F4C585"/>
                </a:solidFill>
                <a:latin typeface="Arial"/>
                <a:ea typeface="Arial"/>
                <a:cs typeface="Arial"/>
              </a:defRPr>
            </a:lvl1pPr>
            <a:lvl2pPr algn="l">
              <a:buNone/>
              <a:defRPr sz="1650" b="0">
                <a:solidFill>
                  <a:srgbClr val="F4C585"/>
                </a:solidFill>
                <a:latin typeface="Arial"/>
                <a:ea typeface="Arial"/>
                <a:cs typeface="Arial"/>
              </a:defRPr>
            </a:lvl2pPr>
            <a:lvl3pPr algn="l">
              <a:buNone/>
              <a:defRPr sz="1650" b="0">
                <a:solidFill>
                  <a:srgbClr val="F4C585"/>
                </a:solidFill>
                <a:latin typeface="Arial"/>
                <a:ea typeface="Arial"/>
                <a:cs typeface="Arial"/>
              </a:defRPr>
            </a:lvl3pPr>
            <a:lvl4pPr algn="l">
              <a:buNone/>
              <a:defRPr sz="1650" b="0">
                <a:solidFill>
                  <a:srgbClr val="F4C585"/>
                </a:solidFill>
                <a:latin typeface="Arial"/>
                <a:ea typeface="Arial"/>
                <a:cs typeface="Arial"/>
              </a:defRPr>
            </a:lvl4pPr>
            <a:lvl5pPr algn="l">
              <a:buNone/>
              <a:defRPr sz="1650" b="0">
                <a:solidFill>
                  <a:srgbClr val="F4C585"/>
                </a:solidFill>
                <a:latin typeface="Arial"/>
                <a:ea typeface="Arial"/>
                <a:cs typeface="Arial"/>
              </a:defRPr>
            </a:lvl5pPr>
            <a:lvl6pPr algn="l">
              <a:buNone/>
              <a:defRPr sz="1650" b="0">
                <a:solidFill>
                  <a:srgbClr val="F4C585"/>
                </a:solidFill>
                <a:latin typeface="Arial"/>
                <a:ea typeface="Arial"/>
                <a:cs typeface="Arial"/>
              </a:defRPr>
            </a:lvl6pPr>
            <a:lvl7pPr algn="l">
              <a:buNone/>
              <a:defRPr sz="1650" b="0">
                <a:solidFill>
                  <a:srgbClr val="F4C585"/>
                </a:solidFill>
                <a:latin typeface="Arial"/>
                <a:ea typeface="Arial"/>
                <a:cs typeface="Arial"/>
              </a:defRPr>
            </a:lvl7pPr>
            <a:lvl8pPr algn="l">
              <a:buNone/>
              <a:defRPr sz="1650" b="0">
                <a:solidFill>
                  <a:srgbClr val="F4C585"/>
                </a:solidFill>
                <a:latin typeface="Arial"/>
                <a:ea typeface="Arial"/>
                <a:cs typeface="Arial"/>
              </a:defRPr>
            </a:lvl8pPr>
            <a:lvl9pPr algn="l">
              <a:buNone/>
              <a:defRPr sz="1650" b="0">
                <a:solidFill>
                  <a:srgbClr val="F4C585"/>
                </a:solidFill>
                <a:latin typeface="Arial"/>
                <a:ea typeface="Arial"/>
                <a:cs typeface="Arial"/>
              </a:defRPr>
            </a:lvl9pPr>
          </a:lstStyle>
          <a:p xmlns:a="http://schemas.openxmlformats.org/drawingml/2006/main">
            <a:pPr algn="l">
              <a:buNone/>
              <a:defRPr sz="1650" b="0">
                <a:solidFill>
                  <a:srgbClr val="F4C585"/>
                </a:solidFill>
                <a:latin typeface="Arial"/>
                <a:ea typeface="Arial"/>
                <a:cs typeface="Arial"/>
              </a:defRPr>
            </a:pPr>
            <a:r>
              <a:rPr sz="1650" b="0">
                <a:solidFill>
                  <a:srgbClr val="F4C585"/>
                </a:solidFill>
                <a:latin typeface="Arial"/>
                <a:ea typeface="Arial"/>
                <a:cs typeface="Arial"/>
              </a:rPr>
              <a:t>A buyer may have more than one system configured.</a:t>
            </a:r>
          </a:p>
        </p:txBody>
      </p:sp>
      <p:sp>
        <p:nvSpPr>
          <p:cNvPr id="16" name="">
            <a:extLst xmlns:a="http://schemas.openxmlformats.org/drawingml/2006/main">
              <a:ext uri="{FF2B5EF4-FFF2-40B4-BE49-F238E27FC236}">
                <a16:creationId xmlns:a16="http://schemas.microsoft.com/office/drawing/2014/main" id="{57EA06E9-FC99-4DB8-9AD7-82F669DD42F6}"/>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17" name="">
            <a:extLst xmlns:a="http://schemas.openxmlformats.org/drawingml/2006/main">
              <a:ext uri="{FF2B5EF4-FFF2-40B4-BE49-F238E27FC236}">
                <a16:creationId xmlns:a16="http://schemas.microsoft.com/office/drawing/2014/main" id="{B69B95DC-CDDA-4821-9F54-FBB4ECCBA04E}"/>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6</a:t>
            </a:r>
          </a:p>
        </p:txBody>
      </p:sp>
    </p:spTree>
    <p:extLst>
      <p:ext uri="{BB962C8B-B14F-4D97-AF65-F5344CB8AC3E}">
        <p14:creationId xmlns:p14="http://schemas.microsoft.com/office/powerpoint/2010/main" val="1229622387"/>
      </p:ext>
    </p:extLst>
  </p:cSld>
</p:sld>
</file>

<file path=ppt/slides/slide7.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82EF5512-B139-43F0-836A-69160863751C}"/>
              </a:ext>
            </a:extLst>
          </p:cNvPr>
          <p:cNvCxnSpPr>
            <a:stCxn xmlns:a="http://schemas.openxmlformats.org/drawingml/2006/main" id="10" idx="3"/>
            <a:endCxn xmlns:a="http://schemas.openxmlformats.org/drawingml/2006/main" id="13" idx="1"/>
          </p:cNvCxnSpPr>
          <p:nvPr/>
        </p:nvCxnSpPr>
        <p:spPr>
          <a:xfrm xmlns:a="http://schemas.openxmlformats.org/drawingml/2006/main">
            <a:off x="86296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6A1FEEFF-FAB0-4811-8A23-F9AB50D33B51}"/>
              </a:ext>
            </a:extLst>
          </p:cNvPr>
          <p:cNvCxnSpPr>
            <a:stCxn xmlns:a="http://schemas.openxmlformats.org/drawingml/2006/main" id="7" idx="3"/>
            <a:endCxn xmlns:a="http://schemas.openxmlformats.org/drawingml/2006/main" id="10" idx="1"/>
          </p:cNvCxnSpPr>
          <p:nvPr/>
        </p:nvCxnSpPr>
        <p:spPr>
          <a:xfrm xmlns:a="http://schemas.openxmlformats.org/drawingml/2006/main">
            <a:off x="582930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2285E58C-ED50-4F16-BF9E-9C9BA6267A3C}"/>
              </a:ext>
            </a:extLst>
          </p:cNvPr>
          <p:cNvCxnSpPr>
            <a:stCxn xmlns:a="http://schemas.openxmlformats.org/drawingml/2006/main" id="4" idx="3"/>
            <a:endCxn xmlns:a="http://schemas.openxmlformats.org/drawingml/2006/main" id="7" idx="1"/>
          </p:cNvCxnSpPr>
          <p:nvPr/>
        </p:nvCxnSpPr>
        <p:spPr>
          <a:xfrm xmlns:a="http://schemas.openxmlformats.org/drawingml/2006/main">
            <a:off x="30289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21" name="">
            <a:extLst xmlns:a="http://schemas.openxmlformats.org/drawingml/2006/main">
              <a:ext uri="{FF2B5EF4-FFF2-40B4-BE49-F238E27FC236}">
                <a16:creationId xmlns:a16="http://schemas.microsoft.com/office/drawing/2014/main" id="{CF5BF779-0030-43CB-9FC1-13B0A9DA1395}"/>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1E291F93-F46A-4C9C-8527-C3FFD2722A41}"/>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Route A: StrongRoom custom check</a:t>
            </a:r>
          </a:p>
        </p:txBody>
      </p:sp>
      <p:sp>
        <p:nvSpPr>
          <p:cNvPr id="3" name="">
            <a:extLst xmlns:a="http://schemas.openxmlformats.org/drawingml/2006/main">
              <a:ext uri="{FF2B5EF4-FFF2-40B4-BE49-F238E27FC236}">
                <a16:creationId xmlns:a16="http://schemas.microsoft.com/office/drawing/2014/main" id="{B97D4A81-0493-4811-BBA9-29BDAC366B44}"/>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Eligible custom-check payments can remain on the StrongRoom path.</a:t>
            </a:r>
          </a:p>
        </p:txBody>
      </p:sp>
      <p:sp>
        <p:nvSpPr>
          <p:cNvPr id="4" name="">
            <a:extLst xmlns:a="http://schemas.openxmlformats.org/drawingml/2006/main">
              <a:ext uri="{FF2B5EF4-FFF2-40B4-BE49-F238E27FC236}">
                <a16:creationId xmlns:a16="http://schemas.microsoft.com/office/drawing/2014/main" id="{192A0C75-812E-40A1-B768-B6138EC55D64}"/>
              </a:ext>
            </a:extLst>
          </p:cNvPr>
          <p:cNvSpPr>
            <a:spLocks xmlns:a="http://schemas.openxmlformats.org/drawingml/2006/main" noGrp="1"/>
          </p:cNvSpPr>
          <p:nvPr/>
        </p:nvSpPr>
        <p:spPr>
          <a:xfrm xmlns:a="http://schemas.openxmlformats.org/drawingml/2006/main">
            <a:off x="7620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BC027593-575C-49B2-B356-8AAC40201994}"/>
              </a:ext>
            </a:extLst>
          </p:cNvPr>
          <p:cNvSpPr>
            <a:spLocks xmlns:a="http://schemas.openxmlformats.org/drawingml/2006/main" noGrp="1"/>
          </p:cNvSpPr>
          <p:nvPr/>
        </p:nvSpPr>
        <p:spPr>
          <a:xfrm xmlns:a="http://schemas.openxmlformats.org/drawingml/2006/main">
            <a:off x="8382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Payment</a:t>
            </a:r>
          </a:p>
        </p:txBody>
      </p:sp>
      <p:sp>
        <p:nvSpPr>
          <p:cNvPr id="6" name="">
            <a:extLst xmlns:a="http://schemas.openxmlformats.org/drawingml/2006/main">
              <a:ext uri="{FF2B5EF4-FFF2-40B4-BE49-F238E27FC236}">
                <a16:creationId xmlns:a16="http://schemas.microsoft.com/office/drawing/2014/main" id="{164E1DBE-34D1-4B02-84C2-429FA8B096FF}"/>
              </a:ext>
            </a:extLst>
          </p:cNvPr>
          <p:cNvSpPr>
            <a:spLocks xmlns:a="http://schemas.openxmlformats.org/drawingml/2006/main" noGrp="1"/>
          </p:cNvSpPr>
          <p:nvPr/>
        </p:nvSpPr>
        <p:spPr>
          <a:xfrm xmlns:a="http://schemas.openxmlformats.org/drawingml/2006/main">
            <a:off x="8382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StrongRoom</a:t>
            </a:r>
          </a:p>
        </p:txBody>
      </p:sp>
      <p:sp>
        <p:nvSpPr>
          <p:cNvPr id="7" name="">
            <a:extLst xmlns:a="http://schemas.openxmlformats.org/drawingml/2006/main">
              <a:ext uri="{FF2B5EF4-FFF2-40B4-BE49-F238E27FC236}">
                <a16:creationId xmlns:a16="http://schemas.microsoft.com/office/drawing/2014/main" id="{9242FA8C-086B-4820-820D-44EA4B16E4CA}"/>
              </a:ext>
            </a:extLst>
          </p:cNvPr>
          <p:cNvSpPr>
            <a:spLocks xmlns:a="http://schemas.openxmlformats.org/drawingml/2006/main" noGrp="1"/>
          </p:cNvSpPr>
          <p:nvPr/>
        </p:nvSpPr>
        <p:spPr>
          <a:xfrm xmlns:a="http://schemas.openxmlformats.org/drawingml/2006/main">
            <a:off x="35623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16B27E58-4933-4A0D-A23F-3F743E9C5300}"/>
              </a:ext>
            </a:extLst>
          </p:cNvPr>
          <p:cNvSpPr>
            <a:spLocks xmlns:a="http://schemas.openxmlformats.org/drawingml/2006/main" noGrp="1"/>
          </p:cNvSpPr>
          <p:nvPr/>
        </p:nvSpPr>
        <p:spPr>
          <a:xfrm xmlns:a="http://schemas.openxmlformats.org/drawingml/2006/main">
            <a:off x="36385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Check batch</a:t>
            </a:r>
          </a:p>
        </p:txBody>
      </p:sp>
      <p:sp>
        <p:nvSpPr>
          <p:cNvPr id="9" name="">
            <a:extLst xmlns:a="http://schemas.openxmlformats.org/drawingml/2006/main">
              <a:ext uri="{FF2B5EF4-FFF2-40B4-BE49-F238E27FC236}">
                <a16:creationId xmlns:a16="http://schemas.microsoft.com/office/drawing/2014/main" id="{4AE75DB6-BFF3-4219-AD41-9D8A33BE075A}"/>
              </a:ext>
            </a:extLst>
          </p:cNvPr>
          <p:cNvSpPr>
            <a:spLocks xmlns:a="http://schemas.openxmlformats.org/drawingml/2006/main" noGrp="1"/>
          </p:cNvSpPr>
          <p:nvPr/>
        </p:nvSpPr>
        <p:spPr>
          <a:xfrm xmlns:a="http://schemas.openxmlformats.org/drawingml/2006/main">
            <a:off x="36385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Group payments</a:t>
            </a:r>
          </a:p>
        </p:txBody>
      </p:sp>
      <p:sp>
        <p:nvSpPr>
          <p:cNvPr id="10" name="">
            <a:extLst xmlns:a="http://schemas.openxmlformats.org/drawingml/2006/main">
              <a:ext uri="{FF2B5EF4-FFF2-40B4-BE49-F238E27FC236}">
                <a16:creationId xmlns:a16="http://schemas.microsoft.com/office/drawing/2014/main" id="{7157E82D-67D6-4B2F-9F27-EC0227A8C8B1}"/>
              </a:ext>
            </a:extLst>
          </p:cNvPr>
          <p:cNvSpPr>
            <a:spLocks xmlns:a="http://schemas.openxmlformats.org/drawingml/2006/main" noGrp="1"/>
          </p:cNvSpPr>
          <p:nvPr/>
        </p:nvSpPr>
        <p:spPr>
          <a:xfrm xmlns:a="http://schemas.openxmlformats.org/drawingml/2006/main">
            <a:off x="63627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CC5EA73B-671A-4AE9-B090-E4C7C77839BE}"/>
              </a:ext>
            </a:extLst>
          </p:cNvPr>
          <p:cNvSpPr>
            <a:spLocks xmlns:a="http://schemas.openxmlformats.org/drawingml/2006/main" noGrp="1"/>
          </p:cNvSpPr>
          <p:nvPr/>
        </p:nvSpPr>
        <p:spPr>
          <a:xfrm xmlns:a="http://schemas.openxmlformats.org/drawingml/2006/main">
            <a:off x="64389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Check files</a:t>
            </a:r>
          </a:p>
        </p:txBody>
      </p:sp>
      <p:sp>
        <p:nvSpPr>
          <p:cNvPr id="12" name="">
            <a:extLst xmlns:a="http://schemas.openxmlformats.org/drawingml/2006/main">
              <a:ext uri="{FF2B5EF4-FFF2-40B4-BE49-F238E27FC236}">
                <a16:creationId xmlns:a16="http://schemas.microsoft.com/office/drawing/2014/main" id="{B1AD7011-9E0A-47BD-9D98-B4197B24808D}"/>
              </a:ext>
            </a:extLst>
          </p:cNvPr>
          <p:cNvSpPr>
            <a:spLocks xmlns:a="http://schemas.openxmlformats.org/drawingml/2006/main" noGrp="1"/>
          </p:cNvSpPr>
          <p:nvPr/>
        </p:nvSpPr>
        <p:spPr>
          <a:xfrm xmlns:a="http://schemas.openxmlformats.org/drawingml/2006/main">
            <a:off x="64389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Prepare</a:t>
            </a:r>
          </a:p>
        </p:txBody>
      </p:sp>
      <p:sp>
        <p:nvSpPr>
          <p:cNvPr id="13" name="">
            <a:extLst xmlns:a="http://schemas.openxmlformats.org/drawingml/2006/main">
              <a:ext uri="{FF2B5EF4-FFF2-40B4-BE49-F238E27FC236}">
                <a16:creationId xmlns:a16="http://schemas.microsoft.com/office/drawing/2014/main" id="{93009D59-AD0C-46E5-942A-AFD9BAC8B9D7}"/>
              </a:ext>
            </a:extLst>
          </p:cNvPr>
          <p:cNvSpPr>
            <a:spLocks xmlns:a="http://schemas.openxmlformats.org/drawingml/2006/main" noGrp="1"/>
          </p:cNvSpPr>
          <p:nvPr/>
        </p:nvSpPr>
        <p:spPr>
          <a:xfrm xmlns:a="http://schemas.openxmlformats.org/drawingml/2006/main">
            <a:off x="91630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4" name="">
            <a:extLst xmlns:a="http://schemas.openxmlformats.org/drawingml/2006/main">
              <a:ext uri="{FF2B5EF4-FFF2-40B4-BE49-F238E27FC236}">
                <a16:creationId xmlns:a16="http://schemas.microsoft.com/office/drawing/2014/main" id="{DD636831-2F55-4A06-AC90-305AC401F9BD}"/>
              </a:ext>
            </a:extLst>
          </p:cNvPr>
          <p:cNvSpPr>
            <a:spLocks xmlns:a="http://schemas.openxmlformats.org/drawingml/2006/main" noGrp="1"/>
          </p:cNvSpPr>
          <p:nvPr/>
        </p:nvSpPr>
        <p:spPr>
          <a:xfrm xmlns:a="http://schemas.openxmlformats.org/drawingml/2006/main">
            <a:off x="92392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Printer</a:t>
            </a:r>
          </a:p>
        </p:txBody>
      </p:sp>
      <p:sp>
        <p:nvSpPr>
          <p:cNvPr id="15" name="">
            <a:extLst xmlns:a="http://schemas.openxmlformats.org/drawingml/2006/main">
              <a:ext uri="{FF2B5EF4-FFF2-40B4-BE49-F238E27FC236}">
                <a16:creationId xmlns:a16="http://schemas.microsoft.com/office/drawing/2014/main" id="{EB88A413-5A6B-44BD-9E66-4C5F6416D671}"/>
              </a:ext>
            </a:extLst>
          </p:cNvPr>
          <p:cNvSpPr>
            <a:spLocks xmlns:a="http://schemas.openxmlformats.org/drawingml/2006/main" noGrp="1"/>
          </p:cNvSpPr>
          <p:nvPr/>
        </p:nvSpPr>
        <p:spPr>
          <a:xfrm xmlns:a="http://schemas.openxmlformats.org/drawingml/2006/main">
            <a:off x="92392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External</a:t>
            </a:r>
          </a:p>
        </p:txBody>
      </p:sp>
      <p:sp>
        <p:nvSpPr>
          <p:cNvPr id="19" name="">
            <a:extLst xmlns:a="http://schemas.openxmlformats.org/drawingml/2006/main">
              <a:ext uri="{FF2B5EF4-FFF2-40B4-BE49-F238E27FC236}">
                <a16:creationId xmlns:a16="http://schemas.microsoft.com/office/drawing/2014/main" id="{C01F20D1-64AE-48B4-B034-BFD17ED09884}"/>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0" name="">
            <a:extLst xmlns:a="http://schemas.openxmlformats.org/drawingml/2006/main">
              <a:ext uri="{FF2B5EF4-FFF2-40B4-BE49-F238E27FC236}">
                <a16:creationId xmlns:a16="http://schemas.microsoft.com/office/drawing/2014/main" id="{90D47BF7-B87F-4490-A727-15E94E22A367}"/>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7</a:t>
            </a:r>
          </a:p>
        </p:txBody>
      </p:sp>
    </p:spTree>
    <p:extLst>
      <p:ext uri="{BB962C8B-B14F-4D97-AF65-F5344CB8AC3E}">
        <p14:creationId xmlns:p14="http://schemas.microsoft.com/office/powerpoint/2010/main" val="942261613"/>
      </p:ext>
    </p:extLst>
  </p:cSld>
</p:sld>
</file>

<file path=ppt/slides/slide8.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D58F95BE-5481-4DCD-86DB-75632796DCCB}"/>
              </a:ext>
            </a:extLst>
          </p:cNvPr>
          <p:cNvCxnSpPr>
            <a:stCxn xmlns:a="http://schemas.openxmlformats.org/drawingml/2006/main" id="10" idx="3"/>
            <a:endCxn xmlns:a="http://schemas.openxmlformats.org/drawingml/2006/main" id="13" idx="1"/>
          </p:cNvCxnSpPr>
          <p:nvPr/>
        </p:nvCxnSpPr>
        <p:spPr>
          <a:xfrm xmlns:a="http://schemas.openxmlformats.org/drawingml/2006/main">
            <a:off x="86296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6E049983-9763-4DA8-A71C-FD6F579D1B5D}"/>
              </a:ext>
            </a:extLst>
          </p:cNvPr>
          <p:cNvCxnSpPr>
            <a:stCxn xmlns:a="http://schemas.openxmlformats.org/drawingml/2006/main" id="7" idx="3"/>
            <a:endCxn xmlns:a="http://schemas.openxmlformats.org/drawingml/2006/main" id="10" idx="1"/>
          </p:cNvCxnSpPr>
          <p:nvPr/>
        </p:nvCxnSpPr>
        <p:spPr>
          <a:xfrm xmlns:a="http://schemas.openxmlformats.org/drawingml/2006/main">
            <a:off x="582930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9CEDE0C8-511B-4CEC-9C81-6D0B2D4F48B1}"/>
              </a:ext>
            </a:extLst>
          </p:cNvPr>
          <p:cNvCxnSpPr>
            <a:stCxn xmlns:a="http://schemas.openxmlformats.org/drawingml/2006/main" id="4" idx="3"/>
            <a:endCxn xmlns:a="http://schemas.openxmlformats.org/drawingml/2006/main" id="7" idx="1"/>
          </p:cNvCxnSpPr>
          <p:nvPr/>
        </p:nvCxnSpPr>
        <p:spPr>
          <a:xfrm xmlns:a="http://schemas.openxmlformats.org/drawingml/2006/main">
            <a:off x="30289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22" name="">
            <a:extLst xmlns:a="http://schemas.openxmlformats.org/drawingml/2006/main">
              <a:ext uri="{FF2B5EF4-FFF2-40B4-BE49-F238E27FC236}">
                <a16:creationId xmlns:a16="http://schemas.microsoft.com/office/drawing/2014/main" id="{1AE121D4-3C63-434D-A386-C13A0439560C}"/>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437FAA6E-155F-4846-9B65-BA5F3E18A82A}"/>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Route B: Send to AvidPay</a:t>
            </a:r>
          </a:p>
        </p:txBody>
      </p:sp>
      <p:sp>
        <p:nvSpPr>
          <p:cNvPr id="3" name="">
            <a:extLst xmlns:a="http://schemas.openxmlformats.org/drawingml/2006/main">
              <a:ext uri="{FF2B5EF4-FFF2-40B4-BE49-F238E27FC236}">
                <a16:creationId xmlns:a16="http://schemas.microsoft.com/office/drawing/2014/main" id="{340322FB-0B86-4EC1-A2D7-8FD14AB60693}"/>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StrongRoom sends client-specific payment information to AvidPay.</a:t>
            </a:r>
          </a:p>
        </p:txBody>
      </p:sp>
      <p:sp>
        <p:nvSpPr>
          <p:cNvPr id="4" name="">
            <a:extLst xmlns:a="http://schemas.openxmlformats.org/drawingml/2006/main">
              <a:ext uri="{FF2B5EF4-FFF2-40B4-BE49-F238E27FC236}">
                <a16:creationId xmlns:a16="http://schemas.microsoft.com/office/drawing/2014/main" id="{57EB5218-FCD1-4364-B8A3-258DA6548830}"/>
              </a:ext>
            </a:extLst>
          </p:cNvPr>
          <p:cNvSpPr>
            <a:spLocks xmlns:a="http://schemas.openxmlformats.org/drawingml/2006/main" noGrp="1"/>
          </p:cNvSpPr>
          <p:nvPr/>
        </p:nvSpPr>
        <p:spPr>
          <a:xfrm xmlns:a="http://schemas.openxmlformats.org/drawingml/2006/main">
            <a:off x="7620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C08B7975-3DFA-4559-97B2-735C14B1A752}"/>
              </a:ext>
            </a:extLst>
          </p:cNvPr>
          <p:cNvSpPr>
            <a:spLocks xmlns:a="http://schemas.openxmlformats.org/drawingml/2006/main" noGrp="1"/>
          </p:cNvSpPr>
          <p:nvPr/>
        </p:nvSpPr>
        <p:spPr>
          <a:xfrm xmlns:a="http://schemas.openxmlformats.org/drawingml/2006/main">
            <a:off x="8382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Payment</a:t>
            </a:r>
          </a:p>
        </p:txBody>
      </p:sp>
      <p:sp>
        <p:nvSpPr>
          <p:cNvPr id="6" name="">
            <a:extLst xmlns:a="http://schemas.openxmlformats.org/drawingml/2006/main">
              <a:ext uri="{FF2B5EF4-FFF2-40B4-BE49-F238E27FC236}">
                <a16:creationId xmlns:a16="http://schemas.microsoft.com/office/drawing/2014/main" id="{3C89871E-A557-4F94-BC66-FD77BDEA88A5}"/>
              </a:ext>
            </a:extLst>
          </p:cNvPr>
          <p:cNvSpPr>
            <a:spLocks xmlns:a="http://schemas.openxmlformats.org/drawingml/2006/main" noGrp="1"/>
          </p:cNvSpPr>
          <p:nvPr/>
        </p:nvSpPr>
        <p:spPr>
          <a:xfrm xmlns:a="http://schemas.openxmlformats.org/drawingml/2006/main">
            <a:off x="8382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StrongRoom</a:t>
            </a:r>
          </a:p>
        </p:txBody>
      </p:sp>
      <p:sp>
        <p:nvSpPr>
          <p:cNvPr id="7" name="">
            <a:extLst xmlns:a="http://schemas.openxmlformats.org/drawingml/2006/main">
              <a:ext uri="{FF2B5EF4-FFF2-40B4-BE49-F238E27FC236}">
                <a16:creationId xmlns:a16="http://schemas.microsoft.com/office/drawing/2014/main" id="{3AC7B871-AA53-4B66-A201-FF78705FE4C6}"/>
              </a:ext>
            </a:extLst>
          </p:cNvPr>
          <p:cNvSpPr>
            <a:spLocks xmlns:a="http://schemas.openxmlformats.org/drawingml/2006/main" noGrp="1"/>
          </p:cNvSpPr>
          <p:nvPr/>
        </p:nvSpPr>
        <p:spPr>
          <a:xfrm xmlns:a="http://schemas.openxmlformats.org/drawingml/2006/main">
            <a:off x="35623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5D9F0772-67EE-46A7-B944-FABCBFE62060}"/>
              </a:ext>
            </a:extLst>
          </p:cNvPr>
          <p:cNvSpPr>
            <a:spLocks xmlns:a="http://schemas.openxmlformats.org/drawingml/2006/main" noGrp="1"/>
          </p:cNvSpPr>
          <p:nvPr/>
        </p:nvSpPr>
        <p:spPr>
          <a:xfrm xmlns:a="http://schemas.openxmlformats.org/drawingml/2006/main">
            <a:off x="36385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Batch</a:t>
            </a:r>
          </a:p>
        </p:txBody>
      </p:sp>
      <p:sp>
        <p:nvSpPr>
          <p:cNvPr id="9" name="">
            <a:extLst xmlns:a="http://schemas.openxmlformats.org/drawingml/2006/main">
              <a:ext uri="{FF2B5EF4-FFF2-40B4-BE49-F238E27FC236}">
                <a16:creationId xmlns:a16="http://schemas.microsoft.com/office/drawing/2014/main" id="{E23F7466-FED7-4547-ADD2-1428185C6B6F}"/>
              </a:ext>
            </a:extLst>
          </p:cNvPr>
          <p:cNvSpPr>
            <a:spLocks xmlns:a="http://schemas.openxmlformats.org/drawingml/2006/main" noGrp="1"/>
          </p:cNvSpPr>
          <p:nvPr/>
        </p:nvSpPr>
        <p:spPr>
          <a:xfrm xmlns:a="http://schemas.openxmlformats.org/drawingml/2006/main">
            <a:off x="36385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By client</a:t>
            </a:r>
          </a:p>
        </p:txBody>
      </p:sp>
      <p:sp>
        <p:nvSpPr>
          <p:cNvPr id="10" name="">
            <a:extLst xmlns:a="http://schemas.openxmlformats.org/drawingml/2006/main">
              <a:ext uri="{FF2B5EF4-FFF2-40B4-BE49-F238E27FC236}">
                <a16:creationId xmlns:a16="http://schemas.microsoft.com/office/drawing/2014/main" id="{6173F1ED-7734-4A74-99D5-D940EE17A871}"/>
              </a:ext>
            </a:extLst>
          </p:cNvPr>
          <p:cNvSpPr>
            <a:spLocks xmlns:a="http://schemas.openxmlformats.org/drawingml/2006/main" noGrp="1"/>
          </p:cNvSpPr>
          <p:nvPr/>
        </p:nvSpPr>
        <p:spPr>
          <a:xfrm xmlns:a="http://schemas.openxmlformats.org/drawingml/2006/main">
            <a:off x="63627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11237C4F-2413-424B-8FAB-0F1CEE3FBF14}"/>
              </a:ext>
            </a:extLst>
          </p:cNvPr>
          <p:cNvSpPr>
            <a:spLocks xmlns:a="http://schemas.openxmlformats.org/drawingml/2006/main" noGrp="1"/>
          </p:cNvSpPr>
          <p:nvPr/>
        </p:nvSpPr>
        <p:spPr>
          <a:xfrm xmlns:a="http://schemas.openxmlformats.org/drawingml/2006/main">
            <a:off x="64389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XML</a:t>
            </a:r>
          </a:p>
        </p:txBody>
      </p:sp>
      <p:sp>
        <p:nvSpPr>
          <p:cNvPr id="12" name="">
            <a:extLst xmlns:a="http://schemas.openxmlformats.org/drawingml/2006/main">
              <a:ext uri="{FF2B5EF4-FFF2-40B4-BE49-F238E27FC236}">
                <a16:creationId xmlns:a16="http://schemas.microsoft.com/office/drawing/2014/main" id="{207D02EA-E23D-4A63-9DDA-0F48CC665E6B}"/>
              </a:ext>
            </a:extLst>
          </p:cNvPr>
          <p:cNvSpPr>
            <a:spLocks xmlns:a="http://schemas.openxmlformats.org/drawingml/2006/main" noGrp="1"/>
          </p:cNvSpPr>
          <p:nvPr/>
        </p:nvSpPr>
        <p:spPr>
          <a:xfrm xmlns:a="http://schemas.openxmlformats.org/drawingml/2006/main">
            <a:off x="64389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Payment data</a:t>
            </a:r>
          </a:p>
        </p:txBody>
      </p:sp>
      <p:sp>
        <p:nvSpPr>
          <p:cNvPr id="13" name="">
            <a:extLst xmlns:a="http://schemas.openxmlformats.org/drawingml/2006/main">
              <a:ext uri="{FF2B5EF4-FFF2-40B4-BE49-F238E27FC236}">
                <a16:creationId xmlns:a16="http://schemas.microsoft.com/office/drawing/2014/main" id="{B7BD7072-39D3-4B23-B7DC-4C177BAB213B}"/>
              </a:ext>
            </a:extLst>
          </p:cNvPr>
          <p:cNvSpPr>
            <a:spLocks xmlns:a="http://schemas.openxmlformats.org/drawingml/2006/main" noGrp="1"/>
          </p:cNvSpPr>
          <p:nvPr/>
        </p:nvSpPr>
        <p:spPr>
          <a:xfrm xmlns:a="http://schemas.openxmlformats.org/drawingml/2006/main">
            <a:off x="91630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4" name="">
            <a:extLst xmlns:a="http://schemas.openxmlformats.org/drawingml/2006/main">
              <a:ext uri="{FF2B5EF4-FFF2-40B4-BE49-F238E27FC236}">
                <a16:creationId xmlns:a16="http://schemas.microsoft.com/office/drawing/2014/main" id="{AF7FE0E4-4BB8-457D-A14A-860A6F9E1B4C}"/>
              </a:ext>
            </a:extLst>
          </p:cNvPr>
          <p:cNvSpPr>
            <a:spLocks xmlns:a="http://schemas.openxmlformats.org/drawingml/2006/main" noGrp="1"/>
          </p:cNvSpPr>
          <p:nvPr/>
        </p:nvSpPr>
        <p:spPr>
          <a:xfrm xmlns:a="http://schemas.openxmlformats.org/drawingml/2006/main">
            <a:off x="92392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AvidPay</a:t>
            </a:r>
          </a:p>
        </p:txBody>
      </p:sp>
      <p:sp>
        <p:nvSpPr>
          <p:cNvPr id="15" name="">
            <a:extLst xmlns:a="http://schemas.openxmlformats.org/drawingml/2006/main">
              <a:ext uri="{FF2B5EF4-FFF2-40B4-BE49-F238E27FC236}">
                <a16:creationId xmlns:a16="http://schemas.microsoft.com/office/drawing/2014/main" id="{650840AF-A670-4AF7-8912-1C3F59DA52E8}"/>
              </a:ext>
            </a:extLst>
          </p:cNvPr>
          <p:cNvSpPr>
            <a:spLocks xmlns:a="http://schemas.openxmlformats.org/drawingml/2006/main" noGrp="1"/>
          </p:cNvSpPr>
          <p:nvPr/>
        </p:nvSpPr>
        <p:spPr>
          <a:xfrm xmlns:a="http://schemas.openxmlformats.org/drawingml/2006/main">
            <a:off x="92392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Payment record</a:t>
            </a:r>
          </a:p>
        </p:txBody>
      </p:sp>
      <p:sp>
        <p:nvSpPr>
          <p:cNvPr id="19" name="">
            <a:extLst xmlns:a="http://schemas.openxmlformats.org/drawingml/2006/main">
              <a:ext uri="{FF2B5EF4-FFF2-40B4-BE49-F238E27FC236}">
                <a16:creationId xmlns:a16="http://schemas.microsoft.com/office/drawing/2014/main" id="{38592EF9-DFD6-4B16-B6EA-829963D60278}"/>
              </a:ext>
            </a:extLst>
          </p:cNvPr>
          <p:cNvSpPr>
            <a:spLocks xmlns:a="http://schemas.openxmlformats.org/drawingml/2006/main" noGrp="1"/>
          </p:cNvSpPr>
          <p:nvPr/>
        </p:nvSpPr>
        <p:spPr>
          <a:xfrm xmlns:a="http://schemas.openxmlformats.org/drawingml/2006/main">
            <a:off x="762000" y="57721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F4C585"/>
                </a:solidFill>
                <a:latin typeface="Arial"/>
                <a:ea typeface="Arial"/>
                <a:cs typeface="Arial"/>
              </a:defRPr>
            </a:defPPr>
            <a:lvl1pPr algn="l">
              <a:buNone/>
              <a:defRPr sz="1650" b="0">
                <a:solidFill>
                  <a:srgbClr val="F4C585"/>
                </a:solidFill>
                <a:latin typeface="Arial"/>
                <a:ea typeface="Arial"/>
                <a:cs typeface="Arial"/>
              </a:defRPr>
            </a:lvl1pPr>
            <a:lvl2pPr algn="l">
              <a:buNone/>
              <a:defRPr sz="1650" b="0">
                <a:solidFill>
                  <a:srgbClr val="F4C585"/>
                </a:solidFill>
                <a:latin typeface="Arial"/>
                <a:ea typeface="Arial"/>
                <a:cs typeface="Arial"/>
              </a:defRPr>
            </a:lvl2pPr>
            <a:lvl3pPr algn="l">
              <a:buNone/>
              <a:defRPr sz="1650" b="0">
                <a:solidFill>
                  <a:srgbClr val="F4C585"/>
                </a:solidFill>
                <a:latin typeface="Arial"/>
                <a:ea typeface="Arial"/>
                <a:cs typeface="Arial"/>
              </a:defRPr>
            </a:lvl3pPr>
            <a:lvl4pPr algn="l">
              <a:buNone/>
              <a:defRPr sz="1650" b="0">
                <a:solidFill>
                  <a:srgbClr val="F4C585"/>
                </a:solidFill>
                <a:latin typeface="Arial"/>
                <a:ea typeface="Arial"/>
                <a:cs typeface="Arial"/>
              </a:defRPr>
            </a:lvl4pPr>
            <a:lvl5pPr algn="l">
              <a:buNone/>
              <a:defRPr sz="1650" b="0">
                <a:solidFill>
                  <a:srgbClr val="F4C585"/>
                </a:solidFill>
                <a:latin typeface="Arial"/>
                <a:ea typeface="Arial"/>
                <a:cs typeface="Arial"/>
              </a:defRPr>
            </a:lvl5pPr>
            <a:lvl6pPr algn="l">
              <a:buNone/>
              <a:defRPr sz="1650" b="0">
                <a:solidFill>
                  <a:srgbClr val="F4C585"/>
                </a:solidFill>
                <a:latin typeface="Arial"/>
                <a:ea typeface="Arial"/>
                <a:cs typeface="Arial"/>
              </a:defRPr>
            </a:lvl6pPr>
            <a:lvl7pPr algn="l">
              <a:buNone/>
              <a:defRPr sz="1650" b="0">
                <a:solidFill>
                  <a:srgbClr val="F4C585"/>
                </a:solidFill>
                <a:latin typeface="Arial"/>
                <a:ea typeface="Arial"/>
                <a:cs typeface="Arial"/>
              </a:defRPr>
            </a:lvl7pPr>
            <a:lvl8pPr algn="l">
              <a:buNone/>
              <a:defRPr sz="1650" b="0">
                <a:solidFill>
                  <a:srgbClr val="F4C585"/>
                </a:solidFill>
                <a:latin typeface="Arial"/>
                <a:ea typeface="Arial"/>
                <a:cs typeface="Arial"/>
              </a:defRPr>
            </a:lvl8pPr>
            <a:lvl9pPr algn="l">
              <a:buNone/>
              <a:defRPr sz="1650" b="0">
                <a:solidFill>
                  <a:srgbClr val="F4C585"/>
                </a:solidFill>
                <a:latin typeface="Arial"/>
                <a:ea typeface="Arial"/>
                <a:cs typeface="Arial"/>
              </a:defRPr>
            </a:lvl9pPr>
          </a:lstStyle>
          <a:p xmlns:a="http://schemas.openxmlformats.org/drawingml/2006/main">
            <a:pPr algn="l">
              <a:buNone/>
              <a:defRPr sz="1650" b="0">
                <a:solidFill>
                  <a:srgbClr val="F4C585"/>
                </a:solidFill>
                <a:latin typeface="Arial"/>
                <a:ea typeface="Arial"/>
                <a:cs typeface="Arial"/>
              </a:defRPr>
            </a:pPr>
            <a:r>
              <a:rPr sz="1650" b="0">
                <a:solidFill>
                  <a:srgbClr val="F4C585"/>
                </a:solidFill>
                <a:latin typeface="Arial"/>
                <a:ea typeface="Arial"/>
                <a:cs typeface="Arial"/>
              </a:rPr>
              <a:t>The transfer protocol was not confirmed in the recording.</a:t>
            </a:r>
          </a:p>
        </p:txBody>
      </p:sp>
      <p:sp>
        <p:nvSpPr>
          <p:cNvPr id="20" name="">
            <a:extLst xmlns:a="http://schemas.openxmlformats.org/drawingml/2006/main">
              <a:ext uri="{FF2B5EF4-FFF2-40B4-BE49-F238E27FC236}">
                <a16:creationId xmlns:a16="http://schemas.microsoft.com/office/drawing/2014/main" id="{B353A42F-3555-4B2F-9D27-162C9E061A4A}"/>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1" name="">
            <a:extLst xmlns:a="http://schemas.openxmlformats.org/drawingml/2006/main">
              <a:ext uri="{FF2B5EF4-FFF2-40B4-BE49-F238E27FC236}">
                <a16:creationId xmlns:a16="http://schemas.microsoft.com/office/drawing/2014/main" id="{4F16E241-5D49-4658-B8EC-FE84CD8D88DF}"/>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8</a:t>
            </a:r>
          </a:p>
        </p:txBody>
      </p:sp>
    </p:spTree>
    <p:extLst>
      <p:ext uri="{BB962C8B-B14F-4D97-AF65-F5344CB8AC3E}">
        <p14:creationId xmlns:p14="http://schemas.microsoft.com/office/powerpoint/2010/main" val="1028322711"/>
      </p:ext>
    </p:extLst>
  </p:cSld>
</p:sld>
</file>

<file path=ppt/slides/slide9.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BD18EF46-0BC8-4E22-910D-1306DBFA086A}"/>
              </a:ext>
            </a:extLst>
          </p:cNvPr>
          <p:cNvCxnSpPr>
            <a:stCxn xmlns:a="http://schemas.openxmlformats.org/drawingml/2006/main" id="4" idx="3"/>
            <a:endCxn xmlns:a="http://schemas.openxmlformats.org/drawingml/2006/main" id="15" idx="1"/>
          </p:cNvCxnSpPr>
          <p:nvPr/>
        </p:nvCxnSpPr>
        <p:spPr>
          <a:xfrm xmlns:a="http://schemas.openxmlformats.org/drawingml/2006/main">
            <a:off x="3286125" y="3781425"/>
            <a:ext cx="4524375" cy="1152525"/>
          </a:xfrm>
          <a:prstGeom xmlns:a="http://schemas.openxmlformats.org/drawingml/2006/main" prst="bentConnector3">
            <a:avLst>
              <a:gd name="adj1" fmla="val 50000"/>
            </a:avLst>
          </a:prstGeom>
          <a:ln xmlns:a="http://schemas.openxmlformats.org/drawingml/2006/main" w="22860">
            <a:solidFill>
              <a:srgbClr val="6FA99E"/>
            </a:solidFill>
            <a:prstDash val="solid"/>
            <a:tailEnd type="triangle" w="sm" len="sm"/>
          </a:ln>
        </p:spPr>
      </p:cxnSp>
      <p:cxnSp>
        <p:nvCxnSpPr>
          <p:cNvPr id="14" name="">
            <a:extLst xmlns:a="http://schemas.openxmlformats.org/drawingml/2006/main">
              <a:ext uri="{FF2B5EF4-FFF2-40B4-BE49-F238E27FC236}">
                <a16:creationId xmlns:a16="http://schemas.microsoft.com/office/drawing/2014/main" id="{8402A625-C297-41B0-BDF4-048C00747132}"/>
              </a:ext>
            </a:extLst>
          </p:cNvPr>
          <p:cNvCxnSpPr>
            <a:stCxn xmlns:a="http://schemas.openxmlformats.org/drawingml/2006/main" id="4" idx="3"/>
            <a:endCxn xmlns:a="http://schemas.openxmlformats.org/drawingml/2006/main" id="11" idx="1"/>
          </p:cNvCxnSpPr>
          <p:nvPr/>
        </p:nvCxnSpPr>
        <p:spPr>
          <a:xfrm xmlns:a="http://schemas.openxmlformats.org/drawingml/2006/main" flipV="1">
            <a:off x="3286125" y="3762376"/>
            <a:ext cx="4524375" cy="19050"/>
          </a:xfrm>
          <a:prstGeom xmlns:a="http://schemas.openxmlformats.org/drawingml/2006/main" prst="bentConnector3">
            <a:avLst>
              <a:gd name="adj1" fmla="val 50000"/>
            </a:avLst>
          </a:prstGeom>
          <a:ln xmlns:a="http://schemas.openxmlformats.org/drawingml/2006/main" w="22860">
            <a:solidFill>
              <a:srgbClr val="6FA99E"/>
            </a:solidFill>
            <a:prstDash val="solid"/>
            <a:tailEnd type="triangle" w="sm" len="sm"/>
          </a:ln>
        </p:spPr>
      </p:cxnSp>
      <p:cxnSp>
        <p:nvCxnSpPr>
          <p:cNvPr id="10" name="">
            <a:extLst xmlns:a="http://schemas.openxmlformats.org/drawingml/2006/main">
              <a:ext uri="{FF2B5EF4-FFF2-40B4-BE49-F238E27FC236}">
                <a16:creationId xmlns:a16="http://schemas.microsoft.com/office/drawing/2014/main" id="{6B0F4D93-9497-4893-8DDC-794C43183C85}"/>
              </a:ext>
            </a:extLst>
          </p:cNvPr>
          <p:cNvCxnSpPr>
            <a:stCxn xmlns:a="http://schemas.openxmlformats.org/drawingml/2006/main" id="4" idx="3"/>
            <a:endCxn xmlns:a="http://schemas.openxmlformats.org/drawingml/2006/main" id="7" idx="1"/>
          </p:cNvCxnSpPr>
          <p:nvPr/>
        </p:nvCxnSpPr>
        <p:spPr>
          <a:xfrm xmlns:a="http://schemas.openxmlformats.org/drawingml/2006/main" flipV="1">
            <a:off x="3286125" y="2590801"/>
            <a:ext cx="4524375" cy="1190625"/>
          </a:xfrm>
          <a:prstGeom xmlns:a="http://schemas.openxmlformats.org/drawingml/2006/main" prst="bentConnector3">
            <a:avLst>
              <a:gd name="adj1" fmla="val 50000"/>
            </a:avLst>
          </a:prstGeom>
          <a:ln xmlns:a="http://schemas.openxmlformats.org/drawingml/2006/main" w="22860">
            <a:solidFill>
              <a:srgbClr val="6FA99E"/>
            </a:solidFill>
            <a:prstDash val="solid"/>
            <a:tailEnd type="triangle" w="sm" len="sm"/>
          </a:ln>
        </p:spPr>
      </p:cxnSp>
      <p:sp>
        <p:nvSpPr>
          <p:cNvPr id="21" name="">
            <a:extLst xmlns:a="http://schemas.openxmlformats.org/drawingml/2006/main">
              <a:ext uri="{FF2B5EF4-FFF2-40B4-BE49-F238E27FC236}">
                <a16:creationId xmlns:a16="http://schemas.microsoft.com/office/drawing/2014/main" id="{935F35C0-2923-42F0-98A3-A70D101B6C61}"/>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EBCA5AE3-EED5-48B6-B695-CE06A073E5F5}"/>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What can happen in AvidPay?</a:t>
            </a:r>
          </a:p>
        </p:txBody>
      </p:sp>
      <p:sp>
        <p:nvSpPr>
          <p:cNvPr id="3" name="">
            <a:extLst xmlns:a="http://schemas.openxmlformats.org/drawingml/2006/main">
              <a:ext uri="{FF2B5EF4-FFF2-40B4-BE49-F238E27FC236}">
                <a16:creationId xmlns:a16="http://schemas.microsoft.com/office/drawing/2014/main" id="{97D15628-2D70-46F8-A552-36E1F4DD7A14}"/>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AvidPay handles the payment according to its type and configuration.</a:t>
            </a:r>
          </a:p>
        </p:txBody>
      </p:sp>
      <p:sp>
        <p:nvSpPr>
          <p:cNvPr id="4" name="">
            <a:extLst xmlns:a="http://schemas.openxmlformats.org/drawingml/2006/main">
              <a:ext uri="{FF2B5EF4-FFF2-40B4-BE49-F238E27FC236}">
                <a16:creationId xmlns:a16="http://schemas.microsoft.com/office/drawing/2014/main" id="{4EC88442-E9E9-4C3A-9E3C-24CE5E005A4C}"/>
              </a:ext>
            </a:extLst>
          </p:cNvPr>
          <p:cNvSpPr>
            <a:spLocks xmlns:a="http://schemas.openxmlformats.org/drawingml/2006/main" noGrp="1"/>
          </p:cNvSpPr>
          <p:nvPr/>
        </p:nvSpPr>
        <p:spPr>
          <a:xfrm xmlns:a="http://schemas.openxmlformats.org/drawingml/2006/main">
            <a:off x="1000125" y="3209925"/>
            <a:ext cx="228600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9DBEAE9F-FE8F-4013-8548-21CB26E10284}"/>
              </a:ext>
            </a:extLst>
          </p:cNvPr>
          <p:cNvSpPr>
            <a:spLocks xmlns:a="http://schemas.openxmlformats.org/drawingml/2006/main" noGrp="1"/>
          </p:cNvSpPr>
          <p:nvPr/>
        </p:nvSpPr>
        <p:spPr>
          <a:xfrm xmlns:a="http://schemas.openxmlformats.org/drawingml/2006/main">
            <a:off x="1076325" y="3343275"/>
            <a:ext cx="2133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AvidPay</a:t>
            </a:r>
          </a:p>
        </p:txBody>
      </p:sp>
      <p:sp>
        <p:nvSpPr>
          <p:cNvPr id="6" name="">
            <a:extLst xmlns:a="http://schemas.openxmlformats.org/drawingml/2006/main">
              <a:ext uri="{FF2B5EF4-FFF2-40B4-BE49-F238E27FC236}">
                <a16:creationId xmlns:a16="http://schemas.microsoft.com/office/drawing/2014/main" id="{72BAE268-5725-43E3-98AA-55A814CFC41D}"/>
              </a:ext>
            </a:extLst>
          </p:cNvPr>
          <p:cNvSpPr>
            <a:spLocks xmlns:a="http://schemas.openxmlformats.org/drawingml/2006/main" noGrp="1"/>
          </p:cNvSpPr>
          <p:nvPr/>
        </p:nvSpPr>
        <p:spPr>
          <a:xfrm xmlns:a="http://schemas.openxmlformats.org/drawingml/2006/main">
            <a:off x="1076325" y="3800475"/>
            <a:ext cx="2133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Payment</a:t>
            </a:r>
          </a:p>
        </p:txBody>
      </p:sp>
      <p:sp>
        <p:nvSpPr>
          <p:cNvPr id="7" name="">
            <a:extLst xmlns:a="http://schemas.openxmlformats.org/drawingml/2006/main">
              <a:ext uri="{FF2B5EF4-FFF2-40B4-BE49-F238E27FC236}">
                <a16:creationId xmlns:a16="http://schemas.microsoft.com/office/drawing/2014/main" id="{951DA565-B9FF-4261-A433-50219F25C8E2}"/>
              </a:ext>
            </a:extLst>
          </p:cNvPr>
          <p:cNvSpPr>
            <a:spLocks xmlns:a="http://schemas.openxmlformats.org/drawingml/2006/main" noGrp="1"/>
          </p:cNvSpPr>
          <p:nvPr/>
        </p:nvSpPr>
        <p:spPr>
          <a:xfrm xmlns:a="http://schemas.openxmlformats.org/drawingml/2006/main">
            <a:off x="7810500" y="2138363"/>
            <a:ext cx="2667000" cy="904875"/>
          </a:xfrm>
          <a:prstGeom xmlns:a="http://schemas.openxmlformats.org/drawingml/2006/main" prst="roundRect">
            <a:avLst>
              <a:gd name="adj" fmla="val 10526"/>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112BA475-AFDE-4714-B032-B06486A5A6FD}"/>
              </a:ext>
            </a:extLst>
          </p:cNvPr>
          <p:cNvSpPr>
            <a:spLocks xmlns:a="http://schemas.openxmlformats.org/drawingml/2006/main" noGrp="1"/>
          </p:cNvSpPr>
          <p:nvPr/>
        </p:nvSpPr>
        <p:spPr>
          <a:xfrm xmlns:a="http://schemas.openxmlformats.org/drawingml/2006/main">
            <a:off x="7886700" y="2271713"/>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ACH</a:t>
            </a:r>
          </a:p>
        </p:txBody>
      </p:sp>
      <p:sp>
        <p:nvSpPr>
          <p:cNvPr id="9" name="">
            <a:extLst xmlns:a="http://schemas.openxmlformats.org/drawingml/2006/main">
              <a:ext uri="{FF2B5EF4-FFF2-40B4-BE49-F238E27FC236}">
                <a16:creationId xmlns:a16="http://schemas.microsoft.com/office/drawing/2014/main" id="{B7F24A9F-876A-4AF9-81C0-FE62510722D3}"/>
              </a:ext>
            </a:extLst>
          </p:cNvPr>
          <p:cNvSpPr>
            <a:spLocks xmlns:a="http://schemas.openxmlformats.org/drawingml/2006/main" noGrp="1"/>
          </p:cNvSpPr>
          <p:nvPr/>
        </p:nvSpPr>
        <p:spPr>
          <a:xfrm xmlns:a="http://schemas.openxmlformats.org/drawingml/2006/main">
            <a:off x="7886700" y="2728913"/>
            <a:ext cx="2514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Bank payment</a:t>
            </a:r>
          </a:p>
        </p:txBody>
      </p:sp>
      <p:sp>
        <p:nvSpPr>
          <p:cNvPr id="11" name="">
            <a:extLst xmlns:a="http://schemas.openxmlformats.org/drawingml/2006/main">
              <a:ext uri="{FF2B5EF4-FFF2-40B4-BE49-F238E27FC236}">
                <a16:creationId xmlns:a16="http://schemas.microsoft.com/office/drawing/2014/main" id="{CC51126A-0A1E-4FA6-B619-131DDAA83310}"/>
              </a:ext>
            </a:extLst>
          </p:cNvPr>
          <p:cNvSpPr>
            <a:spLocks xmlns:a="http://schemas.openxmlformats.org/drawingml/2006/main" noGrp="1"/>
          </p:cNvSpPr>
          <p:nvPr/>
        </p:nvSpPr>
        <p:spPr>
          <a:xfrm xmlns:a="http://schemas.openxmlformats.org/drawingml/2006/main">
            <a:off x="7810500" y="3309938"/>
            <a:ext cx="2667000" cy="904875"/>
          </a:xfrm>
          <a:prstGeom xmlns:a="http://schemas.openxmlformats.org/drawingml/2006/main" prst="roundRect">
            <a:avLst>
              <a:gd name="adj" fmla="val 10526"/>
            </a:avLst>
          </a:prstGeom>
          <a:solidFill xmlns:a="http://schemas.openxmlformats.org/drawingml/2006/main">
            <a:srgbClr val="18384C"/>
          </a:solidFill>
          <a:ln xmlns:a="http://schemas.openxmlformats.org/drawingml/2006/main" w="12383">
            <a:solidFill>
              <a:srgbClr val="578095"/>
            </a:solidFill>
            <a:prstDash val="solid"/>
          </a:ln>
        </p:spPr>
      </p:sp>
      <p:sp>
        <p:nvSpPr>
          <p:cNvPr id="12" name="">
            <a:extLst xmlns:a="http://schemas.openxmlformats.org/drawingml/2006/main">
              <a:ext uri="{FF2B5EF4-FFF2-40B4-BE49-F238E27FC236}">
                <a16:creationId xmlns:a16="http://schemas.microsoft.com/office/drawing/2014/main" id="{503DA960-37E1-4002-B21F-057ECB8682DB}"/>
              </a:ext>
            </a:extLst>
          </p:cNvPr>
          <p:cNvSpPr>
            <a:spLocks xmlns:a="http://schemas.openxmlformats.org/drawingml/2006/main" noGrp="1"/>
          </p:cNvSpPr>
          <p:nvPr/>
        </p:nvSpPr>
        <p:spPr>
          <a:xfrm xmlns:a="http://schemas.openxmlformats.org/drawingml/2006/main">
            <a:off x="7886700" y="3443288"/>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Virtual card</a:t>
            </a:r>
          </a:p>
        </p:txBody>
      </p:sp>
      <p:sp>
        <p:nvSpPr>
          <p:cNvPr id="13" name="">
            <a:extLst xmlns:a="http://schemas.openxmlformats.org/drawingml/2006/main">
              <a:ext uri="{FF2B5EF4-FFF2-40B4-BE49-F238E27FC236}">
                <a16:creationId xmlns:a16="http://schemas.microsoft.com/office/drawing/2014/main" id="{E1AED0A9-8566-4ED9-9EFE-48522A2C3231}"/>
              </a:ext>
            </a:extLst>
          </p:cNvPr>
          <p:cNvSpPr>
            <a:spLocks xmlns:a="http://schemas.openxmlformats.org/drawingml/2006/main" noGrp="1"/>
          </p:cNvSpPr>
          <p:nvPr/>
        </p:nvSpPr>
        <p:spPr>
          <a:xfrm xmlns:a="http://schemas.openxmlformats.org/drawingml/2006/main">
            <a:off x="7886700" y="3900488"/>
            <a:ext cx="2514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Card payment</a:t>
            </a:r>
          </a:p>
        </p:txBody>
      </p:sp>
      <p:sp>
        <p:nvSpPr>
          <p:cNvPr id="15" name="">
            <a:extLst xmlns:a="http://schemas.openxmlformats.org/drawingml/2006/main">
              <a:ext uri="{FF2B5EF4-FFF2-40B4-BE49-F238E27FC236}">
                <a16:creationId xmlns:a16="http://schemas.microsoft.com/office/drawing/2014/main" id="{379D43EF-8450-46AD-A9A9-F26B4B473E0C}"/>
              </a:ext>
            </a:extLst>
          </p:cNvPr>
          <p:cNvSpPr>
            <a:spLocks xmlns:a="http://schemas.openxmlformats.org/drawingml/2006/main" noGrp="1"/>
          </p:cNvSpPr>
          <p:nvPr/>
        </p:nvSpPr>
        <p:spPr>
          <a:xfrm xmlns:a="http://schemas.openxmlformats.org/drawingml/2006/main">
            <a:off x="7810500" y="4481513"/>
            <a:ext cx="2667000" cy="904875"/>
          </a:xfrm>
          <a:prstGeom xmlns:a="http://schemas.openxmlformats.org/drawingml/2006/main" prst="roundRect">
            <a:avLst>
              <a:gd name="adj" fmla="val 10526"/>
            </a:avLst>
          </a:prstGeom>
          <a:solidFill xmlns:a="http://schemas.openxmlformats.org/drawingml/2006/main">
            <a:srgbClr val="18384C"/>
          </a:solidFill>
          <a:ln xmlns:a="http://schemas.openxmlformats.org/drawingml/2006/main" w="12383">
            <a:solidFill>
              <a:srgbClr val="578095"/>
            </a:solidFill>
            <a:prstDash val="solid"/>
          </a:ln>
        </p:spPr>
      </p:sp>
      <p:sp>
        <p:nvSpPr>
          <p:cNvPr id="16" name="">
            <a:extLst xmlns:a="http://schemas.openxmlformats.org/drawingml/2006/main">
              <a:ext uri="{FF2B5EF4-FFF2-40B4-BE49-F238E27FC236}">
                <a16:creationId xmlns:a16="http://schemas.microsoft.com/office/drawing/2014/main" id="{256D7716-F2BD-46F6-BA63-80FFA8F5FEF7}"/>
              </a:ext>
            </a:extLst>
          </p:cNvPr>
          <p:cNvSpPr>
            <a:spLocks xmlns:a="http://schemas.openxmlformats.org/drawingml/2006/main" noGrp="1"/>
          </p:cNvSpPr>
          <p:nvPr/>
        </p:nvSpPr>
        <p:spPr>
          <a:xfrm xmlns:a="http://schemas.openxmlformats.org/drawingml/2006/main">
            <a:off x="7886700" y="4614863"/>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Check</a:t>
            </a:r>
          </a:p>
        </p:txBody>
      </p:sp>
      <p:sp>
        <p:nvSpPr>
          <p:cNvPr id="17" name="">
            <a:extLst xmlns:a="http://schemas.openxmlformats.org/drawingml/2006/main">
              <a:ext uri="{FF2B5EF4-FFF2-40B4-BE49-F238E27FC236}">
                <a16:creationId xmlns:a16="http://schemas.microsoft.com/office/drawing/2014/main" id="{86573143-3D05-4493-8BF7-7F73EB695A51}"/>
              </a:ext>
            </a:extLst>
          </p:cNvPr>
          <p:cNvSpPr>
            <a:spLocks xmlns:a="http://schemas.openxmlformats.org/drawingml/2006/main" noGrp="1"/>
          </p:cNvSpPr>
          <p:nvPr/>
        </p:nvSpPr>
        <p:spPr>
          <a:xfrm xmlns:a="http://schemas.openxmlformats.org/drawingml/2006/main">
            <a:off x="7886700" y="5072063"/>
            <a:ext cx="2514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Configured path</a:t>
            </a:r>
          </a:p>
        </p:txBody>
      </p:sp>
      <p:sp>
        <p:nvSpPr>
          <p:cNvPr id="19" name="">
            <a:extLst xmlns:a="http://schemas.openxmlformats.org/drawingml/2006/main">
              <a:ext uri="{FF2B5EF4-FFF2-40B4-BE49-F238E27FC236}">
                <a16:creationId xmlns:a16="http://schemas.microsoft.com/office/drawing/2014/main" id="{B8AADB19-9470-4910-9D0F-5ADAB15EE2F6}"/>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0" name="">
            <a:extLst xmlns:a="http://schemas.openxmlformats.org/drawingml/2006/main">
              <a:ext uri="{FF2B5EF4-FFF2-40B4-BE49-F238E27FC236}">
                <a16:creationId xmlns:a16="http://schemas.microsoft.com/office/drawing/2014/main" id="{1B5C8240-B7CD-4AA7-AD77-32D7953D324A}"/>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9</a:t>
            </a:r>
          </a:p>
        </p:txBody>
      </p:sp>
    </p:spTree>
    <p:extLst>
      <p:ext uri="{BB962C8B-B14F-4D97-AF65-F5344CB8AC3E}">
        <p14:creationId xmlns:p14="http://schemas.microsoft.com/office/powerpoint/2010/main" val="753760850"/>
      </p:ext>
    </p:extLst>
  </p:cSld>
</p:sld>
</file>

<file path=ppt/slides/slide10.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4291C607-9D76-4C0A-B6E2-0C347B2FBD77}"/>
              </a:ext>
            </a:extLst>
          </p:cNvPr>
          <p:cNvCxnSpPr>
            <a:stCxn xmlns:a="http://schemas.openxmlformats.org/drawingml/2006/main" id="10" idx="3"/>
            <a:endCxn xmlns:a="http://schemas.openxmlformats.org/drawingml/2006/main" id="13" idx="1"/>
          </p:cNvCxnSpPr>
          <p:nvPr/>
        </p:nvCxnSpPr>
        <p:spPr>
          <a:xfrm xmlns:a="http://schemas.openxmlformats.org/drawingml/2006/main">
            <a:off x="86296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4743600B-75C5-4642-AD40-C85BBC5946A3}"/>
              </a:ext>
            </a:extLst>
          </p:cNvPr>
          <p:cNvCxnSpPr>
            <a:stCxn xmlns:a="http://schemas.openxmlformats.org/drawingml/2006/main" id="7" idx="3"/>
            <a:endCxn xmlns:a="http://schemas.openxmlformats.org/drawingml/2006/main" id="10" idx="1"/>
          </p:cNvCxnSpPr>
          <p:nvPr/>
        </p:nvCxnSpPr>
        <p:spPr>
          <a:xfrm xmlns:a="http://schemas.openxmlformats.org/drawingml/2006/main">
            <a:off x="582930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78FFC9A9-5F08-40CE-9A67-94BA32D393D5}"/>
              </a:ext>
            </a:extLst>
          </p:cNvPr>
          <p:cNvCxnSpPr>
            <a:stCxn xmlns:a="http://schemas.openxmlformats.org/drawingml/2006/main" id="4" idx="3"/>
            <a:endCxn xmlns:a="http://schemas.openxmlformats.org/drawingml/2006/main" id="7" idx="1"/>
          </p:cNvCxnSpPr>
          <p:nvPr/>
        </p:nvCxnSpPr>
        <p:spPr>
          <a:xfrm xmlns:a="http://schemas.openxmlformats.org/drawingml/2006/main">
            <a:off x="30289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22" name="">
            <a:extLst xmlns:a="http://schemas.openxmlformats.org/drawingml/2006/main">
              <a:ext uri="{FF2B5EF4-FFF2-40B4-BE49-F238E27FC236}">
                <a16:creationId xmlns:a16="http://schemas.microsoft.com/office/drawing/2014/main" id="{4BF87754-34DB-40E9-BA05-DD19DAFEEAA0}"/>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0026F24C-A4D5-4DDD-8D95-CD3B7B877DA0}"/>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The custom-check return</a:t>
            </a:r>
          </a:p>
        </p:txBody>
      </p:sp>
      <p:sp>
        <p:nvSpPr>
          <p:cNvPr id="3" name="">
            <a:extLst xmlns:a="http://schemas.openxmlformats.org/drawingml/2006/main">
              <a:ext uri="{FF2B5EF4-FFF2-40B4-BE49-F238E27FC236}">
                <a16:creationId xmlns:a16="http://schemas.microsoft.com/office/drawing/2014/main" id="{C15A3E1E-19AC-4BBD-8DEB-4A767F21FC1D}"/>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Some custom checks return from AvidPay for StrongRoom processing.</a:t>
            </a:r>
          </a:p>
        </p:txBody>
      </p:sp>
      <p:sp>
        <p:nvSpPr>
          <p:cNvPr id="4" name="">
            <a:extLst xmlns:a="http://schemas.openxmlformats.org/drawingml/2006/main">
              <a:ext uri="{FF2B5EF4-FFF2-40B4-BE49-F238E27FC236}">
                <a16:creationId xmlns:a16="http://schemas.microsoft.com/office/drawing/2014/main" id="{EF0564B3-0E4C-4841-BF03-6E63B12E4FDD}"/>
              </a:ext>
            </a:extLst>
          </p:cNvPr>
          <p:cNvSpPr>
            <a:spLocks xmlns:a="http://schemas.openxmlformats.org/drawingml/2006/main" noGrp="1"/>
          </p:cNvSpPr>
          <p:nvPr/>
        </p:nvSpPr>
        <p:spPr>
          <a:xfrm xmlns:a="http://schemas.openxmlformats.org/drawingml/2006/main">
            <a:off x="7620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A757092A-610D-4392-A3BF-36A3DB4A2BE8}"/>
              </a:ext>
            </a:extLst>
          </p:cNvPr>
          <p:cNvSpPr>
            <a:spLocks xmlns:a="http://schemas.openxmlformats.org/drawingml/2006/main" noGrp="1"/>
          </p:cNvSpPr>
          <p:nvPr/>
        </p:nvSpPr>
        <p:spPr>
          <a:xfrm xmlns:a="http://schemas.openxmlformats.org/drawingml/2006/main">
            <a:off x="8382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AvidPay</a:t>
            </a:r>
          </a:p>
        </p:txBody>
      </p:sp>
      <p:sp>
        <p:nvSpPr>
          <p:cNvPr id="6" name="">
            <a:extLst xmlns:a="http://schemas.openxmlformats.org/drawingml/2006/main">
              <a:ext uri="{FF2B5EF4-FFF2-40B4-BE49-F238E27FC236}">
                <a16:creationId xmlns:a16="http://schemas.microsoft.com/office/drawing/2014/main" id="{B9F4ADE7-C835-49CD-9589-0501FF7E6E66}"/>
              </a:ext>
            </a:extLst>
          </p:cNvPr>
          <p:cNvSpPr>
            <a:spLocks xmlns:a="http://schemas.openxmlformats.org/drawingml/2006/main" noGrp="1"/>
          </p:cNvSpPr>
          <p:nvPr/>
        </p:nvSpPr>
        <p:spPr>
          <a:xfrm xmlns:a="http://schemas.openxmlformats.org/drawingml/2006/main">
            <a:off x="8382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Custom check</a:t>
            </a:r>
          </a:p>
        </p:txBody>
      </p:sp>
      <p:sp>
        <p:nvSpPr>
          <p:cNvPr id="7" name="">
            <a:extLst xmlns:a="http://schemas.openxmlformats.org/drawingml/2006/main">
              <a:ext uri="{FF2B5EF4-FFF2-40B4-BE49-F238E27FC236}">
                <a16:creationId xmlns:a16="http://schemas.microsoft.com/office/drawing/2014/main" id="{9D442DF4-0302-4694-89B0-C91D4F49D541}"/>
              </a:ext>
            </a:extLst>
          </p:cNvPr>
          <p:cNvSpPr>
            <a:spLocks xmlns:a="http://schemas.openxmlformats.org/drawingml/2006/main" noGrp="1"/>
          </p:cNvSpPr>
          <p:nvPr/>
        </p:nvSpPr>
        <p:spPr>
          <a:xfrm xmlns:a="http://schemas.openxmlformats.org/drawingml/2006/main">
            <a:off x="35623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5E83880B-D2A4-43AD-AA32-AB64717B7DC6}"/>
              </a:ext>
            </a:extLst>
          </p:cNvPr>
          <p:cNvSpPr>
            <a:spLocks xmlns:a="http://schemas.openxmlformats.org/drawingml/2006/main" noGrp="1"/>
          </p:cNvSpPr>
          <p:nvPr/>
        </p:nvSpPr>
        <p:spPr>
          <a:xfrm xmlns:a="http://schemas.openxmlformats.org/drawingml/2006/main">
            <a:off x="36385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CSV file</a:t>
            </a:r>
          </a:p>
        </p:txBody>
      </p:sp>
      <p:sp>
        <p:nvSpPr>
          <p:cNvPr id="9" name="">
            <a:extLst xmlns:a="http://schemas.openxmlformats.org/drawingml/2006/main">
              <a:ext uri="{FF2B5EF4-FFF2-40B4-BE49-F238E27FC236}">
                <a16:creationId xmlns:a16="http://schemas.microsoft.com/office/drawing/2014/main" id="{D5DD46F0-439B-46E8-BCE3-EFB9F3415AFD}"/>
              </a:ext>
            </a:extLst>
          </p:cNvPr>
          <p:cNvSpPr>
            <a:spLocks xmlns:a="http://schemas.openxmlformats.org/drawingml/2006/main" noGrp="1"/>
          </p:cNvSpPr>
          <p:nvPr/>
        </p:nvSpPr>
        <p:spPr>
          <a:xfrm xmlns:a="http://schemas.openxmlformats.org/drawingml/2006/main">
            <a:off x="36385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Return file</a:t>
            </a:r>
          </a:p>
        </p:txBody>
      </p:sp>
      <p:sp>
        <p:nvSpPr>
          <p:cNvPr id="10" name="">
            <a:extLst xmlns:a="http://schemas.openxmlformats.org/drawingml/2006/main">
              <a:ext uri="{FF2B5EF4-FFF2-40B4-BE49-F238E27FC236}">
                <a16:creationId xmlns:a16="http://schemas.microsoft.com/office/drawing/2014/main" id="{40A61F2F-C700-4EF0-BC93-74798190A00E}"/>
              </a:ext>
            </a:extLst>
          </p:cNvPr>
          <p:cNvSpPr>
            <a:spLocks xmlns:a="http://schemas.openxmlformats.org/drawingml/2006/main" noGrp="1"/>
          </p:cNvSpPr>
          <p:nvPr/>
        </p:nvSpPr>
        <p:spPr>
          <a:xfrm xmlns:a="http://schemas.openxmlformats.org/drawingml/2006/main">
            <a:off x="63627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451812D6-8B87-4F33-BFA2-57F560DC1981}"/>
              </a:ext>
            </a:extLst>
          </p:cNvPr>
          <p:cNvSpPr>
            <a:spLocks xmlns:a="http://schemas.openxmlformats.org/drawingml/2006/main" noGrp="1"/>
          </p:cNvSpPr>
          <p:nvPr/>
        </p:nvSpPr>
        <p:spPr>
          <a:xfrm xmlns:a="http://schemas.openxmlformats.org/drawingml/2006/main">
            <a:off x="64389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APN integration</a:t>
            </a:r>
          </a:p>
        </p:txBody>
      </p:sp>
      <p:sp>
        <p:nvSpPr>
          <p:cNvPr id="12" name="">
            <a:extLst xmlns:a="http://schemas.openxmlformats.org/drawingml/2006/main">
              <a:ext uri="{FF2B5EF4-FFF2-40B4-BE49-F238E27FC236}">
                <a16:creationId xmlns:a16="http://schemas.microsoft.com/office/drawing/2014/main" id="{064F703F-6A84-49F5-9009-41C9E0946327}"/>
              </a:ext>
            </a:extLst>
          </p:cNvPr>
          <p:cNvSpPr>
            <a:spLocks xmlns:a="http://schemas.openxmlformats.org/drawingml/2006/main" noGrp="1"/>
          </p:cNvSpPr>
          <p:nvPr/>
        </p:nvSpPr>
        <p:spPr>
          <a:xfrm xmlns:a="http://schemas.openxmlformats.org/drawingml/2006/main">
            <a:off x="64389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Reads file</a:t>
            </a:r>
          </a:p>
        </p:txBody>
      </p:sp>
      <p:sp>
        <p:nvSpPr>
          <p:cNvPr id="13" name="">
            <a:extLst xmlns:a="http://schemas.openxmlformats.org/drawingml/2006/main">
              <a:ext uri="{FF2B5EF4-FFF2-40B4-BE49-F238E27FC236}">
                <a16:creationId xmlns:a16="http://schemas.microsoft.com/office/drawing/2014/main" id="{4AAE2D87-F1E7-4D8B-A54A-6D3FD381AAF6}"/>
              </a:ext>
            </a:extLst>
          </p:cNvPr>
          <p:cNvSpPr>
            <a:spLocks xmlns:a="http://schemas.openxmlformats.org/drawingml/2006/main" noGrp="1"/>
          </p:cNvSpPr>
          <p:nvPr/>
        </p:nvSpPr>
        <p:spPr>
          <a:xfrm xmlns:a="http://schemas.openxmlformats.org/drawingml/2006/main">
            <a:off x="91630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4" name="">
            <a:extLst xmlns:a="http://schemas.openxmlformats.org/drawingml/2006/main">
              <a:ext uri="{FF2B5EF4-FFF2-40B4-BE49-F238E27FC236}">
                <a16:creationId xmlns:a16="http://schemas.microsoft.com/office/drawing/2014/main" id="{878743FD-CF8D-480C-B1C7-97EBA52317E5}"/>
              </a:ext>
            </a:extLst>
          </p:cNvPr>
          <p:cNvSpPr>
            <a:spLocks xmlns:a="http://schemas.openxmlformats.org/drawingml/2006/main" noGrp="1"/>
          </p:cNvSpPr>
          <p:nvPr/>
        </p:nvSpPr>
        <p:spPr>
          <a:xfrm xmlns:a="http://schemas.openxmlformats.org/drawingml/2006/main">
            <a:off x="92392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StrongRoom</a:t>
            </a:r>
          </a:p>
        </p:txBody>
      </p:sp>
      <p:sp>
        <p:nvSpPr>
          <p:cNvPr id="15" name="">
            <a:extLst xmlns:a="http://schemas.openxmlformats.org/drawingml/2006/main">
              <a:ext uri="{FF2B5EF4-FFF2-40B4-BE49-F238E27FC236}">
                <a16:creationId xmlns:a16="http://schemas.microsoft.com/office/drawing/2014/main" id="{965187D7-C9E4-49E6-B5DC-479B66A2167E}"/>
              </a:ext>
            </a:extLst>
          </p:cNvPr>
          <p:cNvSpPr>
            <a:spLocks xmlns:a="http://schemas.openxmlformats.org/drawingml/2006/main" noGrp="1"/>
          </p:cNvSpPr>
          <p:nvPr/>
        </p:nvSpPr>
        <p:spPr>
          <a:xfrm xmlns:a="http://schemas.openxmlformats.org/drawingml/2006/main">
            <a:off x="92392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Updates status</a:t>
            </a:r>
          </a:p>
        </p:txBody>
      </p:sp>
      <p:sp>
        <p:nvSpPr>
          <p:cNvPr id="19" name="">
            <a:extLst xmlns:a="http://schemas.openxmlformats.org/drawingml/2006/main">
              <a:ext uri="{FF2B5EF4-FFF2-40B4-BE49-F238E27FC236}">
                <a16:creationId xmlns:a16="http://schemas.microsoft.com/office/drawing/2014/main" id="{4B6809AB-8659-479B-A0E5-90C530CC0D77}"/>
              </a:ext>
            </a:extLst>
          </p:cNvPr>
          <p:cNvSpPr>
            <a:spLocks xmlns:a="http://schemas.openxmlformats.org/drawingml/2006/main" noGrp="1"/>
          </p:cNvSpPr>
          <p:nvPr/>
        </p:nvSpPr>
        <p:spPr>
          <a:xfrm xmlns:a="http://schemas.openxmlformats.org/drawingml/2006/main">
            <a:off x="762000" y="57721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F4C585"/>
                </a:solidFill>
                <a:latin typeface="Arial"/>
                <a:ea typeface="Arial"/>
                <a:cs typeface="Arial"/>
              </a:defRPr>
            </a:defPPr>
            <a:lvl1pPr algn="l">
              <a:buNone/>
              <a:defRPr sz="1650" b="0">
                <a:solidFill>
                  <a:srgbClr val="F4C585"/>
                </a:solidFill>
                <a:latin typeface="Arial"/>
                <a:ea typeface="Arial"/>
                <a:cs typeface="Arial"/>
              </a:defRPr>
            </a:lvl1pPr>
            <a:lvl2pPr algn="l">
              <a:buNone/>
              <a:defRPr sz="1650" b="0">
                <a:solidFill>
                  <a:srgbClr val="F4C585"/>
                </a:solidFill>
                <a:latin typeface="Arial"/>
                <a:ea typeface="Arial"/>
                <a:cs typeface="Arial"/>
              </a:defRPr>
            </a:lvl2pPr>
            <a:lvl3pPr algn="l">
              <a:buNone/>
              <a:defRPr sz="1650" b="0">
                <a:solidFill>
                  <a:srgbClr val="F4C585"/>
                </a:solidFill>
                <a:latin typeface="Arial"/>
                <a:ea typeface="Arial"/>
                <a:cs typeface="Arial"/>
              </a:defRPr>
            </a:lvl3pPr>
            <a:lvl4pPr algn="l">
              <a:buNone/>
              <a:defRPr sz="1650" b="0">
                <a:solidFill>
                  <a:srgbClr val="F4C585"/>
                </a:solidFill>
                <a:latin typeface="Arial"/>
                <a:ea typeface="Arial"/>
                <a:cs typeface="Arial"/>
              </a:defRPr>
            </a:lvl4pPr>
            <a:lvl5pPr algn="l">
              <a:buNone/>
              <a:defRPr sz="1650" b="0">
                <a:solidFill>
                  <a:srgbClr val="F4C585"/>
                </a:solidFill>
                <a:latin typeface="Arial"/>
                <a:ea typeface="Arial"/>
                <a:cs typeface="Arial"/>
              </a:defRPr>
            </a:lvl5pPr>
            <a:lvl6pPr algn="l">
              <a:buNone/>
              <a:defRPr sz="1650" b="0">
                <a:solidFill>
                  <a:srgbClr val="F4C585"/>
                </a:solidFill>
                <a:latin typeface="Arial"/>
                <a:ea typeface="Arial"/>
                <a:cs typeface="Arial"/>
              </a:defRPr>
            </a:lvl6pPr>
            <a:lvl7pPr algn="l">
              <a:buNone/>
              <a:defRPr sz="1650" b="0">
                <a:solidFill>
                  <a:srgbClr val="F4C585"/>
                </a:solidFill>
                <a:latin typeface="Arial"/>
                <a:ea typeface="Arial"/>
                <a:cs typeface="Arial"/>
              </a:defRPr>
            </a:lvl7pPr>
            <a:lvl8pPr algn="l">
              <a:buNone/>
              <a:defRPr sz="1650" b="0">
                <a:solidFill>
                  <a:srgbClr val="F4C585"/>
                </a:solidFill>
                <a:latin typeface="Arial"/>
                <a:ea typeface="Arial"/>
                <a:cs typeface="Arial"/>
              </a:defRPr>
            </a:lvl8pPr>
            <a:lvl9pPr algn="l">
              <a:buNone/>
              <a:defRPr sz="1650" b="0">
                <a:solidFill>
                  <a:srgbClr val="F4C585"/>
                </a:solidFill>
                <a:latin typeface="Arial"/>
                <a:ea typeface="Arial"/>
                <a:cs typeface="Arial"/>
              </a:defRPr>
            </a:lvl9pPr>
          </a:lstStyle>
          <a:p xmlns:a="http://schemas.openxmlformats.org/drawingml/2006/main">
            <a:pPr algn="l">
              <a:buNone/>
              <a:defRPr sz="1650" b="0">
                <a:solidFill>
                  <a:srgbClr val="F4C585"/>
                </a:solidFill>
                <a:latin typeface="Arial"/>
                <a:ea typeface="Arial"/>
                <a:cs typeface="Arial"/>
              </a:defRPr>
            </a:pPr>
            <a:r>
              <a:rPr sz="1650" b="0">
                <a:solidFill>
                  <a:srgbClr val="F4C585"/>
                </a:solidFill>
                <a:latin typeface="Arial"/>
                <a:ea typeface="Arial"/>
                <a:cs typeface="Arial"/>
              </a:rPr>
              <a:t>This applies to the return flow shown, not every CSV.</a:t>
            </a:r>
          </a:p>
        </p:txBody>
      </p:sp>
      <p:sp>
        <p:nvSpPr>
          <p:cNvPr id="20" name="">
            <a:extLst xmlns:a="http://schemas.openxmlformats.org/drawingml/2006/main">
              <a:ext uri="{FF2B5EF4-FFF2-40B4-BE49-F238E27FC236}">
                <a16:creationId xmlns:a16="http://schemas.microsoft.com/office/drawing/2014/main" id="{5D574DC1-EEAB-4E74-9C29-DCA281016F7A}"/>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1" name="">
            <a:extLst xmlns:a="http://schemas.openxmlformats.org/drawingml/2006/main">
              <a:ext uri="{FF2B5EF4-FFF2-40B4-BE49-F238E27FC236}">
                <a16:creationId xmlns:a16="http://schemas.microsoft.com/office/drawing/2014/main" id="{1223DE49-DD35-4F58-8BC0-FC008E98CAC1}"/>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10</a:t>
            </a:r>
          </a:p>
        </p:txBody>
      </p:sp>
    </p:spTree>
    <p:extLst>
      <p:ext uri="{BB962C8B-B14F-4D97-AF65-F5344CB8AC3E}">
        <p14:creationId xmlns:p14="http://schemas.microsoft.com/office/powerpoint/2010/main" val="1485586577"/>
      </p:ext>
    </p:extLst>
  </p:cSld>
</p:sld>
</file>

<file path=ppt/slides/slide11.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266D5FB2-5A61-4F7F-B83B-E676FE770746}"/>
              </a:ext>
            </a:extLst>
          </p:cNvPr>
          <p:cNvCxnSpPr>
            <a:stCxn xmlns:a="http://schemas.openxmlformats.org/drawingml/2006/main" id="15" idx="3"/>
            <a:endCxn xmlns:a="http://schemas.openxmlformats.org/drawingml/2006/main" id="4" idx="1"/>
          </p:cNvCxnSpPr>
          <p:nvPr/>
        </p:nvCxnSpPr>
        <p:spPr>
          <a:xfrm xmlns:a="http://schemas.openxmlformats.org/drawingml/2006/main" flipV="1">
            <a:off x="3333750" y="3714750"/>
            <a:ext cx="5095875" cy="1085850"/>
          </a:xfrm>
          <a:prstGeom xmlns:a="http://schemas.openxmlformats.org/drawingml/2006/main" prst="bentConnector3">
            <a:avLst>
              <a:gd name="adj1" fmla="val 50000"/>
            </a:avLst>
          </a:prstGeom>
          <a:ln xmlns:a="http://schemas.openxmlformats.org/drawingml/2006/main" w="22860">
            <a:solidFill>
              <a:srgbClr val="6FA99E"/>
            </a:solidFill>
            <a:prstDash val="solid"/>
            <a:tailEnd type="triangle" w="sm" len="sm"/>
          </a:ln>
        </p:spPr>
      </p:cxnSp>
      <p:cxnSp>
        <p:nvCxnSpPr>
          <p:cNvPr id="14" name="">
            <a:extLst xmlns:a="http://schemas.openxmlformats.org/drawingml/2006/main">
              <a:ext uri="{FF2B5EF4-FFF2-40B4-BE49-F238E27FC236}">
                <a16:creationId xmlns:a16="http://schemas.microsoft.com/office/drawing/2014/main" id="{8700D335-BEBE-4428-9D61-6D887F9AD417}"/>
              </a:ext>
            </a:extLst>
          </p:cNvPr>
          <p:cNvCxnSpPr>
            <a:stCxn xmlns:a="http://schemas.openxmlformats.org/drawingml/2006/main" id="11" idx="3"/>
            <a:endCxn xmlns:a="http://schemas.openxmlformats.org/drawingml/2006/main" id="4" idx="1"/>
          </p:cNvCxnSpPr>
          <p:nvPr/>
        </p:nvCxnSpPr>
        <p:spPr>
          <a:xfrm xmlns:a="http://schemas.openxmlformats.org/drawingml/2006/main">
            <a:off x="3333750" y="3714750"/>
            <a:ext cx="5095875"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0" name="">
            <a:extLst xmlns:a="http://schemas.openxmlformats.org/drawingml/2006/main">
              <a:ext uri="{FF2B5EF4-FFF2-40B4-BE49-F238E27FC236}">
                <a16:creationId xmlns:a16="http://schemas.microsoft.com/office/drawing/2014/main" id="{A6644C48-EB39-4EF2-81C4-728A4017AB83}"/>
              </a:ext>
            </a:extLst>
          </p:cNvPr>
          <p:cNvCxnSpPr>
            <a:stCxn xmlns:a="http://schemas.openxmlformats.org/drawingml/2006/main" id="7" idx="3"/>
            <a:endCxn xmlns:a="http://schemas.openxmlformats.org/drawingml/2006/main" id="4" idx="1"/>
          </p:cNvCxnSpPr>
          <p:nvPr/>
        </p:nvCxnSpPr>
        <p:spPr>
          <a:xfrm xmlns:a="http://schemas.openxmlformats.org/drawingml/2006/main">
            <a:off x="3333750" y="2628900"/>
            <a:ext cx="5095875" cy="1085850"/>
          </a:xfrm>
          <a:prstGeom xmlns:a="http://schemas.openxmlformats.org/drawingml/2006/main" prst="bentConnector3">
            <a:avLst>
              <a:gd name="adj1" fmla="val 50000"/>
            </a:avLst>
          </a:prstGeom>
          <a:ln xmlns:a="http://schemas.openxmlformats.org/drawingml/2006/main" w="22860">
            <a:solidFill>
              <a:srgbClr val="6FA99E"/>
            </a:solidFill>
            <a:prstDash val="solid"/>
            <a:tailEnd type="triangle" w="sm" len="sm"/>
          </a:ln>
        </p:spPr>
      </p:cxnSp>
      <p:sp>
        <p:nvSpPr>
          <p:cNvPr id="21" name="">
            <a:extLst xmlns:a="http://schemas.openxmlformats.org/drawingml/2006/main">
              <a:ext uri="{FF2B5EF4-FFF2-40B4-BE49-F238E27FC236}">
                <a16:creationId xmlns:a16="http://schemas.microsoft.com/office/drawing/2014/main" id="{F6999DCA-6B05-4553-8FCB-64CE6E10E532}"/>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B42575F7-C6DD-4165-B8FC-BD07FCE99885}"/>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What is check batching?</a:t>
            </a:r>
          </a:p>
        </p:txBody>
      </p:sp>
      <p:sp>
        <p:nvSpPr>
          <p:cNvPr id="3" name="">
            <a:extLst xmlns:a="http://schemas.openxmlformats.org/drawingml/2006/main">
              <a:ext uri="{FF2B5EF4-FFF2-40B4-BE49-F238E27FC236}">
                <a16:creationId xmlns:a16="http://schemas.microsoft.com/office/drawing/2014/main" id="{049CB1B2-5083-4255-AD14-9815369409FC}"/>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Eligible check payments are grouped for an external printer.</a:t>
            </a:r>
          </a:p>
        </p:txBody>
      </p:sp>
      <p:sp>
        <p:nvSpPr>
          <p:cNvPr id="4" name="">
            <a:extLst xmlns:a="http://schemas.openxmlformats.org/drawingml/2006/main">
              <a:ext uri="{FF2B5EF4-FFF2-40B4-BE49-F238E27FC236}">
                <a16:creationId xmlns:a16="http://schemas.microsoft.com/office/drawing/2014/main" id="{571E75B3-8C87-405A-AFFA-B9FFC9816A02}"/>
              </a:ext>
            </a:extLst>
          </p:cNvPr>
          <p:cNvSpPr>
            <a:spLocks xmlns:a="http://schemas.openxmlformats.org/drawingml/2006/main" noGrp="1"/>
          </p:cNvSpPr>
          <p:nvPr/>
        </p:nvSpPr>
        <p:spPr>
          <a:xfrm xmlns:a="http://schemas.openxmlformats.org/drawingml/2006/main">
            <a:off x="8429625" y="3143250"/>
            <a:ext cx="228600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C7EE1439-427D-42BF-A1AD-2953998A9A43}"/>
              </a:ext>
            </a:extLst>
          </p:cNvPr>
          <p:cNvSpPr>
            <a:spLocks xmlns:a="http://schemas.openxmlformats.org/drawingml/2006/main" noGrp="1"/>
          </p:cNvSpPr>
          <p:nvPr/>
        </p:nvSpPr>
        <p:spPr>
          <a:xfrm xmlns:a="http://schemas.openxmlformats.org/drawingml/2006/main">
            <a:off x="8505825" y="3276600"/>
            <a:ext cx="2133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Check batch</a:t>
            </a:r>
          </a:p>
        </p:txBody>
      </p:sp>
      <p:sp>
        <p:nvSpPr>
          <p:cNvPr id="6" name="">
            <a:extLst xmlns:a="http://schemas.openxmlformats.org/drawingml/2006/main">
              <a:ext uri="{FF2B5EF4-FFF2-40B4-BE49-F238E27FC236}">
                <a16:creationId xmlns:a16="http://schemas.microsoft.com/office/drawing/2014/main" id="{4F197F84-5C11-449B-B3C9-8BEFFEA647D0}"/>
              </a:ext>
            </a:extLst>
          </p:cNvPr>
          <p:cNvSpPr>
            <a:spLocks xmlns:a="http://schemas.openxmlformats.org/drawingml/2006/main" noGrp="1"/>
          </p:cNvSpPr>
          <p:nvPr/>
        </p:nvSpPr>
        <p:spPr>
          <a:xfrm xmlns:a="http://schemas.openxmlformats.org/drawingml/2006/main">
            <a:off x="8505825" y="3733800"/>
            <a:ext cx="2133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Eligible payments</a:t>
            </a:r>
          </a:p>
        </p:txBody>
      </p:sp>
      <p:sp>
        <p:nvSpPr>
          <p:cNvPr id="7" name="">
            <a:extLst xmlns:a="http://schemas.openxmlformats.org/drawingml/2006/main">
              <a:ext uri="{FF2B5EF4-FFF2-40B4-BE49-F238E27FC236}">
                <a16:creationId xmlns:a16="http://schemas.microsoft.com/office/drawing/2014/main" id="{C262E46D-AFB3-43F0-A73B-1C897D4B084C}"/>
              </a:ext>
            </a:extLst>
          </p:cNvPr>
          <p:cNvSpPr>
            <a:spLocks xmlns:a="http://schemas.openxmlformats.org/drawingml/2006/main" noGrp="1"/>
          </p:cNvSpPr>
          <p:nvPr/>
        </p:nvSpPr>
        <p:spPr>
          <a:xfrm xmlns:a="http://schemas.openxmlformats.org/drawingml/2006/main">
            <a:off x="1095375" y="2200275"/>
            <a:ext cx="2238375" cy="857250"/>
          </a:xfrm>
          <a:prstGeom xmlns:a="http://schemas.openxmlformats.org/drawingml/2006/main" prst="roundRect">
            <a:avLst>
              <a:gd name="adj" fmla="val 11111"/>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13E00091-D341-40C7-8C37-A337CC69C300}"/>
              </a:ext>
            </a:extLst>
          </p:cNvPr>
          <p:cNvSpPr>
            <a:spLocks xmlns:a="http://schemas.openxmlformats.org/drawingml/2006/main" noGrp="1"/>
          </p:cNvSpPr>
          <p:nvPr/>
        </p:nvSpPr>
        <p:spPr>
          <a:xfrm xmlns:a="http://schemas.openxmlformats.org/drawingml/2006/main">
            <a:off x="1171575" y="2333625"/>
            <a:ext cx="20859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Plumber</a:t>
            </a:r>
          </a:p>
        </p:txBody>
      </p:sp>
      <p:sp>
        <p:nvSpPr>
          <p:cNvPr id="9" name="">
            <a:extLst xmlns:a="http://schemas.openxmlformats.org/drawingml/2006/main">
              <a:ext uri="{FF2B5EF4-FFF2-40B4-BE49-F238E27FC236}">
                <a16:creationId xmlns:a16="http://schemas.microsoft.com/office/drawing/2014/main" id="{29DDA17B-B6FA-4C5A-82B8-861A4038602A}"/>
              </a:ext>
            </a:extLst>
          </p:cNvPr>
          <p:cNvSpPr>
            <a:spLocks xmlns:a="http://schemas.openxmlformats.org/drawingml/2006/main" noGrp="1"/>
          </p:cNvSpPr>
          <p:nvPr/>
        </p:nvSpPr>
        <p:spPr>
          <a:xfrm xmlns:a="http://schemas.openxmlformats.org/drawingml/2006/main">
            <a:off x="1171575" y="2762250"/>
            <a:ext cx="20859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$500</a:t>
            </a:r>
          </a:p>
        </p:txBody>
      </p:sp>
      <p:sp>
        <p:nvSpPr>
          <p:cNvPr id="11" name="">
            <a:extLst xmlns:a="http://schemas.openxmlformats.org/drawingml/2006/main">
              <a:ext uri="{FF2B5EF4-FFF2-40B4-BE49-F238E27FC236}">
                <a16:creationId xmlns:a16="http://schemas.microsoft.com/office/drawing/2014/main" id="{66A6D923-6473-4EA2-A57B-F922C235793B}"/>
              </a:ext>
            </a:extLst>
          </p:cNvPr>
          <p:cNvSpPr>
            <a:spLocks xmlns:a="http://schemas.openxmlformats.org/drawingml/2006/main" noGrp="1"/>
          </p:cNvSpPr>
          <p:nvPr/>
        </p:nvSpPr>
        <p:spPr>
          <a:xfrm xmlns:a="http://schemas.openxmlformats.org/drawingml/2006/main">
            <a:off x="1095375" y="3286125"/>
            <a:ext cx="2238375" cy="857250"/>
          </a:xfrm>
          <a:prstGeom xmlns:a="http://schemas.openxmlformats.org/drawingml/2006/main" prst="roundRect">
            <a:avLst>
              <a:gd name="adj" fmla="val 11111"/>
            </a:avLst>
          </a:prstGeom>
          <a:solidFill xmlns:a="http://schemas.openxmlformats.org/drawingml/2006/main">
            <a:srgbClr val="18384C"/>
          </a:solidFill>
          <a:ln xmlns:a="http://schemas.openxmlformats.org/drawingml/2006/main" w="12383">
            <a:solidFill>
              <a:srgbClr val="578095"/>
            </a:solidFill>
            <a:prstDash val="solid"/>
          </a:ln>
        </p:spPr>
      </p:sp>
      <p:sp>
        <p:nvSpPr>
          <p:cNvPr id="12" name="">
            <a:extLst xmlns:a="http://schemas.openxmlformats.org/drawingml/2006/main">
              <a:ext uri="{FF2B5EF4-FFF2-40B4-BE49-F238E27FC236}">
                <a16:creationId xmlns:a16="http://schemas.microsoft.com/office/drawing/2014/main" id="{028A9388-FE8C-440B-A23D-37B08D3A9234}"/>
              </a:ext>
            </a:extLst>
          </p:cNvPr>
          <p:cNvSpPr>
            <a:spLocks xmlns:a="http://schemas.openxmlformats.org/drawingml/2006/main" noGrp="1"/>
          </p:cNvSpPr>
          <p:nvPr/>
        </p:nvSpPr>
        <p:spPr>
          <a:xfrm xmlns:a="http://schemas.openxmlformats.org/drawingml/2006/main">
            <a:off x="1171575" y="3419475"/>
            <a:ext cx="20859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Electrician</a:t>
            </a:r>
          </a:p>
        </p:txBody>
      </p:sp>
      <p:sp>
        <p:nvSpPr>
          <p:cNvPr id="13" name="">
            <a:extLst xmlns:a="http://schemas.openxmlformats.org/drawingml/2006/main">
              <a:ext uri="{FF2B5EF4-FFF2-40B4-BE49-F238E27FC236}">
                <a16:creationId xmlns:a16="http://schemas.microsoft.com/office/drawing/2014/main" id="{2F26715E-99C3-4D66-8073-AD8B86E8C0C0}"/>
              </a:ext>
            </a:extLst>
          </p:cNvPr>
          <p:cNvSpPr>
            <a:spLocks xmlns:a="http://schemas.openxmlformats.org/drawingml/2006/main" noGrp="1"/>
          </p:cNvSpPr>
          <p:nvPr/>
        </p:nvSpPr>
        <p:spPr>
          <a:xfrm xmlns:a="http://schemas.openxmlformats.org/drawingml/2006/main">
            <a:off x="1171575" y="3848100"/>
            <a:ext cx="20859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$300</a:t>
            </a:r>
          </a:p>
        </p:txBody>
      </p:sp>
      <p:sp>
        <p:nvSpPr>
          <p:cNvPr id="15" name="">
            <a:extLst xmlns:a="http://schemas.openxmlformats.org/drawingml/2006/main">
              <a:ext uri="{FF2B5EF4-FFF2-40B4-BE49-F238E27FC236}">
                <a16:creationId xmlns:a16="http://schemas.microsoft.com/office/drawing/2014/main" id="{88CFA416-25FC-4F19-9721-AC7A5CC6F735}"/>
              </a:ext>
            </a:extLst>
          </p:cNvPr>
          <p:cNvSpPr>
            <a:spLocks xmlns:a="http://schemas.openxmlformats.org/drawingml/2006/main" noGrp="1"/>
          </p:cNvSpPr>
          <p:nvPr/>
        </p:nvSpPr>
        <p:spPr>
          <a:xfrm xmlns:a="http://schemas.openxmlformats.org/drawingml/2006/main">
            <a:off x="1095375" y="4371975"/>
            <a:ext cx="2238375" cy="857250"/>
          </a:xfrm>
          <a:prstGeom xmlns:a="http://schemas.openxmlformats.org/drawingml/2006/main" prst="roundRect">
            <a:avLst>
              <a:gd name="adj" fmla="val 11111"/>
            </a:avLst>
          </a:prstGeom>
          <a:solidFill xmlns:a="http://schemas.openxmlformats.org/drawingml/2006/main">
            <a:srgbClr val="18384C"/>
          </a:solidFill>
          <a:ln xmlns:a="http://schemas.openxmlformats.org/drawingml/2006/main" w="12383">
            <a:solidFill>
              <a:srgbClr val="578095"/>
            </a:solidFill>
            <a:prstDash val="solid"/>
          </a:ln>
        </p:spPr>
      </p:sp>
      <p:sp>
        <p:nvSpPr>
          <p:cNvPr id="16" name="">
            <a:extLst xmlns:a="http://schemas.openxmlformats.org/drawingml/2006/main">
              <a:ext uri="{FF2B5EF4-FFF2-40B4-BE49-F238E27FC236}">
                <a16:creationId xmlns:a16="http://schemas.microsoft.com/office/drawing/2014/main" id="{1125F508-304C-42B0-84E9-5B3126D512F6}"/>
              </a:ext>
            </a:extLst>
          </p:cNvPr>
          <p:cNvSpPr>
            <a:spLocks xmlns:a="http://schemas.openxmlformats.org/drawingml/2006/main" noGrp="1"/>
          </p:cNvSpPr>
          <p:nvPr/>
        </p:nvSpPr>
        <p:spPr>
          <a:xfrm xmlns:a="http://schemas.openxmlformats.org/drawingml/2006/main">
            <a:off x="1171575" y="4505325"/>
            <a:ext cx="20859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Gardener</a:t>
            </a:r>
          </a:p>
        </p:txBody>
      </p:sp>
      <p:sp>
        <p:nvSpPr>
          <p:cNvPr id="17" name="">
            <a:extLst xmlns:a="http://schemas.openxmlformats.org/drawingml/2006/main">
              <a:ext uri="{FF2B5EF4-FFF2-40B4-BE49-F238E27FC236}">
                <a16:creationId xmlns:a16="http://schemas.microsoft.com/office/drawing/2014/main" id="{78F11981-4A77-4BDB-A261-BC3B0C82BCFE}"/>
              </a:ext>
            </a:extLst>
          </p:cNvPr>
          <p:cNvSpPr>
            <a:spLocks xmlns:a="http://schemas.openxmlformats.org/drawingml/2006/main" noGrp="1"/>
          </p:cNvSpPr>
          <p:nvPr/>
        </p:nvSpPr>
        <p:spPr>
          <a:xfrm xmlns:a="http://schemas.openxmlformats.org/drawingml/2006/main">
            <a:off x="1171575" y="4933950"/>
            <a:ext cx="20859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$200</a:t>
            </a:r>
          </a:p>
        </p:txBody>
      </p:sp>
      <p:sp>
        <p:nvSpPr>
          <p:cNvPr id="19" name="">
            <a:extLst xmlns:a="http://schemas.openxmlformats.org/drawingml/2006/main">
              <a:ext uri="{FF2B5EF4-FFF2-40B4-BE49-F238E27FC236}">
                <a16:creationId xmlns:a16="http://schemas.microsoft.com/office/drawing/2014/main" id="{4B6CEC7B-89D4-4996-BB4E-A8DE24B0D607}"/>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0" name="">
            <a:extLst xmlns:a="http://schemas.openxmlformats.org/drawingml/2006/main">
              <a:ext uri="{FF2B5EF4-FFF2-40B4-BE49-F238E27FC236}">
                <a16:creationId xmlns:a16="http://schemas.microsoft.com/office/drawing/2014/main" id="{1BE3AC48-755D-4177-8C4A-16FAA99DA6E1}"/>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11</a:t>
            </a:r>
          </a:p>
        </p:txBody>
      </p:sp>
    </p:spTree>
    <p:extLst>
      <p:ext uri="{BB962C8B-B14F-4D97-AF65-F5344CB8AC3E}">
        <p14:creationId xmlns:p14="http://schemas.microsoft.com/office/powerpoint/2010/main" val="1062870677"/>
      </p:ext>
    </p:extLst>
  </p:cSld>
</p:sld>
</file>

<file path=ppt/slides/slide12.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99B4DF24-6914-4BE6-8EA6-B6C7A42EC142}"/>
              </a:ext>
            </a:extLst>
          </p:cNvPr>
          <p:cNvCxnSpPr>
            <a:stCxn xmlns:a="http://schemas.openxmlformats.org/drawingml/2006/main" id="10" idx="3"/>
            <a:endCxn xmlns:a="http://schemas.openxmlformats.org/drawingml/2006/main" id="13" idx="1"/>
          </p:cNvCxnSpPr>
          <p:nvPr/>
        </p:nvCxnSpPr>
        <p:spPr>
          <a:xfrm xmlns:a="http://schemas.openxmlformats.org/drawingml/2006/main">
            <a:off x="86296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F550F408-5916-4102-8DC0-E5983454FF4A}"/>
              </a:ext>
            </a:extLst>
          </p:cNvPr>
          <p:cNvCxnSpPr>
            <a:stCxn xmlns:a="http://schemas.openxmlformats.org/drawingml/2006/main" id="7" idx="3"/>
            <a:endCxn xmlns:a="http://schemas.openxmlformats.org/drawingml/2006/main" id="10" idx="1"/>
          </p:cNvCxnSpPr>
          <p:nvPr/>
        </p:nvCxnSpPr>
        <p:spPr>
          <a:xfrm xmlns:a="http://schemas.openxmlformats.org/drawingml/2006/main">
            <a:off x="582930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A2C43535-618A-4335-9A0C-E57D6A52E919}"/>
              </a:ext>
            </a:extLst>
          </p:cNvPr>
          <p:cNvCxnSpPr>
            <a:stCxn xmlns:a="http://schemas.openxmlformats.org/drawingml/2006/main" id="4" idx="3"/>
            <a:endCxn xmlns:a="http://schemas.openxmlformats.org/drawingml/2006/main" id="7" idx="1"/>
          </p:cNvCxnSpPr>
          <p:nvPr/>
        </p:nvCxnSpPr>
        <p:spPr>
          <a:xfrm xmlns:a="http://schemas.openxmlformats.org/drawingml/2006/main">
            <a:off x="3028950" y="3619500"/>
            <a:ext cx="5334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22" name="">
            <a:extLst xmlns:a="http://schemas.openxmlformats.org/drawingml/2006/main">
              <a:ext uri="{FF2B5EF4-FFF2-40B4-BE49-F238E27FC236}">
                <a16:creationId xmlns:a16="http://schemas.microsoft.com/office/drawing/2014/main" id="{5964A8AB-D180-459C-881F-29B964EC8A64}"/>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EE8017E4-B389-40B9-9CDB-F814EBA20FFA}"/>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Separate the milestones</a:t>
            </a:r>
          </a:p>
        </p:txBody>
      </p:sp>
      <p:sp>
        <p:nvSpPr>
          <p:cNvPr id="3" name="">
            <a:extLst xmlns:a="http://schemas.openxmlformats.org/drawingml/2006/main">
              <a:ext uri="{FF2B5EF4-FFF2-40B4-BE49-F238E27FC236}">
                <a16:creationId xmlns:a16="http://schemas.microsoft.com/office/drawing/2014/main" id="{A20C5573-722A-4640-A58F-3A15BF37A3E3}"/>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Each handoff has a separate outcome to verify.</a:t>
            </a:r>
          </a:p>
        </p:txBody>
      </p:sp>
      <p:sp>
        <p:nvSpPr>
          <p:cNvPr id="4" name="">
            <a:extLst xmlns:a="http://schemas.openxmlformats.org/drawingml/2006/main">
              <a:ext uri="{FF2B5EF4-FFF2-40B4-BE49-F238E27FC236}">
                <a16:creationId xmlns:a16="http://schemas.microsoft.com/office/drawing/2014/main" id="{81576F21-6AC4-4E66-8FB4-602BCC3373B6}"/>
              </a:ext>
            </a:extLst>
          </p:cNvPr>
          <p:cNvSpPr>
            <a:spLocks xmlns:a="http://schemas.openxmlformats.org/drawingml/2006/main" noGrp="1"/>
          </p:cNvSpPr>
          <p:nvPr/>
        </p:nvSpPr>
        <p:spPr>
          <a:xfrm xmlns:a="http://schemas.openxmlformats.org/drawingml/2006/main">
            <a:off x="7620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F3ECD300-52C9-498A-869E-F92B2BA4AB02}"/>
              </a:ext>
            </a:extLst>
          </p:cNvPr>
          <p:cNvSpPr>
            <a:spLocks xmlns:a="http://schemas.openxmlformats.org/drawingml/2006/main" noGrp="1"/>
          </p:cNvSpPr>
          <p:nvPr/>
        </p:nvSpPr>
        <p:spPr>
          <a:xfrm xmlns:a="http://schemas.openxmlformats.org/drawingml/2006/main">
            <a:off x="8382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Batch</a:t>
            </a:r>
          </a:p>
        </p:txBody>
      </p:sp>
      <p:sp>
        <p:nvSpPr>
          <p:cNvPr id="6" name="">
            <a:extLst xmlns:a="http://schemas.openxmlformats.org/drawingml/2006/main">
              <a:ext uri="{FF2B5EF4-FFF2-40B4-BE49-F238E27FC236}">
                <a16:creationId xmlns:a16="http://schemas.microsoft.com/office/drawing/2014/main" id="{323F6A0B-DEEE-4783-B8AA-922AC4EEA33A}"/>
              </a:ext>
            </a:extLst>
          </p:cNvPr>
          <p:cNvSpPr>
            <a:spLocks xmlns:a="http://schemas.openxmlformats.org/drawingml/2006/main" noGrp="1"/>
          </p:cNvSpPr>
          <p:nvPr/>
        </p:nvSpPr>
        <p:spPr>
          <a:xfrm xmlns:a="http://schemas.openxmlformats.org/drawingml/2006/main">
            <a:off x="8382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Created</a:t>
            </a:r>
          </a:p>
        </p:txBody>
      </p:sp>
      <p:sp>
        <p:nvSpPr>
          <p:cNvPr id="7" name="">
            <a:extLst xmlns:a="http://schemas.openxmlformats.org/drawingml/2006/main">
              <a:ext uri="{FF2B5EF4-FFF2-40B4-BE49-F238E27FC236}">
                <a16:creationId xmlns:a16="http://schemas.microsoft.com/office/drawing/2014/main" id="{377DD047-2414-4CFF-AD3C-151A74A71AD7}"/>
              </a:ext>
            </a:extLst>
          </p:cNvPr>
          <p:cNvSpPr>
            <a:spLocks xmlns:a="http://schemas.openxmlformats.org/drawingml/2006/main" noGrp="1"/>
          </p:cNvSpPr>
          <p:nvPr/>
        </p:nvSpPr>
        <p:spPr>
          <a:xfrm xmlns:a="http://schemas.openxmlformats.org/drawingml/2006/main">
            <a:off x="35623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A5F6AA16-F7D1-406F-920B-6161BB3E8CB3}"/>
              </a:ext>
            </a:extLst>
          </p:cNvPr>
          <p:cNvSpPr>
            <a:spLocks xmlns:a="http://schemas.openxmlformats.org/drawingml/2006/main" noGrp="1"/>
          </p:cNvSpPr>
          <p:nvPr/>
        </p:nvSpPr>
        <p:spPr>
          <a:xfrm xmlns:a="http://schemas.openxmlformats.org/drawingml/2006/main">
            <a:off x="36385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Files</a:t>
            </a:r>
          </a:p>
        </p:txBody>
      </p:sp>
      <p:sp>
        <p:nvSpPr>
          <p:cNvPr id="9" name="">
            <a:extLst xmlns:a="http://schemas.openxmlformats.org/drawingml/2006/main">
              <a:ext uri="{FF2B5EF4-FFF2-40B4-BE49-F238E27FC236}">
                <a16:creationId xmlns:a16="http://schemas.microsoft.com/office/drawing/2014/main" id="{27C156A9-F67E-427A-A06C-64F6C7409175}"/>
              </a:ext>
            </a:extLst>
          </p:cNvPr>
          <p:cNvSpPr>
            <a:spLocks xmlns:a="http://schemas.openxmlformats.org/drawingml/2006/main" noGrp="1"/>
          </p:cNvSpPr>
          <p:nvPr/>
        </p:nvSpPr>
        <p:spPr>
          <a:xfrm xmlns:a="http://schemas.openxmlformats.org/drawingml/2006/main">
            <a:off x="36385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Transferred</a:t>
            </a:r>
          </a:p>
        </p:txBody>
      </p:sp>
      <p:sp>
        <p:nvSpPr>
          <p:cNvPr id="10" name="">
            <a:extLst xmlns:a="http://schemas.openxmlformats.org/drawingml/2006/main">
              <a:ext uri="{FF2B5EF4-FFF2-40B4-BE49-F238E27FC236}">
                <a16:creationId xmlns:a16="http://schemas.microsoft.com/office/drawing/2014/main" id="{08E2381B-7B00-4C29-8BB1-071E10A61FE5}"/>
              </a:ext>
            </a:extLst>
          </p:cNvPr>
          <p:cNvSpPr>
            <a:spLocks xmlns:a="http://schemas.openxmlformats.org/drawingml/2006/main" noGrp="1"/>
          </p:cNvSpPr>
          <p:nvPr/>
        </p:nvSpPr>
        <p:spPr>
          <a:xfrm xmlns:a="http://schemas.openxmlformats.org/drawingml/2006/main">
            <a:off x="63627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0E417F63-A0AD-4CAD-A302-4B3CE6A02C0D}"/>
              </a:ext>
            </a:extLst>
          </p:cNvPr>
          <p:cNvSpPr>
            <a:spLocks xmlns:a="http://schemas.openxmlformats.org/drawingml/2006/main" noGrp="1"/>
          </p:cNvSpPr>
          <p:nvPr/>
        </p:nvSpPr>
        <p:spPr>
          <a:xfrm xmlns:a="http://schemas.openxmlformats.org/drawingml/2006/main">
            <a:off x="64389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Printer</a:t>
            </a:r>
          </a:p>
        </p:txBody>
      </p:sp>
      <p:sp>
        <p:nvSpPr>
          <p:cNvPr id="12" name="">
            <a:extLst xmlns:a="http://schemas.openxmlformats.org/drawingml/2006/main">
              <a:ext uri="{FF2B5EF4-FFF2-40B4-BE49-F238E27FC236}">
                <a16:creationId xmlns:a16="http://schemas.microsoft.com/office/drawing/2014/main" id="{2B149758-F4B8-48CE-8CD2-1B25CC969AC8}"/>
              </a:ext>
            </a:extLst>
          </p:cNvPr>
          <p:cNvSpPr>
            <a:spLocks xmlns:a="http://schemas.openxmlformats.org/drawingml/2006/main" noGrp="1"/>
          </p:cNvSpPr>
          <p:nvPr/>
        </p:nvSpPr>
        <p:spPr>
          <a:xfrm xmlns:a="http://schemas.openxmlformats.org/drawingml/2006/main">
            <a:off x="64389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Received</a:t>
            </a:r>
          </a:p>
        </p:txBody>
      </p:sp>
      <p:sp>
        <p:nvSpPr>
          <p:cNvPr id="13" name="">
            <a:extLst xmlns:a="http://schemas.openxmlformats.org/drawingml/2006/main">
              <a:ext uri="{FF2B5EF4-FFF2-40B4-BE49-F238E27FC236}">
                <a16:creationId xmlns:a16="http://schemas.microsoft.com/office/drawing/2014/main" id="{2FDF5BBF-BBB2-43E0-886E-C15165DCD6A7}"/>
              </a:ext>
            </a:extLst>
          </p:cNvPr>
          <p:cNvSpPr>
            <a:spLocks xmlns:a="http://schemas.openxmlformats.org/drawingml/2006/main" noGrp="1"/>
          </p:cNvSpPr>
          <p:nvPr/>
        </p:nvSpPr>
        <p:spPr>
          <a:xfrm xmlns:a="http://schemas.openxmlformats.org/drawingml/2006/main">
            <a:off x="91630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4" name="">
            <a:extLst xmlns:a="http://schemas.openxmlformats.org/drawingml/2006/main">
              <a:ext uri="{FF2B5EF4-FFF2-40B4-BE49-F238E27FC236}">
                <a16:creationId xmlns:a16="http://schemas.microsoft.com/office/drawing/2014/main" id="{196EA487-6A77-4064-B406-3AFBD9F48143}"/>
              </a:ext>
            </a:extLst>
          </p:cNvPr>
          <p:cNvSpPr>
            <a:spLocks xmlns:a="http://schemas.openxmlformats.org/drawingml/2006/main" noGrp="1"/>
          </p:cNvSpPr>
          <p:nvPr/>
        </p:nvSpPr>
        <p:spPr>
          <a:xfrm xmlns:a="http://schemas.openxmlformats.org/drawingml/2006/main">
            <a:off x="92392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Checks</a:t>
            </a:r>
          </a:p>
        </p:txBody>
      </p:sp>
      <p:sp>
        <p:nvSpPr>
          <p:cNvPr id="15" name="">
            <a:extLst xmlns:a="http://schemas.openxmlformats.org/drawingml/2006/main">
              <a:ext uri="{FF2B5EF4-FFF2-40B4-BE49-F238E27FC236}">
                <a16:creationId xmlns:a16="http://schemas.microsoft.com/office/drawing/2014/main" id="{19732F72-5B48-4DBD-B1C9-CC7DA3C024D4}"/>
              </a:ext>
            </a:extLst>
          </p:cNvPr>
          <p:cNvSpPr>
            <a:spLocks xmlns:a="http://schemas.openxmlformats.org/drawingml/2006/main" noGrp="1"/>
          </p:cNvSpPr>
          <p:nvPr/>
        </p:nvSpPr>
        <p:spPr>
          <a:xfrm xmlns:a="http://schemas.openxmlformats.org/drawingml/2006/main">
            <a:off x="92392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Processed</a:t>
            </a:r>
          </a:p>
        </p:txBody>
      </p:sp>
      <p:sp>
        <p:nvSpPr>
          <p:cNvPr id="19" name="">
            <a:extLst xmlns:a="http://schemas.openxmlformats.org/drawingml/2006/main">
              <a:ext uri="{FF2B5EF4-FFF2-40B4-BE49-F238E27FC236}">
                <a16:creationId xmlns:a16="http://schemas.microsoft.com/office/drawing/2014/main" id="{D83936C8-B949-4ACF-B514-13D9F5EEB9DF}"/>
              </a:ext>
            </a:extLst>
          </p:cNvPr>
          <p:cNvSpPr>
            <a:spLocks xmlns:a="http://schemas.openxmlformats.org/drawingml/2006/main" noGrp="1"/>
          </p:cNvSpPr>
          <p:nvPr/>
        </p:nvSpPr>
        <p:spPr>
          <a:xfrm xmlns:a="http://schemas.openxmlformats.org/drawingml/2006/main">
            <a:off x="762000" y="57626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F4C585"/>
                </a:solidFill>
                <a:latin typeface="Arial"/>
                <a:ea typeface="Arial"/>
                <a:cs typeface="Arial"/>
              </a:defRPr>
            </a:defPPr>
            <a:lvl1pPr algn="l">
              <a:buNone/>
              <a:defRPr sz="1650" b="0">
                <a:solidFill>
                  <a:srgbClr val="F4C585"/>
                </a:solidFill>
                <a:latin typeface="Arial"/>
                <a:ea typeface="Arial"/>
                <a:cs typeface="Arial"/>
              </a:defRPr>
            </a:lvl1pPr>
            <a:lvl2pPr algn="l">
              <a:buNone/>
              <a:defRPr sz="1650" b="0">
                <a:solidFill>
                  <a:srgbClr val="F4C585"/>
                </a:solidFill>
                <a:latin typeface="Arial"/>
                <a:ea typeface="Arial"/>
                <a:cs typeface="Arial"/>
              </a:defRPr>
            </a:lvl2pPr>
            <a:lvl3pPr algn="l">
              <a:buNone/>
              <a:defRPr sz="1650" b="0">
                <a:solidFill>
                  <a:srgbClr val="F4C585"/>
                </a:solidFill>
                <a:latin typeface="Arial"/>
                <a:ea typeface="Arial"/>
                <a:cs typeface="Arial"/>
              </a:defRPr>
            </a:lvl3pPr>
            <a:lvl4pPr algn="l">
              <a:buNone/>
              <a:defRPr sz="1650" b="0">
                <a:solidFill>
                  <a:srgbClr val="F4C585"/>
                </a:solidFill>
                <a:latin typeface="Arial"/>
                <a:ea typeface="Arial"/>
                <a:cs typeface="Arial"/>
              </a:defRPr>
            </a:lvl4pPr>
            <a:lvl5pPr algn="l">
              <a:buNone/>
              <a:defRPr sz="1650" b="0">
                <a:solidFill>
                  <a:srgbClr val="F4C585"/>
                </a:solidFill>
                <a:latin typeface="Arial"/>
                <a:ea typeface="Arial"/>
                <a:cs typeface="Arial"/>
              </a:defRPr>
            </a:lvl5pPr>
            <a:lvl6pPr algn="l">
              <a:buNone/>
              <a:defRPr sz="1650" b="0">
                <a:solidFill>
                  <a:srgbClr val="F4C585"/>
                </a:solidFill>
                <a:latin typeface="Arial"/>
                <a:ea typeface="Arial"/>
                <a:cs typeface="Arial"/>
              </a:defRPr>
            </a:lvl6pPr>
            <a:lvl7pPr algn="l">
              <a:buNone/>
              <a:defRPr sz="1650" b="0">
                <a:solidFill>
                  <a:srgbClr val="F4C585"/>
                </a:solidFill>
                <a:latin typeface="Arial"/>
                <a:ea typeface="Arial"/>
                <a:cs typeface="Arial"/>
              </a:defRPr>
            </a:lvl7pPr>
            <a:lvl8pPr algn="l">
              <a:buNone/>
              <a:defRPr sz="1650" b="0">
                <a:solidFill>
                  <a:srgbClr val="F4C585"/>
                </a:solidFill>
                <a:latin typeface="Arial"/>
                <a:ea typeface="Arial"/>
                <a:cs typeface="Arial"/>
              </a:defRPr>
            </a:lvl8pPr>
            <a:lvl9pPr algn="l">
              <a:buNone/>
              <a:defRPr sz="1650" b="0">
                <a:solidFill>
                  <a:srgbClr val="F4C585"/>
                </a:solidFill>
                <a:latin typeface="Arial"/>
                <a:ea typeface="Arial"/>
                <a:cs typeface="Arial"/>
              </a:defRPr>
            </a:lvl9pPr>
          </a:lstStyle>
          <a:p xmlns:a="http://schemas.openxmlformats.org/drawingml/2006/main">
            <a:pPr algn="l">
              <a:buNone/>
              <a:defRPr sz="1650" b="0">
                <a:solidFill>
                  <a:srgbClr val="F4C585"/>
                </a:solidFill>
                <a:latin typeface="Arial"/>
                <a:ea typeface="Arial"/>
                <a:cs typeface="Arial"/>
              </a:defRPr>
            </a:pPr>
            <a:r>
              <a:rPr sz="1650" b="0">
                <a:solidFill>
                  <a:srgbClr val="F4C585"/>
                </a:solidFill>
                <a:latin typeface="Arial"/>
                <a:ea typeface="Arial"/>
                <a:cs typeface="Arial"/>
              </a:rPr>
              <a:t>A successful transfer alone does not prove that every check printed.</a:t>
            </a:r>
          </a:p>
        </p:txBody>
      </p:sp>
      <p:sp>
        <p:nvSpPr>
          <p:cNvPr id="20" name="">
            <a:extLst xmlns:a="http://schemas.openxmlformats.org/drawingml/2006/main">
              <a:ext uri="{FF2B5EF4-FFF2-40B4-BE49-F238E27FC236}">
                <a16:creationId xmlns:a16="http://schemas.microsoft.com/office/drawing/2014/main" id="{941D8669-B3B1-4860-ADEA-7B38812EFD6C}"/>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1" name="">
            <a:extLst xmlns:a="http://schemas.openxmlformats.org/drawingml/2006/main">
              <a:ext uri="{FF2B5EF4-FFF2-40B4-BE49-F238E27FC236}">
                <a16:creationId xmlns:a16="http://schemas.microsoft.com/office/drawing/2014/main" id="{B5391B2F-1328-4AA3-8700-BA3E5015D7EB}"/>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12</a:t>
            </a:r>
          </a:p>
        </p:txBody>
      </p:sp>
    </p:spTree>
    <p:extLst>
      <p:ext uri="{BB962C8B-B14F-4D97-AF65-F5344CB8AC3E}">
        <p14:creationId xmlns:p14="http://schemas.microsoft.com/office/powerpoint/2010/main" val="517353457"/>
      </p:ext>
    </p:extLst>
  </p:cSld>
</p:sld>
</file>

<file path=ppt/slides/slide13.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F5CA0B17-C32C-4AF5-9521-D7116106A345}"/>
              </a:ext>
            </a:extLst>
          </p:cNvPr>
          <p:cNvCxnSpPr>
            <a:stCxn xmlns:a="http://schemas.openxmlformats.org/drawingml/2006/main" id="7" idx="3"/>
            <a:endCxn xmlns:a="http://schemas.openxmlformats.org/drawingml/2006/main" id="10" idx="1"/>
          </p:cNvCxnSpPr>
          <p:nvPr/>
        </p:nvCxnSpPr>
        <p:spPr>
          <a:xfrm xmlns:a="http://schemas.openxmlformats.org/drawingml/2006/main">
            <a:off x="7229475" y="3619500"/>
            <a:ext cx="1933575"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3" name="">
            <a:extLst xmlns:a="http://schemas.openxmlformats.org/drawingml/2006/main">
              <a:ext uri="{FF2B5EF4-FFF2-40B4-BE49-F238E27FC236}">
                <a16:creationId xmlns:a16="http://schemas.microsoft.com/office/drawing/2014/main" id="{406EC33A-1068-49AA-AADC-463C2BFB5235}"/>
              </a:ext>
            </a:extLst>
          </p:cNvPr>
          <p:cNvCxnSpPr>
            <a:stCxn xmlns:a="http://schemas.openxmlformats.org/drawingml/2006/main" id="4" idx="3"/>
            <a:endCxn xmlns:a="http://schemas.openxmlformats.org/drawingml/2006/main" id="7" idx="1"/>
          </p:cNvCxnSpPr>
          <p:nvPr/>
        </p:nvCxnSpPr>
        <p:spPr>
          <a:xfrm xmlns:a="http://schemas.openxmlformats.org/drawingml/2006/main">
            <a:off x="3028950" y="3619500"/>
            <a:ext cx="1933575"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17" name="">
            <a:extLst xmlns:a="http://schemas.openxmlformats.org/drawingml/2006/main">
              <a:ext uri="{FF2B5EF4-FFF2-40B4-BE49-F238E27FC236}">
                <a16:creationId xmlns:a16="http://schemas.microsoft.com/office/drawing/2014/main" id="{B9548604-019C-4E96-9940-BC26A6C81F19}"/>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962FF2CE-0F66-4AF8-B2E0-704864C4751D}"/>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Accounting is a separate handoff</a:t>
            </a:r>
          </a:p>
        </p:txBody>
      </p:sp>
      <p:sp>
        <p:nvSpPr>
          <p:cNvPr id="3" name="">
            <a:extLst xmlns:a="http://schemas.openxmlformats.org/drawingml/2006/main">
              <a:ext uri="{FF2B5EF4-FFF2-40B4-BE49-F238E27FC236}">
                <a16:creationId xmlns:a16="http://schemas.microsoft.com/office/drawing/2014/main" id="{B726870A-4665-47C3-89B7-78B30425DA28}"/>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Accounting integration is a separate handoff to the customer.</a:t>
            </a:r>
          </a:p>
        </p:txBody>
      </p:sp>
      <p:sp>
        <p:nvSpPr>
          <p:cNvPr id="4" name="">
            <a:extLst xmlns:a="http://schemas.openxmlformats.org/drawingml/2006/main">
              <a:ext uri="{FF2B5EF4-FFF2-40B4-BE49-F238E27FC236}">
                <a16:creationId xmlns:a16="http://schemas.microsoft.com/office/drawing/2014/main" id="{F642BD1D-A7CA-4296-A7BF-F4612031AEFA}"/>
              </a:ext>
            </a:extLst>
          </p:cNvPr>
          <p:cNvSpPr>
            <a:spLocks xmlns:a="http://schemas.openxmlformats.org/drawingml/2006/main" noGrp="1"/>
          </p:cNvSpPr>
          <p:nvPr/>
        </p:nvSpPr>
        <p:spPr>
          <a:xfrm xmlns:a="http://schemas.openxmlformats.org/drawingml/2006/main">
            <a:off x="76200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6DC3A818-F123-4550-9A65-EDB1899DC9CE}"/>
              </a:ext>
            </a:extLst>
          </p:cNvPr>
          <p:cNvSpPr>
            <a:spLocks xmlns:a="http://schemas.openxmlformats.org/drawingml/2006/main" noGrp="1"/>
          </p:cNvSpPr>
          <p:nvPr/>
        </p:nvSpPr>
        <p:spPr>
          <a:xfrm xmlns:a="http://schemas.openxmlformats.org/drawingml/2006/main">
            <a:off x="83820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StrongRoom</a:t>
            </a:r>
          </a:p>
        </p:txBody>
      </p:sp>
      <p:sp>
        <p:nvSpPr>
          <p:cNvPr id="6" name="">
            <a:extLst xmlns:a="http://schemas.openxmlformats.org/drawingml/2006/main">
              <a:ext uri="{FF2B5EF4-FFF2-40B4-BE49-F238E27FC236}">
                <a16:creationId xmlns:a16="http://schemas.microsoft.com/office/drawing/2014/main" id="{7C2E6C1C-2324-44B7-B593-8F620866812E}"/>
              </a:ext>
            </a:extLst>
          </p:cNvPr>
          <p:cNvSpPr>
            <a:spLocks xmlns:a="http://schemas.openxmlformats.org/drawingml/2006/main" noGrp="1"/>
          </p:cNvSpPr>
          <p:nvPr/>
        </p:nvSpPr>
        <p:spPr>
          <a:xfrm xmlns:a="http://schemas.openxmlformats.org/drawingml/2006/main">
            <a:off x="83820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Invoice and payment</a:t>
            </a:r>
          </a:p>
        </p:txBody>
      </p:sp>
      <p:sp>
        <p:nvSpPr>
          <p:cNvPr id="7" name="">
            <a:extLst xmlns:a="http://schemas.openxmlformats.org/drawingml/2006/main">
              <a:ext uri="{FF2B5EF4-FFF2-40B4-BE49-F238E27FC236}">
                <a16:creationId xmlns:a16="http://schemas.microsoft.com/office/drawing/2014/main" id="{13B8ABC3-C956-4936-BDF7-DA7406A27849}"/>
              </a:ext>
            </a:extLst>
          </p:cNvPr>
          <p:cNvSpPr>
            <a:spLocks xmlns:a="http://schemas.openxmlformats.org/drawingml/2006/main" noGrp="1"/>
          </p:cNvSpPr>
          <p:nvPr/>
        </p:nvSpPr>
        <p:spPr>
          <a:xfrm xmlns:a="http://schemas.openxmlformats.org/drawingml/2006/main">
            <a:off x="4962525"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CE19C58E-3860-4C7B-A2EA-7F77E6DC48A2}"/>
              </a:ext>
            </a:extLst>
          </p:cNvPr>
          <p:cNvSpPr>
            <a:spLocks xmlns:a="http://schemas.openxmlformats.org/drawingml/2006/main" noGrp="1"/>
          </p:cNvSpPr>
          <p:nvPr/>
        </p:nvSpPr>
        <p:spPr>
          <a:xfrm xmlns:a="http://schemas.openxmlformats.org/drawingml/2006/main">
            <a:off x="5038725"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Integration</a:t>
            </a:r>
          </a:p>
        </p:txBody>
      </p:sp>
      <p:sp>
        <p:nvSpPr>
          <p:cNvPr id="9" name="">
            <a:extLst xmlns:a="http://schemas.openxmlformats.org/drawingml/2006/main">
              <a:ext uri="{FF2B5EF4-FFF2-40B4-BE49-F238E27FC236}">
                <a16:creationId xmlns:a16="http://schemas.microsoft.com/office/drawing/2014/main" id="{3E2CA5C3-0B22-40F6-9D27-1C7F0B2FDB86}"/>
              </a:ext>
            </a:extLst>
          </p:cNvPr>
          <p:cNvSpPr>
            <a:spLocks xmlns:a="http://schemas.openxmlformats.org/drawingml/2006/main" noGrp="1"/>
          </p:cNvSpPr>
          <p:nvPr/>
        </p:nvSpPr>
        <p:spPr>
          <a:xfrm xmlns:a="http://schemas.openxmlformats.org/drawingml/2006/main">
            <a:off x="5038725"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Data handoff</a:t>
            </a:r>
          </a:p>
        </p:txBody>
      </p:sp>
      <p:sp>
        <p:nvSpPr>
          <p:cNvPr id="10" name="">
            <a:extLst xmlns:a="http://schemas.openxmlformats.org/drawingml/2006/main">
              <a:ext uri="{FF2B5EF4-FFF2-40B4-BE49-F238E27FC236}">
                <a16:creationId xmlns:a16="http://schemas.microsoft.com/office/drawing/2014/main" id="{6C9CD94C-A1D8-4BAB-AACD-EAC2484BA792}"/>
              </a:ext>
            </a:extLst>
          </p:cNvPr>
          <p:cNvSpPr>
            <a:spLocks xmlns:a="http://schemas.openxmlformats.org/drawingml/2006/main" noGrp="1"/>
          </p:cNvSpPr>
          <p:nvPr/>
        </p:nvSpPr>
        <p:spPr>
          <a:xfrm xmlns:a="http://schemas.openxmlformats.org/drawingml/2006/main">
            <a:off x="9163050" y="3048000"/>
            <a:ext cx="22669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9E4F7A07-D123-4D1F-AD9D-7DC6C007A686}"/>
              </a:ext>
            </a:extLst>
          </p:cNvPr>
          <p:cNvSpPr>
            <a:spLocks xmlns:a="http://schemas.openxmlformats.org/drawingml/2006/main" noGrp="1"/>
          </p:cNvSpPr>
          <p:nvPr/>
        </p:nvSpPr>
        <p:spPr>
          <a:xfrm xmlns:a="http://schemas.openxmlformats.org/drawingml/2006/main">
            <a:off x="9239250" y="31813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Customer</a:t>
            </a:r>
          </a:p>
        </p:txBody>
      </p:sp>
      <p:sp>
        <p:nvSpPr>
          <p:cNvPr id="12" name="">
            <a:extLst xmlns:a="http://schemas.openxmlformats.org/drawingml/2006/main">
              <a:ext uri="{FF2B5EF4-FFF2-40B4-BE49-F238E27FC236}">
                <a16:creationId xmlns:a16="http://schemas.microsoft.com/office/drawing/2014/main" id="{F098F60E-E0A4-4EDB-B917-BC594E74DAB1}"/>
              </a:ext>
            </a:extLst>
          </p:cNvPr>
          <p:cNvSpPr>
            <a:spLocks xmlns:a="http://schemas.openxmlformats.org/drawingml/2006/main" noGrp="1"/>
          </p:cNvSpPr>
          <p:nvPr/>
        </p:nvSpPr>
        <p:spPr>
          <a:xfrm xmlns:a="http://schemas.openxmlformats.org/drawingml/2006/main">
            <a:off x="9239250" y="3638550"/>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Accounting system</a:t>
            </a:r>
          </a:p>
        </p:txBody>
      </p:sp>
      <p:sp>
        <p:nvSpPr>
          <p:cNvPr id="15" name="">
            <a:extLst xmlns:a="http://schemas.openxmlformats.org/drawingml/2006/main">
              <a:ext uri="{FF2B5EF4-FFF2-40B4-BE49-F238E27FC236}">
                <a16:creationId xmlns:a16="http://schemas.microsoft.com/office/drawing/2014/main" id="{62277F44-B021-4DC7-BE23-099B0CCF0B79}"/>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16" name="">
            <a:extLst xmlns:a="http://schemas.openxmlformats.org/drawingml/2006/main">
              <a:ext uri="{FF2B5EF4-FFF2-40B4-BE49-F238E27FC236}">
                <a16:creationId xmlns:a16="http://schemas.microsoft.com/office/drawing/2014/main" id="{EC560248-2E15-480F-A035-E9097ED7DE4E}"/>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13</a:t>
            </a:r>
          </a:p>
        </p:txBody>
      </p:sp>
    </p:spTree>
    <p:extLst>
      <p:ext uri="{BB962C8B-B14F-4D97-AF65-F5344CB8AC3E}">
        <p14:creationId xmlns:p14="http://schemas.microsoft.com/office/powerpoint/2010/main" val="127299916"/>
      </p:ext>
    </p:extLst>
  </p:cSld>
</p:sld>
</file>

<file path=ppt/slides/slide14.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E62B6BB5-6256-4E4E-89E1-E7BD80CC7333}"/>
              </a:ext>
            </a:extLst>
          </p:cNvPr>
          <p:cNvCxnSpPr>
            <a:stCxn xmlns:a="http://schemas.openxmlformats.org/drawingml/2006/main" id="13" idx="3"/>
            <a:endCxn xmlns:a="http://schemas.openxmlformats.org/drawingml/2006/main" id="16" idx="1"/>
          </p:cNvCxnSpPr>
          <p:nvPr/>
        </p:nvCxnSpPr>
        <p:spPr>
          <a:xfrm xmlns:a="http://schemas.openxmlformats.org/drawingml/2006/main">
            <a:off x="9198769" y="3619500"/>
            <a:ext cx="488156"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54BC39A7-6331-46C3-966B-AF8D32A0144F}"/>
              </a:ext>
            </a:extLst>
          </p:cNvPr>
          <p:cNvCxnSpPr>
            <a:stCxn xmlns:a="http://schemas.openxmlformats.org/drawingml/2006/main" id="10" idx="3"/>
            <a:endCxn xmlns:a="http://schemas.openxmlformats.org/drawingml/2006/main" id="13" idx="1"/>
          </p:cNvCxnSpPr>
          <p:nvPr/>
        </p:nvCxnSpPr>
        <p:spPr>
          <a:xfrm xmlns:a="http://schemas.openxmlformats.org/drawingml/2006/main">
            <a:off x="6967538" y="3619500"/>
            <a:ext cx="488156"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54BCAE9F-AA5E-4637-AD87-F4C4ACD384DD}"/>
              </a:ext>
            </a:extLst>
          </p:cNvPr>
          <p:cNvCxnSpPr>
            <a:stCxn xmlns:a="http://schemas.openxmlformats.org/drawingml/2006/main" id="7" idx="3"/>
            <a:endCxn xmlns:a="http://schemas.openxmlformats.org/drawingml/2006/main" id="10" idx="1"/>
          </p:cNvCxnSpPr>
          <p:nvPr/>
        </p:nvCxnSpPr>
        <p:spPr>
          <a:xfrm xmlns:a="http://schemas.openxmlformats.org/drawingml/2006/main">
            <a:off x="4736306" y="3619500"/>
            <a:ext cx="488157"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19" name="">
            <a:extLst xmlns:a="http://schemas.openxmlformats.org/drawingml/2006/main">
              <a:ext uri="{FF2B5EF4-FFF2-40B4-BE49-F238E27FC236}">
                <a16:creationId xmlns:a16="http://schemas.microsoft.com/office/drawing/2014/main" id="{801A657A-C211-4A8C-89F1-048C45252F34}"/>
              </a:ext>
            </a:extLst>
          </p:cNvPr>
          <p:cNvCxnSpPr>
            <a:stCxn xmlns:a="http://schemas.openxmlformats.org/drawingml/2006/main" id="4" idx="3"/>
            <a:endCxn xmlns:a="http://schemas.openxmlformats.org/drawingml/2006/main" id="7" idx="1"/>
          </p:cNvCxnSpPr>
          <p:nvPr/>
        </p:nvCxnSpPr>
        <p:spPr>
          <a:xfrm xmlns:a="http://schemas.openxmlformats.org/drawingml/2006/main">
            <a:off x="2505075" y="3619500"/>
            <a:ext cx="488156"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25" name="">
            <a:extLst xmlns:a="http://schemas.openxmlformats.org/drawingml/2006/main">
              <a:ext uri="{FF2B5EF4-FFF2-40B4-BE49-F238E27FC236}">
                <a16:creationId xmlns:a16="http://schemas.microsoft.com/office/drawing/2014/main" id="{5F70C163-79A4-4B1D-8D72-16382731C4C6}"/>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237D2BAB-65C7-449C-A06A-7775F042A3FF}"/>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How an SRE traces an issue</a:t>
            </a:r>
          </a:p>
        </p:txBody>
      </p:sp>
      <p:sp>
        <p:nvSpPr>
          <p:cNvPr id="3" name="">
            <a:extLst xmlns:a="http://schemas.openxmlformats.org/drawingml/2006/main">
              <a:ext uri="{FF2B5EF4-FFF2-40B4-BE49-F238E27FC236}">
                <a16:creationId xmlns:a16="http://schemas.microsoft.com/office/drawing/2014/main" id="{A63898DE-E06B-4F78-B98E-A7EE323D437F}"/>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Find the last successful step, then investigate the next handoff.</a:t>
            </a:r>
          </a:p>
        </p:txBody>
      </p:sp>
      <p:sp>
        <p:nvSpPr>
          <p:cNvPr id="4" name="">
            <a:extLst xmlns:a="http://schemas.openxmlformats.org/drawingml/2006/main">
              <a:ext uri="{FF2B5EF4-FFF2-40B4-BE49-F238E27FC236}">
                <a16:creationId xmlns:a16="http://schemas.microsoft.com/office/drawing/2014/main" id="{4C19A9B6-F6C4-444A-B2CE-C63996208A02}"/>
              </a:ext>
            </a:extLst>
          </p:cNvPr>
          <p:cNvSpPr>
            <a:spLocks xmlns:a="http://schemas.openxmlformats.org/drawingml/2006/main" noGrp="1"/>
          </p:cNvSpPr>
          <p:nvPr/>
        </p:nvSpPr>
        <p:spPr>
          <a:xfrm xmlns:a="http://schemas.openxmlformats.org/drawingml/2006/main">
            <a:off x="762000" y="3048000"/>
            <a:ext cx="1743075"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1751D2A2-D5FD-47FE-A8BB-3F241DBB13CA}"/>
              </a:ext>
            </a:extLst>
          </p:cNvPr>
          <p:cNvSpPr>
            <a:spLocks xmlns:a="http://schemas.openxmlformats.org/drawingml/2006/main" noGrp="1"/>
          </p:cNvSpPr>
          <p:nvPr/>
        </p:nvSpPr>
        <p:spPr>
          <a:xfrm xmlns:a="http://schemas.openxmlformats.org/drawingml/2006/main">
            <a:off x="838200" y="3181350"/>
            <a:ext cx="15906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Invoice</a:t>
            </a:r>
          </a:p>
        </p:txBody>
      </p:sp>
      <p:sp>
        <p:nvSpPr>
          <p:cNvPr id="6" name="">
            <a:extLst xmlns:a="http://schemas.openxmlformats.org/drawingml/2006/main">
              <a:ext uri="{FF2B5EF4-FFF2-40B4-BE49-F238E27FC236}">
                <a16:creationId xmlns:a16="http://schemas.microsoft.com/office/drawing/2014/main" id="{2D70C0F3-0118-461F-936D-843B98102439}"/>
              </a:ext>
            </a:extLst>
          </p:cNvPr>
          <p:cNvSpPr>
            <a:spLocks xmlns:a="http://schemas.openxmlformats.org/drawingml/2006/main" noGrp="1"/>
          </p:cNvSpPr>
          <p:nvPr/>
        </p:nvSpPr>
        <p:spPr>
          <a:xfrm xmlns:a="http://schemas.openxmlformats.org/drawingml/2006/main">
            <a:off x="838200" y="3638550"/>
            <a:ext cx="15906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Received</a:t>
            </a:r>
          </a:p>
        </p:txBody>
      </p:sp>
      <p:sp>
        <p:nvSpPr>
          <p:cNvPr id="7" name="">
            <a:extLst xmlns:a="http://schemas.openxmlformats.org/drawingml/2006/main">
              <a:ext uri="{FF2B5EF4-FFF2-40B4-BE49-F238E27FC236}">
                <a16:creationId xmlns:a16="http://schemas.microsoft.com/office/drawing/2014/main" id="{B722E0C6-8987-4F13-8D0B-7E64D3D986B3}"/>
              </a:ext>
            </a:extLst>
          </p:cNvPr>
          <p:cNvSpPr>
            <a:spLocks xmlns:a="http://schemas.openxmlformats.org/drawingml/2006/main" noGrp="1"/>
          </p:cNvSpPr>
          <p:nvPr/>
        </p:nvSpPr>
        <p:spPr>
          <a:xfrm xmlns:a="http://schemas.openxmlformats.org/drawingml/2006/main">
            <a:off x="2993231" y="3048000"/>
            <a:ext cx="1743075"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07D6C44F-A40C-4CAA-AF4F-4720460AD5DE}"/>
              </a:ext>
            </a:extLst>
          </p:cNvPr>
          <p:cNvSpPr>
            <a:spLocks xmlns:a="http://schemas.openxmlformats.org/drawingml/2006/main" noGrp="1"/>
          </p:cNvSpPr>
          <p:nvPr/>
        </p:nvSpPr>
        <p:spPr>
          <a:xfrm xmlns:a="http://schemas.openxmlformats.org/drawingml/2006/main">
            <a:off x="3069431" y="3181350"/>
            <a:ext cx="15906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Approval</a:t>
            </a:r>
          </a:p>
        </p:txBody>
      </p:sp>
      <p:sp>
        <p:nvSpPr>
          <p:cNvPr id="9" name="">
            <a:extLst xmlns:a="http://schemas.openxmlformats.org/drawingml/2006/main">
              <a:ext uri="{FF2B5EF4-FFF2-40B4-BE49-F238E27FC236}">
                <a16:creationId xmlns:a16="http://schemas.microsoft.com/office/drawing/2014/main" id="{FA8AE731-E70A-46E9-9501-1C8DD65F7758}"/>
              </a:ext>
            </a:extLst>
          </p:cNvPr>
          <p:cNvSpPr>
            <a:spLocks xmlns:a="http://schemas.openxmlformats.org/drawingml/2006/main" noGrp="1"/>
          </p:cNvSpPr>
          <p:nvPr/>
        </p:nvSpPr>
        <p:spPr>
          <a:xfrm xmlns:a="http://schemas.openxmlformats.org/drawingml/2006/main">
            <a:off x="3069431" y="3638550"/>
            <a:ext cx="15906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Authorized</a:t>
            </a:r>
          </a:p>
        </p:txBody>
      </p:sp>
      <p:sp>
        <p:nvSpPr>
          <p:cNvPr id="10" name="">
            <a:extLst xmlns:a="http://schemas.openxmlformats.org/drawingml/2006/main">
              <a:ext uri="{FF2B5EF4-FFF2-40B4-BE49-F238E27FC236}">
                <a16:creationId xmlns:a16="http://schemas.microsoft.com/office/drawing/2014/main" id="{C762C82C-772D-40E2-923C-19678B0E12B9}"/>
              </a:ext>
            </a:extLst>
          </p:cNvPr>
          <p:cNvSpPr>
            <a:spLocks xmlns:a="http://schemas.openxmlformats.org/drawingml/2006/main" noGrp="1"/>
          </p:cNvSpPr>
          <p:nvPr/>
        </p:nvSpPr>
        <p:spPr>
          <a:xfrm xmlns:a="http://schemas.openxmlformats.org/drawingml/2006/main">
            <a:off x="5224463" y="3048000"/>
            <a:ext cx="1743075"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365957E4-C781-48FD-B49E-C92C3BCF30DC}"/>
              </a:ext>
            </a:extLst>
          </p:cNvPr>
          <p:cNvSpPr>
            <a:spLocks xmlns:a="http://schemas.openxmlformats.org/drawingml/2006/main" noGrp="1"/>
          </p:cNvSpPr>
          <p:nvPr/>
        </p:nvSpPr>
        <p:spPr>
          <a:xfrm xmlns:a="http://schemas.openxmlformats.org/drawingml/2006/main">
            <a:off x="5300663" y="3181350"/>
            <a:ext cx="15906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Payment</a:t>
            </a:r>
          </a:p>
        </p:txBody>
      </p:sp>
      <p:sp>
        <p:nvSpPr>
          <p:cNvPr id="12" name="">
            <a:extLst xmlns:a="http://schemas.openxmlformats.org/drawingml/2006/main">
              <a:ext uri="{FF2B5EF4-FFF2-40B4-BE49-F238E27FC236}">
                <a16:creationId xmlns:a16="http://schemas.microsoft.com/office/drawing/2014/main" id="{52AB745D-1837-43D7-A33A-AA78C4AE44C1}"/>
              </a:ext>
            </a:extLst>
          </p:cNvPr>
          <p:cNvSpPr>
            <a:spLocks xmlns:a="http://schemas.openxmlformats.org/drawingml/2006/main" noGrp="1"/>
          </p:cNvSpPr>
          <p:nvPr/>
        </p:nvSpPr>
        <p:spPr>
          <a:xfrm xmlns:a="http://schemas.openxmlformats.org/drawingml/2006/main">
            <a:off x="5300663" y="3638550"/>
            <a:ext cx="15906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Created</a:t>
            </a:r>
          </a:p>
        </p:txBody>
      </p:sp>
      <p:sp>
        <p:nvSpPr>
          <p:cNvPr id="13" name="">
            <a:extLst xmlns:a="http://schemas.openxmlformats.org/drawingml/2006/main">
              <a:ext uri="{FF2B5EF4-FFF2-40B4-BE49-F238E27FC236}">
                <a16:creationId xmlns:a16="http://schemas.microsoft.com/office/drawing/2014/main" id="{4E364596-70AC-4B74-87F8-334AE3B1FFA8}"/>
              </a:ext>
            </a:extLst>
          </p:cNvPr>
          <p:cNvSpPr>
            <a:spLocks xmlns:a="http://schemas.openxmlformats.org/drawingml/2006/main" noGrp="1"/>
          </p:cNvSpPr>
          <p:nvPr/>
        </p:nvSpPr>
        <p:spPr>
          <a:xfrm xmlns:a="http://schemas.openxmlformats.org/drawingml/2006/main">
            <a:off x="7455694" y="3048000"/>
            <a:ext cx="1743075"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4" name="">
            <a:extLst xmlns:a="http://schemas.openxmlformats.org/drawingml/2006/main">
              <a:ext uri="{FF2B5EF4-FFF2-40B4-BE49-F238E27FC236}">
                <a16:creationId xmlns:a16="http://schemas.microsoft.com/office/drawing/2014/main" id="{9DF8FD20-0DB4-42CE-8081-8AA2B4AA2C4F}"/>
              </a:ext>
            </a:extLst>
          </p:cNvPr>
          <p:cNvSpPr>
            <a:spLocks xmlns:a="http://schemas.openxmlformats.org/drawingml/2006/main" noGrp="1"/>
          </p:cNvSpPr>
          <p:nvPr/>
        </p:nvSpPr>
        <p:spPr>
          <a:xfrm xmlns:a="http://schemas.openxmlformats.org/drawingml/2006/main">
            <a:off x="7531894" y="3181350"/>
            <a:ext cx="15906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Route</a:t>
            </a:r>
          </a:p>
        </p:txBody>
      </p:sp>
      <p:sp>
        <p:nvSpPr>
          <p:cNvPr id="15" name="">
            <a:extLst xmlns:a="http://schemas.openxmlformats.org/drawingml/2006/main">
              <a:ext uri="{FF2B5EF4-FFF2-40B4-BE49-F238E27FC236}">
                <a16:creationId xmlns:a16="http://schemas.microsoft.com/office/drawing/2014/main" id="{FE63B479-CEFD-4BDD-B3F8-2EA434FDAEBE}"/>
              </a:ext>
            </a:extLst>
          </p:cNvPr>
          <p:cNvSpPr>
            <a:spLocks xmlns:a="http://schemas.openxmlformats.org/drawingml/2006/main" noGrp="1"/>
          </p:cNvSpPr>
          <p:nvPr/>
        </p:nvSpPr>
        <p:spPr>
          <a:xfrm xmlns:a="http://schemas.openxmlformats.org/drawingml/2006/main">
            <a:off x="7531894" y="3638550"/>
            <a:ext cx="15906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Configured</a:t>
            </a:r>
          </a:p>
        </p:txBody>
      </p:sp>
      <p:sp>
        <p:nvSpPr>
          <p:cNvPr id="16" name="">
            <a:extLst xmlns:a="http://schemas.openxmlformats.org/drawingml/2006/main">
              <a:ext uri="{FF2B5EF4-FFF2-40B4-BE49-F238E27FC236}">
                <a16:creationId xmlns:a16="http://schemas.microsoft.com/office/drawing/2014/main" id="{F632DB3D-3DF7-4A48-B551-921210AE78E8}"/>
              </a:ext>
            </a:extLst>
          </p:cNvPr>
          <p:cNvSpPr>
            <a:spLocks xmlns:a="http://schemas.openxmlformats.org/drawingml/2006/main" noGrp="1"/>
          </p:cNvSpPr>
          <p:nvPr/>
        </p:nvSpPr>
        <p:spPr>
          <a:xfrm xmlns:a="http://schemas.openxmlformats.org/drawingml/2006/main">
            <a:off x="9686925" y="3048000"/>
            <a:ext cx="1743075"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7" name="">
            <a:extLst xmlns:a="http://schemas.openxmlformats.org/drawingml/2006/main">
              <a:ext uri="{FF2B5EF4-FFF2-40B4-BE49-F238E27FC236}">
                <a16:creationId xmlns:a16="http://schemas.microsoft.com/office/drawing/2014/main" id="{7DBFC6E2-B3E7-4167-82C9-A5265EBA4C3A}"/>
              </a:ext>
            </a:extLst>
          </p:cNvPr>
          <p:cNvSpPr>
            <a:spLocks xmlns:a="http://schemas.openxmlformats.org/drawingml/2006/main" noGrp="1"/>
          </p:cNvSpPr>
          <p:nvPr/>
        </p:nvSpPr>
        <p:spPr>
          <a:xfrm xmlns:a="http://schemas.openxmlformats.org/drawingml/2006/main">
            <a:off x="9763125" y="3181350"/>
            <a:ext cx="15906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Outcome</a:t>
            </a:r>
          </a:p>
        </p:txBody>
      </p:sp>
      <p:sp>
        <p:nvSpPr>
          <p:cNvPr id="18" name="">
            <a:extLst xmlns:a="http://schemas.openxmlformats.org/drawingml/2006/main">
              <a:ext uri="{FF2B5EF4-FFF2-40B4-BE49-F238E27FC236}">
                <a16:creationId xmlns:a16="http://schemas.microsoft.com/office/drawing/2014/main" id="{89D49EEB-FE62-48FD-8217-B80AE646631C}"/>
              </a:ext>
            </a:extLst>
          </p:cNvPr>
          <p:cNvSpPr>
            <a:spLocks xmlns:a="http://schemas.openxmlformats.org/drawingml/2006/main" noGrp="1"/>
          </p:cNvSpPr>
          <p:nvPr/>
        </p:nvSpPr>
        <p:spPr>
          <a:xfrm xmlns:a="http://schemas.openxmlformats.org/drawingml/2006/main">
            <a:off x="9763125" y="3638550"/>
            <a:ext cx="15906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Batch / print</a:t>
            </a:r>
          </a:p>
        </p:txBody>
      </p:sp>
      <p:sp>
        <p:nvSpPr>
          <p:cNvPr id="23" name="">
            <a:extLst xmlns:a="http://schemas.openxmlformats.org/drawingml/2006/main">
              <a:ext uri="{FF2B5EF4-FFF2-40B4-BE49-F238E27FC236}">
                <a16:creationId xmlns:a16="http://schemas.microsoft.com/office/drawing/2014/main" id="{B018B459-D82C-4621-BF21-85161BD30455}"/>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4" name="">
            <a:extLst xmlns:a="http://schemas.openxmlformats.org/drawingml/2006/main">
              <a:ext uri="{FF2B5EF4-FFF2-40B4-BE49-F238E27FC236}">
                <a16:creationId xmlns:a16="http://schemas.microsoft.com/office/drawing/2014/main" id="{A1CDF856-E6C7-4B1B-B126-4DA897046A59}"/>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14</a:t>
            </a:r>
          </a:p>
        </p:txBody>
      </p:sp>
    </p:spTree>
    <p:extLst>
      <p:ext uri="{BB962C8B-B14F-4D97-AF65-F5344CB8AC3E}">
        <p14:creationId xmlns:p14="http://schemas.microsoft.com/office/powerpoint/2010/main" val="16419123"/>
      </p:ext>
    </p:extLst>
  </p:cSld>
</p:sld>
</file>

<file path=ppt/slides/slide15.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21FE302B-36B2-437A-9D7C-86FA793F0EC4}"/>
              </a:ext>
            </a:extLst>
          </p:cNvPr>
          <p:cNvCxnSpPr>
            <a:stCxn xmlns:a="http://schemas.openxmlformats.org/drawingml/2006/main" id="16" idx="3"/>
            <a:endCxn xmlns:a="http://schemas.openxmlformats.org/drawingml/2006/main" id="19" idx="1"/>
          </p:cNvCxnSpPr>
          <p:nvPr/>
        </p:nvCxnSpPr>
        <p:spPr>
          <a:xfrm xmlns:a="http://schemas.openxmlformats.org/drawingml/2006/main">
            <a:off x="9582150" y="3619500"/>
            <a:ext cx="4191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25" name="">
            <a:extLst xmlns:a="http://schemas.openxmlformats.org/drawingml/2006/main">
              <a:ext uri="{FF2B5EF4-FFF2-40B4-BE49-F238E27FC236}">
                <a16:creationId xmlns:a16="http://schemas.microsoft.com/office/drawing/2014/main" id="{698D47D0-D845-44B2-A278-C4B548EAC628}"/>
              </a:ext>
            </a:extLst>
          </p:cNvPr>
          <p:cNvCxnSpPr>
            <a:stCxn xmlns:a="http://schemas.openxmlformats.org/drawingml/2006/main" id="13" idx="3"/>
            <a:endCxn xmlns:a="http://schemas.openxmlformats.org/drawingml/2006/main" id="16" idx="1"/>
          </p:cNvCxnSpPr>
          <p:nvPr/>
        </p:nvCxnSpPr>
        <p:spPr>
          <a:xfrm xmlns:a="http://schemas.openxmlformats.org/drawingml/2006/main">
            <a:off x="7734300" y="3619500"/>
            <a:ext cx="4191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24" name="">
            <a:extLst xmlns:a="http://schemas.openxmlformats.org/drawingml/2006/main">
              <a:ext uri="{FF2B5EF4-FFF2-40B4-BE49-F238E27FC236}">
                <a16:creationId xmlns:a16="http://schemas.microsoft.com/office/drawing/2014/main" id="{0EABF09E-BD04-47D1-B164-AEFFDDE0ED3A}"/>
              </a:ext>
            </a:extLst>
          </p:cNvPr>
          <p:cNvCxnSpPr>
            <a:stCxn xmlns:a="http://schemas.openxmlformats.org/drawingml/2006/main" id="10" idx="3"/>
            <a:endCxn xmlns:a="http://schemas.openxmlformats.org/drawingml/2006/main" id="13" idx="1"/>
          </p:cNvCxnSpPr>
          <p:nvPr/>
        </p:nvCxnSpPr>
        <p:spPr>
          <a:xfrm xmlns:a="http://schemas.openxmlformats.org/drawingml/2006/main">
            <a:off x="5886450" y="3619500"/>
            <a:ext cx="4191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23" name="">
            <a:extLst xmlns:a="http://schemas.openxmlformats.org/drawingml/2006/main">
              <a:ext uri="{FF2B5EF4-FFF2-40B4-BE49-F238E27FC236}">
                <a16:creationId xmlns:a16="http://schemas.microsoft.com/office/drawing/2014/main" id="{4F8E4648-27AA-4D72-BDEC-CA4A99515D23}"/>
              </a:ext>
            </a:extLst>
          </p:cNvPr>
          <p:cNvCxnSpPr>
            <a:stCxn xmlns:a="http://schemas.openxmlformats.org/drawingml/2006/main" id="7" idx="3"/>
            <a:endCxn xmlns:a="http://schemas.openxmlformats.org/drawingml/2006/main" id="10" idx="1"/>
          </p:cNvCxnSpPr>
          <p:nvPr/>
        </p:nvCxnSpPr>
        <p:spPr>
          <a:xfrm xmlns:a="http://schemas.openxmlformats.org/drawingml/2006/main">
            <a:off x="4038600" y="3619500"/>
            <a:ext cx="4191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cxnSp>
        <p:nvCxnSpPr>
          <p:cNvPr id="22" name="">
            <a:extLst xmlns:a="http://schemas.openxmlformats.org/drawingml/2006/main">
              <a:ext uri="{FF2B5EF4-FFF2-40B4-BE49-F238E27FC236}">
                <a16:creationId xmlns:a16="http://schemas.microsoft.com/office/drawing/2014/main" id="{3DDFEFDA-D225-455C-979C-1D9A23453A37}"/>
              </a:ext>
            </a:extLst>
          </p:cNvPr>
          <p:cNvCxnSpPr>
            <a:stCxn xmlns:a="http://schemas.openxmlformats.org/drawingml/2006/main" id="4" idx="3"/>
            <a:endCxn xmlns:a="http://schemas.openxmlformats.org/drawingml/2006/main" id="7" idx="1"/>
          </p:cNvCxnSpPr>
          <p:nvPr/>
        </p:nvCxnSpPr>
        <p:spPr>
          <a:xfrm xmlns:a="http://schemas.openxmlformats.org/drawingml/2006/main">
            <a:off x="2190750" y="3619500"/>
            <a:ext cx="419100" cy="0"/>
          </a:xfrm>
          <a:prstGeom xmlns:a="http://schemas.openxmlformats.org/drawingml/2006/main" prst="straightConnector1">
            <a:avLst/>
          </a:prstGeom>
          <a:ln xmlns:a="http://schemas.openxmlformats.org/drawingml/2006/main" w="22860">
            <a:solidFill>
              <a:srgbClr val="6FA99E"/>
            </a:solidFill>
            <a:prstDash val="solid"/>
            <a:tailEnd type="triangle" w="sm" len="sm"/>
          </a:ln>
        </p:spPr>
      </p:cxnSp>
      <p:sp>
        <p:nvSpPr>
          <p:cNvPr id="29" name="">
            <a:extLst xmlns:a="http://schemas.openxmlformats.org/drawingml/2006/main">
              <a:ext uri="{FF2B5EF4-FFF2-40B4-BE49-F238E27FC236}">
                <a16:creationId xmlns:a16="http://schemas.microsoft.com/office/drawing/2014/main" id="{6F722D68-7403-4F9E-B1E4-7C0A27092CD0}"/>
              </a:ext>
            </a:extLst>
          </p:cNvPr>
          <p:cNvSpPr>
            <a:spLocks xmlns:a="http://schemas.openxmlformats.org/drawingml/2006/main" noGrp="1"/>
          </p:cNvSpPr>
          <p:nvPr/>
        </p:nvSpPr>
        <p:spPr>
          <a:xfrm xmlns:a="http://schemas.openxmlformats.org/drawingml/2006/main">
            <a:off x="704850" y="4667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1">
                <a:solidFill>
                  <a:srgbClr val="64E4CE"/>
                </a:solidFill>
                <a:latin typeface="Arial"/>
                <a:ea typeface="Arial"/>
                <a:cs typeface="Arial"/>
              </a:defRPr>
            </a:defPPr>
            <a:lvl1pPr algn="l">
              <a:buNone/>
              <a:defRPr sz="1275" b="1">
                <a:solidFill>
                  <a:srgbClr val="64E4CE"/>
                </a:solidFill>
                <a:latin typeface="Arial"/>
                <a:ea typeface="Arial"/>
                <a:cs typeface="Arial"/>
              </a:defRPr>
            </a:lvl1pPr>
            <a:lvl2pPr algn="l">
              <a:buNone/>
              <a:defRPr sz="1275" b="1">
                <a:solidFill>
                  <a:srgbClr val="64E4CE"/>
                </a:solidFill>
                <a:latin typeface="Arial"/>
                <a:ea typeface="Arial"/>
                <a:cs typeface="Arial"/>
              </a:defRPr>
            </a:lvl2pPr>
            <a:lvl3pPr algn="l">
              <a:buNone/>
              <a:defRPr sz="1275" b="1">
                <a:solidFill>
                  <a:srgbClr val="64E4CE"/>
                </a:solidFill>
                <a:latin typeface="Arial"/>
                <a:ea typeface="Arial"/>
                <a:cs typeface="Arial"/>
              </a:defRPr>
            </a:lvl3pPr>
            <a:lvl4pPr algn="l">
              <a:buNone/>
              <a:defRPr sz="1275" b="1">
                <a:solidFill>
                  <a:srgbClr val="64E4CE"/>
                </a:solidFill>
                <a:latin typeface="Arial"/>
                <a:ea typeface="Arial"/>
                <a:cs typeface="Arial"/>
              </a:defRPr>
            </a:lvl4pPr>
            <a:lvl5pPr algn="l">
              <a:buNone/>
              <a:defRPr sz="1275" b="1">
                <a:solidFill>
                  <a:srgbClr val="64E4CE"/>
                </a:solidFill>
                <a:latin typeface="Arial"/>
                <a:ea typeface="Arial"/>
                <a:cs typeface="Arial"/>
              </a:defRPr>
            </a:lvl5pPr>
            <a:lvl6pPr algn="l">
              <a:buNone/>
              <a:defRPr sz="1275" b="1">
                <a:solidFill>
                  <a:srgbClr val="64E4CE"/>
                </a:solidFill>
                <a:latin typeface="Arial"/>
                <a:ea typeface="Arial"/>
                <a:cs typeface="Arial"/>
              </a:defRPr>
            </a:lvl6pPr>
            <a:lvl7pPr algn="l">
              <a:buNone/>
              <a:defRPr sz="1275" b="1">
                <a:solidFill>
                  <a:srgbClr val="64E4CE"/>
                </a:solidFill>
                <a:latin typeface="Arial"/>
                <a:ea typeface="Arial"/>
                <a:cs typeface="Arial"/>
              </a:defRPr>
            </a:lvl7pPr>
            <a:lvl8pPr algn="l">
              <a:buNone/>
              <a:defRPr sz="1275" b="1">
                <a:solidFill>
                  <a:srgbClr val="64E4CE"/>
                </a:solidFill>
                <a:latin typeface="Arial"/>
                <a:ea typeface="Arial"/>
                <a:cs typeface="Arial"/>
              </a:defRPr>
            </a:lvl8pPr>
            <a:lvl9pPr algn="l">
              <a:buNone/>
              <a:defRPr sz="1275" b="1">
                <a:solidFill>
                  <a:srgbClr val="64E4CE"/>
                </a:solidFill>
                <a:latin typeface="Arial"/>
                <a:ea typeface="Arial"/>
                <a:cs typeface="Arial"/>
              </a:defRPr>
            </a:lvl9pPr>
          </a:lstStyle>
          <a:p xmlns:a="http://schemas.openxmlformats.org/drawingml/2006/main">
            <a:pPr algn="l">
              <a:buNone/>
              <a:defRPr sz="1275" b="1">
                <a:solidFill>
                  <a:srgbClr val="64E4CE"/>
                </a:solidFill>
                <a:latin typeface="Arial"/>
                <a:ea typeface="Arial"/>
                <a:cs typeface="Arial"/>
              </a:defRPr>
            </a:pPr>
            <a:r>
              <a:rPr sz="1275" b="1">
                <a:solidFill>
                  <a:srgbClr val="64E4CE"/>
                </a:solidFill>
                <a:latin typeface="Arial"/>
                <a:ea typeface="Arial"/>
                <a:cs typeface="Arial"/>
              </a:rPr>
              <a:t>STRONGROOM</a:t>
            </a:r>
          </a:p>
        </p:txBody>
      </p:sp>
      <p:sp>
        <p:nvSpPr>
          <p:cNvPr id="2" name="">
            <a:extLst xmlns:a="http://schemas.openxmlformats.org/drawingml/2006/main">
              <a:ext uri="{FF2B5EF4-FFF2-40B4-BE49-F238E27FC236}">
                <a16:creationId xmlns:a16="http://schemas.microsoft.com/office/drawing/2014/main" id="{6E2FAEC8-9EBA-45CA-9632-458E9AA5246D}"/>
              </a:ext>
            </a:extLst>
          </p:cNvPr>
          <p:cNvSpPr>
            <a:spLocks xmlns:a="http://schemas.openxmlformats.org/drawingml/2006/main" noGrp="1"/>
          </p:cNvSpPr>
          <p:nvPr/>
        </p:nvSpPr>
        <p:spPr>
          <a:xfrm xmlns:a="http://schemas.openxmlformats.org/drawingml/2006/main">
            <a:off x="704850" y="8191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F3F7FA"/>
                </a:solidFill>
                <a:latin typeface="Arial"/>
                <a:ea typeface="Arial"/>
                <a:cs typeface="Arial"/>
              </a:defRPr>
            </a:defPPr>
            <a:lvl1pPr algn="l">
              <a:buNone/>
              <a:defRPr sz="3300" b="1">
                <a:solidFill>
                  <a:srgbClr val="F3F7FA"/>
                </a:solidFill>
                <a:latin typeface="Arial"/>
                <a:ea typeface="Arial"/>
                <a:cs typeface="Arial"/>
              </a:defRPr>
            </a:lvl1pPr>
            <a:lvl2pPr algn="l">
              <a:buNone/>
              <a:defRPr sz="3300" b="1">
                <a:solidFill>
                  <a:srgbClr val="F3F7FA"/>
                </a:solidFill>
                <a:latin typeface="Arial"/>
                <a:ea typeface="Arial"/>
                <a:cs typeface="Arial"/>
              </a:defRPr>
            </a:lvl2pPr>
            <a:lvl3pPr algn="l">
              <a:buNone/>
              <a:defRPr sz="3300" b="1">
                <a:solidFill>
                  <a:srgbClr val="F3F7FA"/>
                </a:solidFill>
                <a:latin typeface="Arial"/>
                <a:ea typeface="Arial"/>
                <a:cs typeface="Arial"/>
              </a:defRPr>
            </a:lvl3pPr>
            <a:lvl4pPr algn="l">
              <a:buNone/>
              <a:defRPr sz="3300" b="1">
                <a:solidFill>
                  <a:srgbClr val="F3F7FA"/>
                </a:solidFill>
                <a:latin typeface="Arial"/>
                <a:ea typeface="Arial"/>
                <a:cs typeface="Arial"/>
              </a:defRPr>
            </a:lvl4pPr>
            <a:lvl5pPr algn="l">
              <a:buNone/>
              <a:defRPr sz="3300" b="1">
                <a:solidFill>
                  <a:srgbClr val="F3F7FA"/>
                </a:solidFill>
                <a:latin typeface="Arial"/>
                <a:ea typeface="Arial"/>
                <a:cs typeface="Arial"/>
              </a:defRPr>
            </a:lvl5pPr>
            <a:lvl6pPr algn="l">
              <a:buNone/>
              <a:defRPr sz="3300" b="1">
                <a:solidFill>
                  <a:srgbClr val="F3F7FA"/>
                </a:solidFill>
                <a:latin typeface="Arial"/>
                <a:ea typeface="Arial"/>
                <a:cs typeface="Arial"/>
              </a:defRPr>
            </a:lvl6pPr>
            <a:lvl7pPr algn="l">
              <a:buNone/>
              <a:defRPr sz="3300" b="1">
                <a:solidFill>
                  <a:srgbClr val="F3F7FA"/>
                </a:solidFill>
                <a:latin typeface="Arial"/>
                <a:ea typeface="Arial"/>
                <a:cs typeface="Arial"/>
              </a:defRPr>
            </a:lvl7pPr>
            <a:lvl8pPr algn="l">
              <a:buNone/>
              <a:defRPr sz="3300" b="1">
                <a:solidFill>
                  <a:srgbClr val="F3F7FA"/>
                </a:solidFill>
                <a:latin typeface="Arial"/>
                <a:ea typeface="Arial"/>
                <a:cs typeface="Arial"/>
              </a:defRPr>
            </a:lvl8pPr>
            <a:lvl9pPr algn="l">
              <a:buNone/>
              <a:defRPr sz="3300" b="1">
                <a:solidFill>
                  <a:srgbClr val="F3F7FA"/>
                </a:solidFill>
                <a:latin typeface="Arial"/>
                <a:ea typeface="Arial"/>
                <a:cs typeface="Arial"/>
              </a:defRPr>
            </a:lvl9pPr>
          </a:lstStyle>
          <a:p xmlns:a="http://schemas.openxmlformats.org/drawingml/2006/main">
            <a:pPr algn="l">
              <a:buNone/>
              <a:defRPr sz="3300" b="1">
                <a:solidFill>
                  <a:srgbClr val="F3F7FA"/>
                </a:solidFill>
                <a:latin typeface="Arial"/>
                <a:ea typeface="Arial"/>
                <a:cs typeface="Arial"/>
              </a:defRPr>
            </a:pPr>
            <a:r>
              <a:rPr sz="3300" b="1">
                <a:solidFill>
                  <a:srgbClr val="F3F7FA"/>
                </a:solidFill>
                <a:latin typeface="Arial"/>
                <a:ea typeface="Arial"/>
                <a:cs typeface="Arial"/>
              </a:rPr>
              <a:t>StrongRoom flow summary</a:t>
            </a:r>
          </a:p>
        </p:txBody>
      </p:sp>
      <p:sp>
        <p:nvSpPr>
          <p:cNvPr id="3" name="">
            <a:extLst xmlns:a="http://schemas.openxmlformats.org/drawingml/2006/main">
              <a:ext uri="{FF2B5EF4-FFF2-40B4-BE49-F238E27FC236}">
                <a16:creationId xmlns:a16="http://schemas.microsoft.com/office/drawing/2014/main" id="{946243E6-4C6E-43EE-9931-B8FFB8A7A603}"/>
              </a:ext>
            </a:extLst>
          </p:cNvPr>
          <p:cNvSpPr>
            <a:spLocks xmlns:a="http://schemas.openxmlformats.org/drawingml/2006/main" noGrp="1"/>
          </p:cNvSpPr>
          <p:nvPr/>
        </p:nvSpPr>
        <p:spPr>
          <a:xfrm xmlns:a="http://schemas.openxmlformats.org/drawingml/2006/main">
            <a:off x="704850" y="1524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B6CCD7"/>
                </a:solidFill>
                <a:latin typeface="Arial"/>
                <a:ea typeface="Arial"/>
                <a:cs typeface="Arial"/>
              </a:defRPr>
            </a:defPPr>
            <a:lvl1pPr algn="l">
              <a:buNone/>
              <a:defRPr sz="1950" b="0">
                <a:solidFill>
                  <a:srgbClr val="B6CCD7"/>
                </a:solidFill>
                <a:latin typeface="Arial"/>
                <a:ea typeface="Arial"/>
                <a:cs typeface="Arial"/>
              </a:defRPr>
            </a:lvl1pPr>
            <a:lvl2pPr algn="l">
              <a:buNone/>
              <a:defRPr sz="1950" b="0">
                <a:solidFill>
                  <a:srgbClr val="B6CCD7"/>
                </a:solidFill>
                <a:latin typeface="Arial"/>
                <a:ea typeface="Arial"/>
                <a:cs typeface="Arial"/>
              </a:defRPr>
            </a:lvl2pPr>
            <a:lvl3pPr algn="l">
              <a:buNone/>
              <a:defRPr sz="1950" b="0">
                <a:solidFill>
                  <a:srgbClr val="B6CCD7"/>
                </a:solidFill>
                <a:latin typeface="Arial"/>
                <a:ea typeface="Arial"/>
                <a:cs typeface="Arial"/>
              </a:defRPr>
            </a:lvl3pPr>
            <a:lvl4pPr algn="l">
              <a:buNone/>
              <a:defRPr sz="1950" b="0">
                <a:solidFill>
                  <a:srgbClr val="B6CCD7"/>
                </a:solidFill>
                <a:latin typeface="Arial"/>
                <a:ea typeface="Arial"/>
                <a:cs typeface="Arial"/>
              </a:defRPr>
            </a:lvl4pPr>
            <a:lvl5pPr algn="l">
              <a:buNone/>
              <a:defRPr sz="1950" b="0">
                <a:solidFill>
                  <a:srgbClr val="B6CCD7"/>
                </a:solidFill>
                <a:latin typeface="Arial"/>
                <a:ea typeface="Arial"/>
                <a:cs typeface="Arial"/>
              </a:defRPr>
            </a:lvl5pPr>
            <a:lvl6pPr algn="l">
              <a:buNone/>
              <a:defRPr sz="1950" b="0">
                <a:solidFill>
                  <a:srgbClr val="B6CCD7"/>
                </a:solidFill>
                <a:latin typeface="Arial"/>
                <a:ea typeface="Arial"/>
                <a:cs typeface="Arial"/>
              </a:defRPr>
            </a:lvl6pPr>
            <a:lvl7pPr algn="l">
              <a:buNone/>
              <a:defRPr sz="1950" b="0">
                <a:solidFill>
                  <a:srgbClr val="B6CCD7"/>
                </a:solidFill>
                <a:latin typeface="Arial"/>
                <a:ea typeface="Arial"/>
                <a:cs typeface="Arial"/>
              </a:defRPr>
            </a:lvl7pPr>
            <a:lvl8pPr algn="l">
              <a:buNone/>
              <a:defRPr sz="1950" b="0">
                <a:solidFill>
                  <a:srgbClr val="B6CCD7"/>
                </a:solidFill>
                <a:latin typeface="Arial"/>
                <a:ea typeface="Arial"/>
                <a:cs typeface="Arial"/>
              </a:defRPr>
            </a:lvl8pPr>
            <a:lvl9pPr algn="l">
              <a:buNone/>
              <a:defRPr sz="1950" b="0">
                <a:solidFill>
                  <a:srgbClr val="B6CCD7"/>
                </a:solidFill>
                <a:latin typeface="Arial"/>
                <a:ea typeface="Arial"/>
                <a:cs typeface="Arial"/>
              </a:defRPr>
            </a:lvl9pPr>
          </a:lstStyle>
          <a:p xmlns:a="http://schemas.openxmlformats.org/drawingml/2006/main">
            <a:pPr algn="l">
              <a:buNone/>
              <a:defRPr sz="1950" b="0">
                <a:solidFill>
                  <a:srgbClr val="B6CCD7"/>
                </a:solidFill>
                <a:latin typeface="Arial"/>
                <a:ea typeface="Arial"/>
                <a:cs typeface="Arial"/>
              </a:defRPr>
            </a:pPr>
            <a:r>
              <a:rPr sz="1950" b="0">
                <a:solidFill>
                  <a:srgbClr val="B6CCD7"/>
                </a:solidFill>
                <a:latin typeface="Arial"/>
                <a:ea typeface="Arial"/>
                <a:cs typeface="Arial"/>
              </a:rPr>
              <a:t>Use the sequence to explain the full journey in your own words.</a:t>
            </a:r>
          </a:p>
        </p:txBody>
      </p:sp>
      <p:sp>
        <p:nvSpPr>
          <p:cNvPr id="4" name="">
            <a:extLst xmlns:a="http://schemas.openxmlformats.org/drawingml/2006/main">
              <a:ext uri="{FF2B5EF4-FFF2-40B4-BE49-F238E27FC236}">
                <a16:creationId xmlns:a16="http://schemas.microsoft.com/office/drawing/2014/main" id="{9AD54230-3EA8-41D1-9FA6-AE01A60303FF}"/>
              </a:ext>
            </a:extLst>
          </p:cNvPr>
          <p:cNvSpPr>
            <a:spLocks xmlns:a="http://schemas.openxmlformats.org/drawingml/2006/main" noGrp="1"/>
          </p:cNvSpPr>
          <p:nvPr/>
        </p:nvSpPr>
        <p:spPr>
          <a:xfrm xmlns:a="http://schemas.openxmlformats.org/drawingml/2006/main">
            <a:off x="762000" y="3048000"/>
            <a:ext cx="14287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5" name="">
            <a:extLst xmlns:a="http://schemas.openxmlformats.org/drawingml/2006/main">
              <a:ext uri="{FF2B5EF4-FFF2-40B4-BE49-F238E27FC236}">
                <a16:creationId xmlns:a16="http://schemas.microsoft.com/office/drawing/2014/main" id="{D4416E7D-8209-4B25-91FB-15BDCCFD0267}"/>
              </a:ext>
            </a:extLst>
          </p:cNvPr>
          <p:cNvSpPr>
            <a:spLocks xmlns:a="http://schemas.openxmlformats.org/drawingml/2006/main" noGrp="1"/>
          </p:cNvSpPr>
          <p:nvPr/>
        </p:nvSpPr>
        <p:spPr>
          <a:xfrm xmlns:a="http://schemas.openxmlformats.org/drawingml/2006/main">
            <a:off x="838200" y="31813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Capture</a:t>
            </a:r>
          </a:p>
        </p:txBody>
      </p:sp>
      <p:sp>
        <p:nvSpPr>
          <p:cNvPr id="6" name="">
            <a:extLst xmlns:a="http://schemas.openxmlformats.org/drawingml/2006/main">
              <a:ext uri="{FF2B5EF4-FFF2-40B4-BE49-F238E27FC236}">
                <a16:creationId xmlns:a16="http://schemas.microsoft.com/office/drawing/2014/main" id="{513AB2D2-C2BC-47CC-95E5-96C111C4FEFC}"/>
              </a:ext>
            </a:extLst>
          </p:cNvPr>
          <p:cNvSpPr>
            <a:spLocks xmlns:a="http://schemas.openxmlformats.org/drawingml/2006/main" noGrp="1"/>
          </p:cNvSpPr>
          <p:nvPr/>
        </p:nvSpPr>
        <p:spPr>
          <a:xfrm xmlns:a="http://schemas.openxmlformats.org/drawingml/2006/main">
            <a:off x="838200" y="3638550"/>
            <a:ext cx="1276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Invoice</a:t>
            </a:r>
          </a:p>
        </p:txBody>
      </p:sp>
      <p:sp>
        <p:nvSpPr>
          <p:cNvPr id="7" name="">
            <a:extLst xmlns:a="http://schemas.openxmlformats.org/drawingml/2006/main">
              <a:ext uri="{FF2B5EF4-FFF2-40B4-BE49-F238E27FC236}">
                <a16:creationId xmlns:a16="http://schemas.microsoft.com/office/drawing/2014/main" id="{B89FD807-35F8-4EF8-98CB-E75D66BA218B}"/>
              </a:ext>
            </a:extLst>
          </p:cNvPr>
          <p:cNvSpPr>
            <a:spLocks xmlns:a="http://schemas.openxmlformats.org/drawingml/2006/main" noGrp="1"/>
          </p:cNvSpPr>
          <p:nvPr/>
        </p:nvSpPr>
        <p:spPr>
          <a:xfrm xmlns:a="http://schemas.openxmlformats.org/drawingml/2006/main">
            <a:off x="2609850" y="3048000"/>
            <a:ext cx="14287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8" name="">
            <a:extLst xmlns:a="http://schemas.openxmlformats.org/drawingml/2006/main">
              <a:ext uri="{FF2B5EF4-FFF2-40B4-BE49-F238E27FC236}">
                <a16:creationId xmlns:a16="http://schemas.microsoft.com/office/drawing/2014/main" id="{E4F0FC5D-407B-4FFE-96EA-0B98DDDCBC8E}"/>
              </a:ext>
            </a:extLst>
          </p:cNvPr>
          <p:cNvSpPr>
            <a:spLocks xmlns:a="http://schemas.openxmlformats.org/drawingml/2006/main" noGrp="1"/>
          </p:cNvSpPr>
          <p:nvPr/>
        </p:nvSpPr>
        <p:spPr>
          <a:xfrm xmlns:a="http://schemas.openxmlformats.org/drawingml/2006/main">
            <a:off x="2686050" y="31813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Check</a:t>
            </a:r>
          </a:p>
        </p:txBody>
      </p:sp>
      <p:sp>
        <p:nvSpPr>
          <p:cNvPr id="9" name="">
            <a:extLst xmlns:a="http://schemas.openxmlformats.org/drawingml/2006/main">
              <a:ext uri="{FF2B5EF4-FFF2-40B4-BE49-F238E27FC236}">
                <a16:creationId xmlns:a16="http://schemas.microsoft.com/office/drawing/2014/main" id="{5D4720EF-2E52-42C3-9C30-3BEEA1F800D9}"/>
              </a:ext>
            </a:extLst>
          </p:cNvPr>
          <p:cNvSpPr>
            <a:spLocks xmlns:a="http://schemas.openxmlformats.org/drawingml/2006/main" noGrp="1"/>
          </p:cNvSpPr>
          <p:nvPr/>
        </p:nvSpPr>
        <p:spPr>
          <a:xfrm xmlns:a="http://schemas.openxmlformats.org/drawingml/2006/main">
            <a:off x="2686050" y="3638550"/>
            <a:ext cx="1276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Details</a:t>
            </a:r>
          </a:p>
        </p:txBody>
      </p:sp>
      <p:sp>
        <p:nvSpPr>
          <p:cNvPr id="10" name="">
            <a:extLst xmlns:a="http://schemas.openxmlformats.org/drawingml/2006/main">
              <a:ext uri="{FF2B5EF4-FFF2-40B4-BE49-F238E27FC236}">
                <a16:creationId xmlns:a16="http://schemas.microsoft.com/office/drawing/2014/main" id="{64446EFD-BE1E-43A8-8B49-2F980633CAFB}"/>
              </a:ext>
            </a:extLst>
          </p:cNvPr>
          <p:cNvSpPr>
            <a:spLocks xmlns:a="http://schemas.openxmlformats.org/drawingml/2006/main" noGrp="1"/>
          </p:cNvSpPr>
          <p:nvPr/>
        </p:nvSpPr>
        <p:spPr>
          <a:xfrm xmlns:a="http://schemas.openxmlformats.org/drawingml/2006/main">
            <a:off x="4457700" y="3048000"/>
            <a:ext cx="14287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1" name="">
            <a:extLst xmlns:a="http://schemas.openxmlformats.org/drawingml/2006/main">
              <a:ext uri="{FF2B5EF4-FFF2-40B4-BE49-F238E27FC236}">
                <a16:creationId xmlns:a16="http://schemas.microsoft.com/office/drawing/2014/main" id="{8BA6E6A3-9A28-4946-86EE-D77FA35BAAFA}"/>
              </a:ext>
            </a:extLst>
          </p:cNvPr>
          <p:cNvSpPr>
            <a:spLocks xmlns:a="http://schemas.openxmlformats.org/drawingml/2006/main" noGrp="1"/>
          </p:cNvSpPr>
          <p:nvPr/>
        </p:nvSpPr>
        <p:spPr>
          <a:xfrm xmlns:a="http://schemas.openxmlformats.org/drawingml/2006/main">
            <a:off x="4533900" y="31813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Approve</a:t>
            </a:r>
          </a:p>
        </p:txBody>
      </p:sp>
      <p:sp>
        <p:nvSpPr>
          <p:cNvPr id="12" name="">
            <a:extLst xmlns:a="http://schemas.openxmlformats.org/drawingml/2006/main">
              <a:ext uri="{FF2B5EF4-FFF2-40B4-BE49-F238E27FC236}">
                <a16:creationId xmlns:a16="http://schemas.microsoft.com/office/drawing/2014/main" id="{EEF13B5F-92B9-4815-8C35-0EBC0D3DCC64}"/>
              </a:ext>
            </a:extLst>
          </p:cNvPr>
          <p:cNvSpPr>
            <a:spLocks xmlns:a="http://schemas.openxmlformats.org/drawingml/2006/main" noGrp="1"/>
          </p:cNvSpPr>
          <p:nvPr/>
        </p:nvSpPr>
        <p:spPr>
          <a:xfrm xmlns:a="http://schemas.openxmlformats.org/drawingml/2006/main">
            <a:off x="4533900" y="3638550"/>
            <a:ext cx="1276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Buyer</a:t>
            </a:r>
          </a:p>
        </p:txBody>
      </p:sp>
      <p:sp>
        <p:nvSpPr>
          <p:cNvPr id="13" name="">
            <a:extLst xmlns:a="http://schemas.openxmlformats.org/drawingml/2006/main">
              <a:ext uri="{FF2B5EF4-FFF2-40B4-BE49-F238E27FC236}">
                <a16:creationId xmlns:a16="http://schemas.microsoft.com/office/drawing/2014/main" id="{315A895D-6300-40B9-806A-1AC90D0A99D5}"/>
              </a:ext>
            </a:extLst>
          </p:cNvPr>
          <p:cNvSpPr>
            <a:spLocks xmlns:a="http://schemas.openxmlformats.org/drawingml/2006/main" noGrp="1"/>
          </p:cNvSpPr>
          <p:nvPr/>
        </p:nvSpPr>
        <p:spPr>
          <a:xfrm xmlns:a="http://schemas.openxmlformats.org/drawingml/2006/main">
            <a:off x="6305550" y="3048000"/>
            <a:ext cx="14287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4" name="">
            <a:extLst xmlns:a="http://schemas.openxmlformats.org/drawingml/2006/main">
              <a:ext uri="{FF2B5EF4-FFF2-40B4-BE49-F238E27FC236}">
                <a16:creationId xmlns:a16="http://schemas.microsoft.com/office/drawing/2014/main" id="{DD676202-BB66-4E76-A950-4FBE415975F9}"/>
              </a:ext>
            </a:extLst>
          </p:cNvPr>
          <p:cNvSpPr>
            <a:spLocks xmlns:a="http://schemas.openxmlformats.org/drawingml/2006/main" noGrp="1"/>
          </p:cNvSpPr>
          <p:nvPr/>
        </p:nvSpPr>
        <p:spPr>
          <a:xfrm xmlns:a="http://schemas.openxmlformats.org/drawingml/2006/main">
            <a:off x="6381750" y="31813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Create</a:t>
            </a:r>
          </a:p>
        </p:txBody>
      </p:sp>
      <p:sp>
        <p:nvSpPr>
          <p:cNvPr id="15" name="">
            <a:extLst xmlns:a="http://schemas.openxmlformats.org/drawingml/2006/main">
              <a:ext uri="{FF2B5EF4-FFF2-40B4-BE49-F238E27FC236}">
                <a16:creationId xmlns:a16="http://schemas.microsoft.com/office/drawing/2014/main" id="{576A862E-0D83-416C-BFA7-4F74C2C41D5B}"/>
              </a:ext>
            </a:extLst>
          </p:cNvPr>
          <p:cNvSpPr>
            <a:spLocks xmlns:a="http://schemas.openxmlformats.org/drawingml/2006/main" noGrp="1"/>
          </p:cNvSpPr>
          <p:nvPr/>
        </p:nvSpPr>
        <p:spPr>
          <a:xfrm xmlns:a="http://schemas.openxmlformats.org/drawingml/2006/main">
            <a:off x="6381750" y="3638550"/>
            <a:ext cx="1276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Payment</a:t>
            </a:r>
          </a:p>
        </p:txBody>
      </p:sp>
      <p:sp>
        <p:nvSpPr>
          <p:cNvPr id="16" name="">
            <a:extLst xmlns:a="http://schemas.openxmlformats.org/drawingml/2006/main">
              <a:ext uri="{FF2B5EF4-FFF2-40B4-BE49-F238E27FC236}">
                <a16:creationId xmlns:a16="http://schemas.microsoft.com/office/drawing/2014/main" id="{12911394-1A84-4543-AC42-AA1B203E3E5E}"/>
              </a:ext>
            </a:extLst>
          </p:cNvPr>
          <p:cNvSpPr>
            <a:spLocks xmlns:a="http://schemas.openxmlformats.org/drawingml/2006/main" noGrp="1"/>
          </p:cNvSpPr>
          <p:nvPr/>
        </p:nvSpPr>
        <p:spPr>
          <a:xfrm xmlns:a="http://schemas.openxmlformats.org/drawingml/2006/main">
            <a:off x="8153400" y="3048000"/>
            <a:ext cx="14287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17" name="">
            <a:extLst xmlns:a="http://schemas.openxmlformats.org/drawingml/2006/main">
              <a:ext uri="{FF2B5EF4-FFF2-40B4-BE49-F238E27FC236}">
                <a16:creationId xmlns:a16="http://schemas.microsoft.com/office/drawing/2014/main" id="{9F8B6107-65FC-4476-AFAF-C271BBEEF510}"/>
              </a:ext>
            </a:extLst>
          </p:cNvPr>
          <p:cNvSpPr>
            <a:spLocks xmlns:a="http://schemas.openxmlformats.org/drawingml/2006/main" noGrp="1"/>
          </p:cNvSpPr>
          <p:nvPr/>
        </p:nvSpPr>
        <p:spPr>
          <a:xfrm xmlns:a="http://schemas.openxmlformats.org/drawingml/2006/main">
            <a:off x="8229600" y="31813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Route</a:t>
            </a:r>
          </a:p>
        </p:txBody>
      </p:sp>
      <p:sp>
        <p:nvSpPr>
          <p:cNvPr id="18" name="">
            <a:extLst xmlns:a="http://schemas.openxmlformats.org/drawingml/2006/main">
              <a:ext uri="{FF2B5EF4-FFF2-40B4-BE49-F238E27FC236}">
                <a16:creationId xmlns:a16="http://schemas.microsoft.com/office/drawing/2014/main" id="{506210F8-18A8-4698-B8A5-B94D7ED659A2}"/>
              </a:ext>
            </a:extLst>
          </p:cNvPr>
          <p:cNvSpPr>
            <a:spLocks xmlns:a="http://schemas.openxmlformats.org/drawingml/2006/main" noGrp="1"/>
          </p:cNvSpPr>
          <p:nvPr/>
        </p:nvSpPr>
        <p:spPr>
          <a:xfrm xmlns:a="http://schemas.openxmlformats.org/drawingml/2006/main">
            <a:off x="8229600" y="3638550"/>
            <a:ext cx="1276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Process</a:t>
            </a:r>
          </a:p>
        </p:txBody>
      </p:sp>
      <p:sp>
        <p:nvSpPr>
          <p:cNvPr id="19" name="">
            <a:extLst xmlns:a="http://schemas.openxmlformats.org/drawingml/2006/main">
              <a:ext uri="{FF2B5EF4-FFF2-40B4-BE49-F238E27FC236}">
                <a16:creationId xmlns:a16="http://schemas.microsoft.com/office/drawing/2014/main" id="{3BCF4BDA-2FF7-44AF-8B08-443BC54CA58C}"/>
              </a:ext>
            </a:extLst>
          </p:cNvPr>
          <p:cNvSpPr>
            <a:spLocks xmlns:a="http://schemas.openxmlformats.org/drawingml/2006/main" noGrp="1"/>
          </p:cNvSpPr>
          <p:nvPr/>
        </p:nvSpPr>
        <p:spPr>
          <a:xfrm xmlns:a="http://schemas.openxmlformats.org/drawingml/2006/main">
            <a:off x="10001250" y="3048000"/>
            <a:ext cx="1428750" cy="1143000"/>
          </a:xfrm>
          <a:prstGeom xmlns:a="http://schemas.openxmlformats.org/drawingml/2006/main" prst="roundRect">
            <a:avLst>
              <a:gd name="adj" fmla="val 8333"/>
            </a:avLst>
          </a:prstGeom>
          <a:solidFill xmlns:a="http://schemas.openxmlformats.org/drawingml/2006/main">
            <a:srgbClr val="18384C"/>
          </a:solidFill>
          <a:ln xmlns:a="http://schemas.openxmlformats.org/drawingml/2006/main" w="12383">
            <a:solidFill>
              <a:srgbClr val="578095"/>
            </a:solidFill>
            <a:prstDash val="solid"/>
          </a:ln>
        </p:spPr>
      </p:sp>
      <p:sp>
        <p:nvSpPr>
          <p:cNvPr id="20" name="">
            <a:extLst xmlns:a="http://schemas.openxmlformats.org/drawingml/2006/main">
              <a:ext uri="{FF2B5EF4-FFF2-40B4-BE49-F238E27FC236}">
                <a16:creationId xmlns:a16="http://schemas.microsoft.com/office/drawing/2014/main" id="{CAC49BA8-0517-4488-91E1-F87B06A355E6}"/>
              </a:ext>
            </a:extLst>
          </p:cNvPr>
          <p:cNvSpPr>
            <a:spLocks xmlns:a="http://schemas.openxmlformats.org/drawingml/2006/main" noGrp="1"/>
          </p:cNvSpPr>
          <p:nvPr/>
        </p:nvSpPr>
        <p:spPr>
          <a:xfrm xmlns:a="http://schemas.openxmlformats.org/drawingml/2006/main">
            <a:off x="10077450" y="31813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F3F7FA"/>
                </a:solidFill>
                <a:latin typeface="Arial"/>
                <a:ea typeface="Arial"/>
                <a:cs typeface="Arial"/>
              </a:defRPr>
            </a:defPPr>
            <a:lvl1pPr algn="ctr">
              <a:buNone/>
              <a:defRPr sz="1800" b="1">
                <a:solidFill>
                  <a:srgbClr val="F3F7FA"/>
                </a:solidFill>
                <a:latin typeface="Arial"/>
                <a:ea typeface="Arial"/>
                <a:cs typeface="Arial"/>
              </a:defRPr>
            </a:lvl1pPr>
            <a:lvl2pPr algn="ctr">
              <a:buNone/>
              <a:defRPr sz="1800" b="1">
                <a:solidFill>
                  <a:srgbClr val="F3F7FA"/>
                </a:solidFill>
                <a:latin typeface="Arial"/>
                <a:ea typeface="Arial"/>
                <a:cs typeface="Arial"/>
              </a:defRPr>
            </a:lvl2pPr>
            <a:lvl3pPr algn="ctr">
              <a:buNone/>
              <a:defRPr sz="1800" b="1">
                <a:solidFill>
                  <a:srgbClr val="F3F7FA"/>
                </a:solidFill>
                <a:latin typeface="Arial"/>
                <a:ea typeface="Arial"/>
                <a:cs typeface="Arial"/>
              </a:defRPr>
            </a:lvl3pPr>
            <a:lvl4pPr algn="ctr">
              <a:buNone/>
              <a:defRPr sz="1800" b="1">
                <a:solidFill>
                  <a:srgbClr val="F3F7FA"/>
                </a:solidFill>
                <a:latin typeface="Arial"/>
                <a:ea typeface="Arial"/>
                <a:cs typeface="Arial"/>
              </a:defRPr>
            </a:lvl4pPr>
            <a:lvl5pPr algn="ctr">
              <a:buNone/>
              <a:defRPr sz="1800" b="1">
                <a:solidFill>
                  <a:srgbClr val="F3F7FA"/>
                </a:solidFill>
                <a:latin typeface="Arial"/>
                <a:ea typeface="Arial"/>
                <a:cs typeface="Arial"/>
              </a:defRPr>
            </a:lvl5pPr>
            <a:lvl6pPr algn="ctr">
              <a:buNone/>
              <a:defRPr sz="1800" b="1">
                <a:solidFill>
                  <a:srgbClr val="F3F7FA"/>
                </a:solidFill>
                <a:latin typeface="Arial"/>
                <a:ea typeface="Arial"/>
                <a:cs typeface="Arial"/>
              </a:defRPr>
            </a:lvl6pPr>
            <a:lvl7pPr algn="ctr">
              <a:buNone/>
              <a:defRPr sz="1800" b="1">
                <a:solidFill>
                  <a:srgbClr val="F3F7FA"/>
                </a:solidFill>
                <a:latin typeface="Arial"/>
                <a:ea typeface="Arial"/>
                <a:cs typeface="Arial"/>
              </a:defRPr>
            </a:lvl7pPr>
            <a:lvl8pPr algn="ctr">
              <a:buNone/>
              <a:defRPr sz="1800" b="1">
                <a:solidFill>
                  <a:srgbClr val="F3F7FA"/>
                </a:solidFill>
                <a:latin typeface="Arial"/>
                <a:ea typeface="Arial"/>
                <a:cs typeface="Arial"/>
              </a:defRPr>
            </a:lvl8pPr>
            <a:lvl9pPr algn="ctr">
              <a:buNone/>
              <a:defRPr sz="1800" b="1">
                <a:solidFill>
                  <a:srgbClr val="F3F7FA"/>
                </a:solidFill>
                <a:latin typeface="Arial"/>
                <a:ea typeface="Arial"/>
                <a:cs typeface="Arial"/>
              </a:defRPr>
            </a:lvl9pPr>
          </a:lstStyle>
          <a:p xmlns:a="http://schemas.openxmlformats.org/drawingml/2006/main">
            <a:pPr algn="ctr">
              <a:buNone/>
              <a:defRPr sz="1800" b="1">
                <a:solidFill>
                  <a:srgbClr val="F3F7FA"/>
                </a:solidFill>
                <a:latin typeface="Arial"/>
                <a:ea typeface="Arial"/>
                <a:cs typeface="Arial"/>
              </a:defRPr>
            </a:pPr>
            <a:r>
              <a:rPr sz="1800" b="1">
                <a:solidFill>
                  <a:srgbClr val="F3F7FA"/>
                </a:solidFill>
                <a:latin typeface="Arial"/>
                <a:ea typeface="Arial"/>
                <a:cs typeface="Arial"/>
              </a:rPr>
              <a:t>Track</a:t>
            </a:r>
          </a:p>
        </p:txBody>
      </p:sp>
      <p:sp>
        <p:nvSpPr>
          <p:cNvPr id="21" name="">
            <a:extLst xmlns:a="http://schemas.openxmlformats.org/drawingml/2006/main">
              <a:ext uri="{FF2B5EF4-FFF2-40B4-BE49-F238E27FC236}">
                <a16:creationId xmlns:a16="http://schemas.microsoft.com/office/drawing/2014/main" id="{429528D8-9237-4F99-B53F-CD8F7988BE98}"/>
              </a:ext>
            </a:extLst>
          </p:cNvPr>
          <p:cNvSpPr>
            <a:spLocks xmlns:a="http://schemas.openxmlformats.org/drawingml/2006/main" noGrp="1"/>
          </p:cNvSpPr>
          <p:nvPr/>
        </p:nvSpPr>
        <p:spPr>
          <a:xfrm xmlns:a="http://schemas.openxmlformats.org/drawingml/2006/main">
            <a:off x="10077450" y="3638550"/>
            <a:ext cx="1276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0">
                <a:solidFill>
                  <a:srgbClr val="B6CCD7"/>
                </a:solidFill>
                <a:latin typeface="Arial"/>
                <a:ea typeface="Arial"/>
                <a:cs typeface="Arial"/>
              </a:defRPr>
            </a:defPPr>
            <a:lvl1pPr algn="ctr">
              <a:buNone/>
              <a:defRPr sz="1500" b="0">
                <a:solidFill>
                  <a:srgbClr val="B6CCD7"/>
                </a:solidFill>
                <a:latin typeface="Arial"/>
                <a:ea typeface="Arial"/>
                <a:cs typeface="Arial"/>
              </a:defRPr>
            </a:lvl1pPr>
            <a:lvl2pPr algn="ctr">
              <a:buNone/>
              <a:defRPr sz="1500" b="0">
                <a:solidFill>
                  <a:srgbClr val="B6CCD7"/>
                </a:solidFill>
                <a:latin typeface="Arial"/>
                <a:ea typeface="Arial"/>
                <a:cs typeface="Arial"/>
              </a:defRPr>
            </a:lvl2pPr>
            <a:lvl3pPr algn="ctr">
              <a:buNone/>
              <a:defRPr sz="1500" b="0">
                <a:solidFill>
                  <a:srgbClr val="B6CCD7"/>
                </a:solidFill>
                <a:latin typeface="Arial"/>
                <a:ea typeface="Arial"/>
                <a:cs typeface="Arial"/>
              </a:defRPr>
            </a:lvl3pPr>
            <a:lvl4pPr algn="ctr">
              <a:buNone/>
              <a:defRPr sz="1500" b="0">
                <a:solidFill>
                  <a:srgbClr val="B6CCD7"/>
                </a:solidFill>
                <a:latin typeface="Arial"/>
                <a:ea typeface="Arial"/>
                <a:cs typeface="Arial"/>
              </a:defRPr>
            </a:lvl4pPr>
            <a:lvl5pPr algn="ctr">
              <a:buNone/>
              <a:defRPr sz="1500" b="0">
                <a:solidFill>
                  <a:srgbClr val="B6CCD7"/>
                </a:solidFill>
                <a:latin typeface="Arial"/>
                <a:ea typeface="Arial"/>
                <a:cs typeface="Arial"/>
              </a:defRPr>
            </a:lvl5pPr>
            <a:lvl6pPr algn="ctr">
              <a:buNone/>
              <a:defRPr sz="1500" b="0">
                <a:solidFill>
                  <a:srgbClr val="B6CCD7"/>
                </a:solidFill>
                <a:latin typeface="Arial"/>
                <a:ea typeface="Arial"/>
                <a:cs typeface="Arial"/>
              </a:defRPr>
            </a:lvl6pPr>
            <a:lvl7pPr algn="ctr">
              <a:buNone/>
              <a:defRPr sz="1500" b="0">
                <a:solidFill>
                  <a:srgbClr val="B6CCD7"/>
                </a:solidFill>
                <a:latin typeface="Arial"/>
                <a:ea typeface="Arial"/>
                <a:cs typeface="Arial"/>
              </a:defRPr>
            </a:lvl7pPr>
            <a:lvl8pPr algn="ctr">
              <a:buNone/>
              <a:defRPr sz="1500" b="0">
                <a:solidFill>
                  <a:srgbClr val="B6CCD7"/>
                </a:solidFill>
                <a:latin typeface="Arial"/>
                <a:ea typeface="Arial"/>
                <a:cs typeface="Arial"/>
              </a:defRPr>
            </a:lvl8pPr>
            <a:lvl9pPr algn="ctr">
              <a:buNone/>
              <a:defRPr sz="1500" b="0">
                <a:solidFill>
                  <a:srgbClr val="B6CCD7"/>
                </a:solidFill>
                <a:latin typeface="Arial"/>
                <a:ea typeface="Arial"/>
                <a:cs typeface="Arial"/>
              </a:defRPr>
            </a:lvl9pPr>
          </a:lstStyle>
          <a:p xmlns:a="http://schemas.openxmlformats.org/drawingml/2006/main">
            <a:pPr algn="ctr">
              <a:buNone/>
              <a:defRPr sz="1500" b="0">
                <a:solidFill>
                  <a:srgbClr val="B6CCD7"/>
                </a:solidFill>
                <a:latin typeface="Arial"/>
                <a:ea typeface="Arial"/>
                <a:cs typeface="Arial"/>
              </a:defRPr>
            </a:pPr>
            <a:r>
              <a:rPr sz="1500" b="0">
                <a:solidFill>
                  <a:srgbClr val="B6CCD7"/>
                </a:solidFill>
                <a:latin typeface="Arial"/>
                <a:ea typeface="Arial"/>
                <a:cs typeface="Arial"/>
              </a:rPr>
              <a:t>Outcome</a:t>
            </a:r>
          </a:p>
        </p:txBody>
      </p:sp>
      <p:sp>
        <p:nvSpPr>
          <p:cNvPr id="27" name="">
            <a:extLst xmlns:a="http://schemas.openxmlformats.org/drawingml/2006/main">
              <a:ext uri="{FF2B5EF4-FFF2-40B4-BE49-F238E27FC236}">
                <a16:creationId xmlns:a16="http://schemas.microsoft.com/office/drawing/2014/main" id="{BFB19343-C29F-46E4-9E66-6DEB8B96F6E7}"/>
              </a:ext>
            </a:extLst>
          </p:cNvPr>
          <p:cNvSpPr>
            <a:spLocks xmlns:a="http://schemas.openxmlformats.org/drawingml/2006/main" noGrp="1"/>
          </p:cNvSpPr>
          <p:nvPr/>
        </p:nvSpPr>
        <p:spPr>
          <a:xfrm xmlns:a="http://schemas.openxmlformats.org/drawingml/2006/main">
            <a:off x="704850" y="6334125"/>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275" b="0">
                <a:solidFill>
                  <a:srgbClr val="B6CCD7"/>
                </a:solidFill>
                <a:latin typeface="Arial"/>
                <a:ea typeface="Arial"/>
                <a:cs typeface="Arial"/>
              </a:defRPr>
            </a:defPPr>
            <a:lvl1pPr algn="l">
              <a:buNone/>
              <a:defRPr sz="1275" b="0">
                <a:solidFill>
                  <a:srgbClr val="B6CCD7"/>
                </a:solidFill>
                <a:latin typeface="Arial"/>
                <a:ea typeface="Arial"/>
                <a:cs typeface="Arial"/>
              </a:defRPr>
            </a:lvl1pPr>
            <a:lvl2pPr algn="l">
              <a:buNone/>
              <a:defRPr sz="1275" b="0">
                <a:solidFill>
                  <a:srgbClr val="B6CCD7"/>
                </a:solidFill>
                <a:latin typeface="Arial"/>
                <a:ea typeface="Arial"/>
                <a:cs typeface="Arial"/>
              </a:defRPr>
            </a:lvl2pPr>
            <a:lvl3pPr algn="l">
              <a:buNone/>
              <a:defRPr sz="1275" b="0">
                <a:solidFill>
                  <a:srgbClr val="B6CCD7"/>
                </a:solidFill>
                <a:latin typeface="Arial"/>
                <a:ea typeface="Arial"/>
                <a:cs typeface="Arial"/>
              </a:defRPr>
            </a:lvl3pPr>
            <a:lvl4pPr algn="l">
              <a:buNone/>
              <a:defRPr sz="1275" b="0">
                <a:solidFill>
                  <a:srgbClr val="B6CCD7"/>
                </a:solidFill>
                <a:latin typeface="Arial"/>
                <a:ea typeface="Arial"/>
                <a:cs typeface="Arial"/>
              </a:defRPr>
            </a:lvl4pPr>
            <a:lvl5pPr algn="l">
              <a:buNone/>
              <a:defRPr sz="1275" b="0">
                <a:solidFill>
                  <a:srgbClr val="B6CCD7"/>
                </a:solidFill>
                <a:latin typeface="Arial"/>
                <a:ea typeface="Arial"/>
                <a:cs typeface="Arial"/>
              </a:defRPr>
            </a:lvl5pPr>
            <a:lvl6pPr algn="l">
              <a:buNone/>
              <a:defRPr sz="1275" b="0">
                <a:solidFill>
                  <a:srgbClr val="B6CCD7"/>
                </a:solidFill>
                <a:latin typeface="Arial"/>
                <a:ea typeface="Arial"/>
                <a:cs typeface="Arial"/>
              </a:defRPr>
            </a:lvl6pPr>
            <a:lvl7pPr algn="l">
              <a:buNone/>
              <a:defRPr sz="1275" b="0">
                <a:solidFill>
                  <a:srgbClr val="B6CCD7"/>
                </a:solidFill>
                <a:latin typeface="Arial"/>
                <a:ea typeface="Arial"/>
                <a:cs typeface="Arial"/>
              </a:defRPr>
            </a:lvl7pPr>
            <a:lvl8pPr algn="l">
              <a:buNone/>
              <a:defRPr sz="1275" b="0">
                <a:solidFill>
                  <a:srgbClr val="B6CCD7"/>
                </a:solidFill>
                <a:latin typeface="Arial"/>
                <a:ea typeface="Arial"/>
                <a:cs typeface="Arial"/>
              </a:defRPr>
            </a:lvl8pPr>
            <a:lvl9pPr algn="l">
              <a:buNone/>
              <a:defRPr sz="1275" b="0">
                <a:solidFill>
                  <a:srgbClr val="B6CCD7"/>
                </a:solidFill>
                <a:latin typeface="Arial"/>
                <a:ea typeface="Arial"/>
                <a:cs typeface="Arial"/>
              </a:defRPr>
            </a:lvl9pPr>
          </a:lstStyle>
          <a:p xmlns:a="http://schemas.openxmlformats.org/drawingml/2006/main">
            <a:pPr algn="l">
              <a:buNone/>
              <a:defRPr sz="1275" b="0">
                <a:solidFill>
                  <a:srgbClr val="B6CCD7"/>
                </a:solidFill>
                <a:latin typeface="Arial"/>
                <a:ea typeface="Arial"/>
                <a:cs typeface="Arial"/>
              </a:defRPr>
            </a:pPr>
          </a:p>
        </p:txBody>
      </p:sp>
      <p:sp>
        <p:nvSpPr>
          <p:cNvPr id="28" name="">
            <a:extLst xmlns:a="http://schemas.openxmlformats.org/drawingml/2006/main">
              <a:ext uri="{FF2B5EF4-FFF2-40B4-BE49-F238E27FC236}">
                <a16:creationId xmlns:a16="http://schemas.microsoft.com/office/drawing/2014/main" id="{534E49F4-1487-4A8B-8D9B-BBC5257AB1C5}"/>
              </a:ext>
            </a:extLst>
          </p:cNvPr>
          <p:cNvSpPr>
            <a:spLocks xmlns:a="http://schemas.openxmlformats.org/drawingml/2006/main" noGrp="1"/>
          </p:cNvSpPr>
          <p:nvPr/>
        </p:nvSpPr>
        <p:spPr>
          <a:xfrm xmlns:a="http://schemas.openxmlformats.org/drawingml/2006/main">
            <a:off x="11001375" y="6286500"/>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B6CCD7"/>
                </a:solidFill>
                <a:latin typeface="Arial"/>
                <a:ea typeface="Arial"/>
                <a:cs typeface="Arial"/>
              </a:defRPr>
            </a:defPPr>
            <a:lvl1pPr algn="r">
              <a:buNone/>
              <a:defRPr sz="1275" b="0">
                <a:solidFill>
                  <a:srgbClr val="B6CCD7"/>
                </a:solidFill>
                <a:latin typeface="Arial"/>
                <a:ea typeface="Arial"/>
                <a:cs typeface="Arial"/>
              </a:defRPr>
            </a:lvl1pPr>
            <a:lvl2pPr algn="r">
              <a:buNone/>
              <a:defRPr sz="1275" b="0">
                <a:solidFill>
                  <a:srgbClr val="B6CCD7"/>
                </a:solidFill>
                <a:latin typeface="Arial"/>
                <a:ea typeface="Arial"/>
                <a:cs typeface="Arial"/>
              </a:defRPr>
            </a:lvl2pPr>
            <a:lvl3pPr algn="r">
              <a:buNone/>
              <a:defRPr sz="1275" b="0">
                <a:solidFill>
                  <a:srgbClr val="B6CCD7"/>
                </a:solidFill>
                <a:latin typeface="Arial"/>
                <a:ea typeface="Arial"/>
                <a:cs typeface="Arial"/>
              </a:defRPr>
            </a:lvl3pPr>
            <a:lvl4pPr algn="r">
              <a:buNone/>
              <a:defRPr sz="1275" b="0">
                <a:solidFill>
                  <a:srgbClr val="B6CCD7"/>
                </a:solidFill>
                <a:latin typeface="Arial"/>
                <a:ea typeface="Arial"/>
                <a:cs typeface="Arial"/>
              </a:defRPr>
            </a:lvl4pPr>
            <a:lvl5pPr algn="r">
              <a:buNone/>
              <a:defRPr sz="1275" b="0">
                <a:solidFill>
                  <a:srgbClr val="B6CCD7"/>
                </a:solidFill>
                <a:latin typeface="Arial"/>
                <a:ea typeface="Arial"/>
                <a:cs typeface="Arial"/>
              </a:defRPr>
            </a:lvl5pPr>
            <a:lvl6pPr algn="r">
              <a:buNone/>
              <a:defRPr sz="1275" b="0">
                <a:solidFill>
                  <a:srgbClr val="B6CCD7"/>
                </a:solidFill>
                <a:latin typeface="Arial"/>
                <a:ea typeface="Arial"/>
                <a:cs typeface="Arial"/>
              </a:defRPr>
            </a:lvl6pPr>
            <a:lvl7pPr algn="r">
              <a:buNone/>
              <a:defRPr sz="1275" b="0">
                <a:solidFill>
                  <a:srgbClr val="B6CCD7"/>
                </a:solidFill>
                <a:latin typeface="Arial"/>
                <a:ea typeface="Arial"/>
                <a:cs typeface="Arial"/>
              </a:defRPr>
            </a:lvl7pPr>
            <a:lvl8pPr algn="r">
              <a:buNone/>
              <a:defRPr sz="1275" b="0">
                <a:solidFill>
                  <a:srgbClr val="B6CCD7"/>
                </a:solidFill>
                <a:latin typeface="Arial"/>
                <a:ea typeface="Arial"/>
                <a:cs typeface="Arial"/>
              </a:defRPr>
            </a:lvl8pPr>
            <a:lvl9pPr algn="r">
              <a:buNone/>
              <a:defRPr sz="1275" b="0">
                <a:solidFill>
                  <a:srgbClr val="B6CCD7"/>
                </a:solidFill>
                <a:latin typeface="Arial"/>
                <a:ea typeface="Arial"/>
                <a:cs typeface="Arial"/>
              </a:defRPr>
            </a:lvl9pPr>
          </a:lstStyle>
          <a:p xmlns:a="http://schemas.openxmlformats.org/drawingml/2006/main">
            <a:pPr algn="r">
              <a:buNone/>
              <a:defRPr sz="1275" b="0">
                <a:solidFill>
                  <a:srgbClr val="B6CCD7"/>
                </a:solidFill>
                <a:latin typeface="Arial"/>
                <a:ea typeface="Arial"/>
                <a:cs typeface="Arial"/>
              </a:defRPr>
            </a:pPr>
            <a:r>
              <a:rPr sz="1275" b="0">
                <a:solidFill>
                  <a:srgbClr val="B6CCD7"/>
                </a:solidFill>
                <a:latin typeface="Arial"/>
                <a:ea typeface="Arial"/>
                <a:cs typeface="Arial"/>
              </a:rPr>
              <a:t>15</a:t>
            </a:r>
          </a:p>
        </p:txBody>
      </p:sp>
    </p:spTree>
    <p:extLst>
      <p:ext uri="{BB962C8B-B14F-4D97-AF65-F5344CB8AC3E}">
        <p14:creationId xmlns:p14="http://schemas.microsoft.com/office/powerpoint/2010/main" val="8413233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2026-10-27T15:23:34.9800000Z</dcterms:created>
  <dcterms:modified xsi:type="dcterms:W3CDTF">2026-10-27T15:23:34.9800000Z</dcterms:modified>
</coreProperties>
</file>