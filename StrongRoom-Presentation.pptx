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1b12794d8458d" /><Relationship Type="http://schemas.openxmlformats.org/officeDocument/2006/relationships/extended-properties" Target="/docProps/app.xml" Id="R72cdc19a055b429f" /><Relationship Type="http://schemas.openxmlformats.org/officeDocument/2006/relationships/officeDocument" Target="/ppt/presentation.xml" Id="R19fa0cc97e26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4872d57807432d"/>
  </p:sldMasterIdLst>
  <p:notesMasterIdLst>
    <p:notesMasterId xmlns:r="http://schemas.openxmlformats.org/officeDocument/2006/relationships" r:id="R04c5ffea6e504e81"/>
  </p:notesMasterIdLst>
  <p:sldIdLst>
    <p:sldId xmlns:r="http://schemas.openxmlformats.org/officeDocument/2006/relationships" id="256" r:id="R8ee54361a7e849fc"/>
    <p:sldId xmlns:r="http://schemas.openxmlformats.org/officeDocument/2006/relationships" id="257" r:id="R541132f4fd214025"/>
    <p:sldId xmlns:r="http://schemas.openxmlformats.org/officeDocument/2006/relationships" id="258" r:id="R6cff4975831645b6"/>
    <p:sldId xmlns:r="http://schemas.openxmlformats.org/officeDocument/2006/relationships" id="259" r:id="R7449d43ecd8c4092"/>
    <p:sldId xmlns:r="http://schemas.openxmlformats.org/officeDocument/2006/relationships" id="260" r:id="R1feb2de42f2742b2"/>
    <p:sldId xmlns:r="http://schemas.openxmlformats.org/officeDocument/2006/relationships" id="261" r:id="R0a6b93e9cd1b4d3d"/>
    <p:sldId xmlns:r="http://schemas.openxmlformats.org/officeDocument/2006/relationships" id="262" r:id="R58da356f809a4015"/>
    <p:sldId xmlns:r="http://schemas.openxmlformats.org/officeDocument/2006/relationships" id="263" r:id="R80dbcc5a65d04f8a"/>
    <p:sldId xmlns:r="http://schemas.openxmlformats.org/officeDocument/2006/relationships" id="264" r:id="R121900ed410543df"/>
    <p:sldId xmlns:r="http://schemas.openxmlformats.org/officeDocument/2006/relationships" id="265" r:id="Rbf7b05d2c1734059"/>
    <p:sldId xmlns:r="http://schemas.openxmlformats.org/officeDocument/2006/relationships" id="266" r:id="R48319b5c223447d2"/>
    <p:sldId xmlns:r="http://schemas.openxmlformats.org/officeDocument/2006/relationships" id="267" r:id="R1f95247406844e43"/>
    <p:sldId xmlns:r="http://schemas.openxmlformats.org/officeDocument/2006/relationships" id="268" r:id="R8dbab3eb7c204521"/>
    <p:sldId xmlns:r="http://schemas.openxmlformats.org/officeDocument/2006/relationships" id="269" r:id="R3a74b04bcb1847d1"/>
    <p:sldId xmlns:r="http://schemas.openxmlformats.org/officeDocument/2006/relationships" id="270" r:id="R980741ff0d4e4a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6ed9d481e34d12" /><Relationship Type="http://schemas.openxmlformats.org/officeDocument/2006/relationships/slideMaster" Target="/ppt/slideMasters/slideMaster1.xml" Id="R474872d57807432d" /><Relationship Type="http://schemas.openxmlformats.org/officeDocument/2006/relationships/notesMaster" Target="/ppt/notesMasters/notesMaster1.xml" Id="R04c5ffea6e504e81" /><Relationship Type="http://schemas.openxmlformats.org/officeDocument/2006/relationships/presProps" Target="/ppt/presProps.xml" Id="R1b21f3acf25b40fd" /><Relationship Type="http://schemas.openxmlformats.org/officeDocument/2006/relationships/tableStyles" Target="/ppt/tableStyles.xml" Id="R8f60716bb9d345f2" /><Relationship Type="http://schemas.openxmlformats.org/officeDocument/2006/relationships/slide" Target="/ppt/slides/slide1.xml" Id="R8ee54361a7e849fc" /><Relationship Type="http://schemas.openxmlformats.org/officeDocument/2006/relationships/slide" Target="/ppt/slides/slide2.xml" Id="R541132f4fd214025" /><Relationship Type="http://schemas.openxmlformats.org/officeDocument/2006/relationships/slide" Target="/ppt/slides/slide3.xml" Id="R6cff4975831645b6" /><Relationship Type="http://schemas.openxmlformats.org/officeDocument/2006/relationships/slide" Target="/ppt/slides/slide4.xml" Id="R7449d43ecd8c4092" /><Relationship Type="http://schemas.openxmlformats.org/officeDocument/2006/relationships/slide" Target="/ppt/slides/slide5.xml" Id="R1feb2de42f2742b2" /><Relationship Type="http://schemas.openxmlformats.org/officeDocument/2006/relationships/slide" Target="/ppt/slides/slide6.xml" Id="R0a6b93e9cd1b4d3d" /><Relationship Type="http://schemas.openxmlformats.org/officeDocument/2006/relationships/slide" Target="/ppt/slides/slide7.xml" Id="R58da356f809a4015" /><Relationship Type="http://schemas.openxmlformats.org/officeDocument/2006/relationships/slide" Target="/ppt/slides/slide8.xml" Id="R80dbcc5a65d04f8a" /><Relationship Type="http://schemas.openxmlformats.org/officeDocument/2006/relationships/slide" Target="/ppt/slides/slide9.xml" Id="R121900ed410543df" /><Relationship Type="http://schemas.openxmlformats.org/officeDocument/2006/relationships/slide" Target="/ppt/slides/slide10.xml" Id="Rbf7b05d2c1734059" /><Relationship Type="http://schemas.openxmlformats.org/officeDocument/2006/relationships/slide" Target="/ppt/slides/slide11.xml" Id="R48319b5c223447d2" /><Relationship Type="http://schemas.openxmlformats.org/officeDocument/2006/relationships/slide" Target="/ppt/slides/slide12.xml" Id="R1f95247406844e43" /><Relationship Type="http://schemas.openxmlformats.org/officeDocument/2006/relationships/slide" Target="/ppt/slides/slide13.xml" Id="R8dbab3eb7c204521" /><Relationship Type="http://schemas.openxmlformats.org/officeDocument/2006/relationships/slide" Target="/ppt/slides/slide14.xml" Id="R3a74b04bcb1847d1" /><Relationship Type="http://schemas.openxmlformats.org/officeDocument/2006/relationships/slide" Target="/ppt/slides/slide15.xml" Id="R980741ff0d4e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3ba0cd507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770e70fea04ad8" /><Relationship Type="http://schemas.openxmlformats.org/officeDocument/2006/relationships/notesMaster" Target="/ppt/notesMasters/notesMaster1.xml" Id="R09c038f2456e45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460498c604b4c" /><Relationship Type="http://schemas.openxmlformats.org/officeDocument/2006/relationships/notesMaster" Target="/ppt/notesMasters/notesMaster1.xml" Id="R74f659396141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40c590ff444f5" /><Relationship Type="http://schemas.openxmlformats.org/officeDocument/2006/relationships/notesMaster" Target="/ppt/notesMasters/notesMaster1.xml" Id="Raf72d1e25700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fa8e7b3dee40e1" /><Relationship Type="http://schemas.openxmlformats.org/officeDocument/2006/relationships/notesMaster" Target="/ppt/notesMasters/notesMaster1.xml" Id="R9903404aaee44b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d3cff13974bdb" /><Relationship Type="http://schemas.openxmlformats.org/officeDocument/2006/relationships/notesMaster" Target="/ppt/notesMasters/notesMaster1.xml" Id="Rac2cc44eb51a41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d1e785908b42de" /><Relationship Type="http://schemas.openxmlformats.org/officeDocument/2006/relationships/notesMaster" Target="/ppt/notesMasters/notesMaster1.xml" Id="R2451f7910cfb43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66232d884c483c" /><Relationship Type="http://schemas.openxmlformats.org/officeDocument/2006/relationships/notesMaster" Target="/ppt/notesMasters/notesMaster1.xml" Id="R81c27a8461214c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dd0061c3564316" /><Relationship Type="http://schemas.openxmlformats.org/officeDocument/2006/relationships/notesMaster" Target="/ppt/notesMasters/notesMaster1.xml" Id="R0302e1bfbed34d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4b10e7b29343eb" /><Relationship Type="http://schemas.openxmlformats.org/officeDocument/2006/relationships/notesMaster" Target="/ppt/notesMasters/notesMaster1.xml" Id="R4ec30691f13e43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a6459862fd41c6" /><Relationship Type="http://schemas.openxmlformats.org/officeDocument/2006/relationships/notesMaster" Target="/ppt/notesMasters/notesMaster1.xml" Id="R6d8dcdb472ab4f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bc6462cf11442f" /><Relationship Type="http://schemas.openxmlformats.org/officeDocument/2006/relationships/notesMaster" Target="/ppt/notesMasters/notesMaster1.xml" Id="R9a3affb5d48e4f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fd26c5d8b34878" /><Relationship Type="http://schemas.openxmlformats.org/officeDocument/2006/relationships/notesMaster" Target="/ppt/notesMasters/notesMaster1.xml" Id="R681decf8903c4a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45b5edfa0b402c" /><Relationship Type="http://schemas.openxmlformats.org/officeDocument/2006/relationships/notesMaster" Target="/ppt/notesMasters/notesMaster1.xml" Id="R33215f523b564f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5ccbe6be4f49af" /><Relationship Type="http://schemas.openxmlformats.org/officeDocument/2006/relationships/notesMaster" Target="/ppt/notesMasters/notesMaster1.xml" Id="R3ca9601ead9249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673d83e374034" /><Relationship Type="http://schemas.openxmlformats.org/officeDocument/2006/relationships/notesMaster" Target="/ppt/notesMasters/notesMaster1.xml" Id="R4d357164de244d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6e9f16c5e42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6097deb354e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7bdcf4e2a49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c82c9553e4f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f89e787004b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e84e4050f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FFB024-F921-463F-8F61-188C82D15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3BD3E0-0DB7-426E-9B6B-13BCFF7D73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60B006-8DBC-419D-BCEF-D346986B9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99AA29-526A-4713-A71A-937F85D0F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C283D5-C34B-4626-9C00-29E1F238FB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7F3642-2162-4BD0-B47E-56697F58B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CC3E6A-B3C2-4A35-A6D9-5A4A6E9CCE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125E2A-549F-4216-BA30-81D487E8A6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698C7B-2687-4AB0-89EA-E9C30C394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A68AD9-E15E-4D29-A42A-F3B8B1F6EE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9d1c84d56c4990" /><Relationship Type="http://schemas.openxmlformats.org/officeDocument/2006/relationships/slideLayout" Target="/ppt/slideLayouts/slideLayout1.xml" Id="Rd4f513f29b8849ed" /><Relationship Type="http://schemas.openxmlformats.org/officeDocument/2006/relationships/slideLayout" Target="/ppt/slideLayouts/slideLayout2.xml" Id="R54b59061612248c5" /><Relationship Type="http://schemas.openxmlformats.org/officeDocument/2006/relationships/slideLayout" Target="/ppt/slideLayouts/slideLayout3.xml" Id="R7d40621e9c194f12" /><Relationship Type="http://schemas.openxmlformats.org/officeDocument/2006/relationships/slideLayout" Target="/ppt/slideLayouts/slideLayout4.xml" Id="Rd3d15250dc6c44bb" /><Relationship Type="http://schemas.openxmlformats.org/officeDocument/2006/relationships/slideLayout" Target="/ppt/slideLayouts/slideLayout5.xml" Id="R06fa424e94b74c23" /><Relationship Type="http://schemas.openxmlformats.org/officeDocument/2006/relationships/slideLayout" Target="/ppt/slideLayouts/slideLayout6.xml" Id="R5f46f17475bc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513f29b8849ed"/>
    <p:sldLayoutId xmlns:r="http://schemas.openxmlformats.org/officeDocument/2006/relationships" id="2147483650" r:id="R54b59061612248c5"/>
    <p:sldLayoutId xmlns:r="http://schemas.openxmlformats.org/officeDocument/2006/relationships" id="2147483651" r:id="R7d40621e9c194f12"/>
    <p:sldLayoutId xmlns:r="http://schemas.openxmlformats.org/officeDocument/2006/relationships" id="2147483652" r:id="Rd3d15250dc6c44bb"/>
    <p:sldLayoutId xmlns:r="http://schemas.openxmlformats.org/officeDocument/2006/relationships" id="2147483653" r:id="R06fa424e94b74c23"/>
    <p:sldLayoutId xmlns:r="http://schemas.openxmlformats.org/officeDocument/2006/relationships" id="2147483654" r:id="R5f46f17475bc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11bc7805546c1" /><Relationship Type="http://schemas.openxmlformats.org/officeDocument/2006/relationships/notesSlide" Target="/ppt/notesSlides/notesSlide1.xml" Id="R8b5799d0f53f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f53d267c3450f" /><Relationship Type="http://schemas.openxmlformats.org/officeDocument/2006/relationships/notesSlide" Target="/ppt/notesSlides/notesSlide2.xml" Id="R4f98dfd51e8545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7124e1a6842f5" /><Relationship Type="http://schemas.openxmlformats.org/officeDocument/2006/relationships/notesSlide" Target="/ppt/notesSlides/notesSlide3.xml" Id="Re118c56074e94d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51e56feee421f" /><Relationship Type="http://schemas.openxmlformats.org/officeDocument/2006/relationships/notesSlide" Target="/ppt/notesSlides/notesSlide4.xml" Id="R91e97346d0a5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d48b934554dd0" /><Relationship Type="http://schemas.openxmlformats.org/officeDocument/2006/relationships/notesSlide" Target="/ppt/notesSlides/notesSlide5.xml" Id="R0b9cebaff8ca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eae2bfd404510" /><Relationship Type="http://schemas.openxmlformats.org/officeDocument/2006/relationships/notesSlide" Target="/ppt/notesSlides/notesSlide6.xml" Id="Rb7cd0ea6e0d048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36bc75f2148ed" /><Relationship Type="http://schemas.openxmlformats.org/officeDocument/2006/relationships/notesSlide" Target="/ppt/notesSlides/notesSlide7.xml" Id="R8992a913b76549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9fcd0867c480c" /><Relationship Type="http://schemas.openxmlformats.org/officeDocument/2006/relationships/notesSlide" Target="/ppt/notesSlides/notesSlide8.xml" Id="R1ebde299adb8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034ced5824bc0" /><Relationship Type="http://schemas.openxmlformats.org/officeDocument/2006/relationships/notesSlide" Target="/ppt/notesSlides/notesSlide9.xml" Id="R1fb14d1e933749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e0579923f46a9" /><Relationship Type="http://schemas.openxmlformats.org/officeDocument/2006/relationships/notesSlide" Target="/ppt/notesSlides/notesSlide10.xml" Id="Rcac25dbcd8b342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ef3d86b854c30" /><Relationship Type="http://schemas.openxmlformats.org/officeDocument/2006/relationships/notesSlide" Target="/ppt/notesSlides/notesSlide11.xml" Id="R691f31e5815b4a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8eba39ab04ea8" /><Relationship Type="http://schemas.openxmlformats.org/officeDocument/2006/relationships/notesSlide" Target="/ppt/notesSlides/notesSlide12.xml" Id="Rfc68fd17decc4a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8c92bd24544cb" /><Relationship Type="http://schemas.openxmlformats.org/officeDocument/2006/relationships/notesSlide" Target="/ppt/notesSlides/notesSlide13.xml" Id="R9af934f71b0c47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95c9a3ad4432b" /><Relationship Type="http://schemas.openxmlformats.org/officeDocument/2006/relationships/notesSlide" Target="/ppt/notesSlides/notesSlide14.xml" Id="R0460002fd27d44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44b600b5142c8" /><Relationship Type="http://schemas.openxmlformats.org/officeDocument/2006/relationships/notesSlide" Target="/ppt/notesSlides/notesSlide15.xml" Id="Ra79a1a4915bb4d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4C97B-190B-40AA-8C6F-C6067D53E43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19A15-042D-4424-9FBC-46C3B6CCF8D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8491E-0B99-445F-8ED5-2581B3CE4CF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522D8-5EE2-497B-83E7-451965E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75144-47F3-40D7-AF29-28F4DB3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One invoice, from start to finish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87F95-1B6C-42D8-88E1-6560BCED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Follow an illustrative supplier invoice through the payment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5DD25-8A1F-4EA2-B4D0-DA8D6211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CB865-22B1-4EB1-8CDB-38F57F97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Supplier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0184E-FBA5-40CE-BD28-D3A71163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Sends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E389D-6B5B-4867-A3BE-C4F5003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9F8CF-AA81-4480-A0FA-164CA5D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C6E8D-1D20-488E-982B-9AA64BB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Receives bill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CDF1B-8393-4C61-9F64-EE6BED1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61A63-6834-4A00-A2C1-2BCB51E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16034-CFFC-4E43-A609-6B2624DA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Approves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4E2BC-179D-4794-8192-C793AD2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9948B-84EB-422B-BAD2-5F97CB51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57757-89BC-4946-83C0-203D1296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53632-7595-417F-B257-A0A8067E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C8664-831A-446B-BE95-4DBC4148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24970-32F8-4AF7-9ED5-C5158863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78856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61274-D4BF-45FB-B64B-08D7044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FB296-BB5C-459B-89A3-4D86C6C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What is an invoice?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D3511-9758-475C-A8CD-192AF61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The supplier sends the buyer a bill for work completed.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A3EB2-A7E1-4EDD-8F0D-91CD2F0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SUPPLIER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0F827-89BC-4FFE-95DE-A24787E2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ABC Plumbing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36EE9-DE20-46AF-B091-72CEE8B1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40602-52FB-43AB-954A-C42E452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Sunrise Housing Association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0AAA3-240E-481D-A563-54D081CF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037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51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$500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DE339-1B52-4BDC-8E1B-01C496B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57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Pipe repair invoice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7CEAB-4BC3-4665-86C7-85D1214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51540-3467-41B2-B7A4-077BA11E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18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EEB1C-84D3-4332-B53D-ABCEB4093AB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81875" y="3857625"/>
            <a:ext cx="1952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C73EB-1D1A-4185-A719-E8A3C3420F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809875" y="3857625"/>
            <a:ext cx="23812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CBCEB-D9DD-4A3F-AC8A-A922CD6F755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09875" y="3114675"/>
            <a:ext cx="2381250" cy="742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6D0E5-A4DD-44F3-AB19-40771133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C06E0-46CE-499C-9C8E-307EAFAA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How the invoice enters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8C72-0F2B-4E44-AFA9-6EDF085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 information arrives by email or scanned document.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1BB6F-433B-42C4-84CD-3D6D57A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952625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F2BE4-186E-4431-BEDA-2A79FF9D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620F1-21C0-445A-8E72-ACF06824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Rackspace inbox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F5773-A6BA-4983-813B-BA14D41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952625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15061-8CD6-4CAB-889E-A8C0770E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9E8F6-9978-4EFF-9BA3-F53B6E8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63698-90A9-4DA4-91BB-D15B82D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21907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025F0-090F-48D4-9BB7-AA80A49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671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87226-886E-4BAF-A344-A2C401B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24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088C2-D7E3-4BBC-B625-42BD4128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952625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712E3-DCBD-4281-91ED-3510BBC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67100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F1761-492C-4029-85A6-07E6E3D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243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E8100-6393-43C0-B5E6-52662D0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052BB-6B0B-4657-A33F-2A82110E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2511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5805D-A4BA-47A5-B8A6-F52B3031054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4EA65-65B2-41EB-BB42-D5DE0B2A60E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62B7E-2C99-4670-B915-3895A1DF8EA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B6305-E2D8-4649-8970-5DC5E6BD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9C807-088D-4A15-A8AC-BD2F8CC9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Indexing and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F8BF4-9242-4B06-B938-AD38E94B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An internal team checks details before the buyer reviews the invoice.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2483-D6E2-4C4C-AF36-8480A589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A64A3-5846-40AE-A2C2-E724658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8E456-CF5A-481B-810C-6386E41D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Internal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B3699-A710-4FBD-973E-45A0F5A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C1022-7D42-4164-A0C5-E1079685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A17A-7D59-4A09-8EFB-298D0A3D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Association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02F4F-C8C4-4C86-A837-2C166D86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72F76-554A-40BF-903B-20B7118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7E1B5-1577-4A2F-B1BB-421C771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EAB7B-E42D-4C1C-A327-477169ED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634E9-533F-4C72-8B6D-356589DB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Authorize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71184-BF4F-4514-8FB6-EF661AB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Ready for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B468E-0833-498C-9C09-067C01A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75549-561A-4300-844C-1123362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7410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6F0FD-0C48-4BDA-BFD3-03FBF7247BF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29475" y="361950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A5E4B-270F-4652-9D3E-C758BE08890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ACB63-D0E9-4BCE-B8D0-9A9EC0B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2921F-04FC-413B-A5E3-131AFD44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Generate the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3DD15-C5C6-4983-9F35-DD2567D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 scheduled process creates a payment for an eligible invoice.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7CB02-563F-4862-A70E-E4EB3A7B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C3A98-2786-4F5A-A8A9-4253D4F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FB19E-E785-43A0-919F-E56DD0B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Authorized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E9478-AAA3-4DC3-8B40-F0FEFDA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12CE6-A3AC-48A1-98B7-0BACEC4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Scheduled job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3B587-AD3C-497C-9FE6-330D366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C8B21-8121-4874-A42C-B4A674D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6ABC6-F253-46BF-B821-433699C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4DEC6-F3B6-41F1-ABBA-49C579B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Record created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ACFD2-053F-4AD2-882C-1B14BEC0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97E39-A996-401D-A047-2258AF8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3039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6277C-9354-4A69-92ED-98FA6478FD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86125" y="3781425"/>
            <a:ext cx="4524375" cy="566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63831-C3EF-4421-B133-A57086FEA75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86125" y="3176588"/>
            <a:ext cx="4524375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7E5F5-7980-4663-9253-08F3107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B4141-5117-4050-9065-D46F0EE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Choose the configured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7A4A-46D9-410D-B637-50EA7A4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Buyer configuration and payment type determine the applicable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7032-45DB-49A8-96A4-3A30A10B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2286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BECC-8079-40AF-B64C-F15E8064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432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33282-B393-4BE0-8DAA-0AB5DD5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004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B60E5-1E21-46E9-A009-F7D3443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667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9CF4D-871B-43ED-AF0E-D47D638E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ECD73-276F-4D05-92BB-999EF06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Check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B961C-041A-4186-941C-507EDF2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95725"/>
            <a:ext cx="2667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9F4AE-108E-4A9C-96BA-60AC613E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AvidPay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48F6F-E1E8-44D6-8FBD-437A42E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862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FF463-B8B8-459D-869D-40C04FB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C585"/>
                </a:solidFill>
                <a:latin typeface="Arial"/>
                <a:ea typeface="Arial"/>
                <a:cs typeface="Arial"/>
              </a:rPr>
              <a:t>A buyer may have more than one system configured.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A06E9-FC99-4DB8-9AD7-82F669D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B95DC-CDDA-4821-9F54-FBB4ECCB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9622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3A6FE-CF8F-4B69-B710-646579EB27E6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AE24E-3A51-434C-85FA-0B70E36FC78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29B4A-57EB-4D9D-A887-8ADDCFE9096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BF779-0030-43CB-9FC1-13B0A9DA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91F93-F46A-4C9C-8527-C3FFD27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Route A: StrongRoom custom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D4A81-0493-4811-BBA9-29BDAC3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Eligible custom-check payments can remain on the StrongRoom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A0C75-812E-40A1-B768-B6138EC5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27593-575C-49B2-B356-8AAC4020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E1DBE-34D1-4B02-84C2-429FA8B0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2FA8C-086B-4820-820D-44EA4B1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7E58-4933-4A0D-A23F-3F743E9C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 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75DB6-BFF3-4219-AD41-9D8A33BE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Group 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7E82D-67D6-4B2F-9F27-EC0227A8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EA73B-671A-4AE9-B090-E4C7C778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D7011-9E0A-47BD-9D98-B4197B24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09D59-AD0C-46E5-942A-AFD9BAC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36831-2F55-4A06-AC90-305AC401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Printer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8A413-5A6B-44BD-9E66-4C5F641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External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F20D1-64AE-48B4-B034-BFD17ED0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47BF7-B87F-4490-A727-15E94E22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42261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FD23E-8B0E-4C6C-B5CA-DE960294C81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FE03E-2638-4A00-8EB3-1BBE8C57F0C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AF4D6-1853-436B-86C1-8BE36584062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121D4-3C63-434D-A386-C13A043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FAA6E-155F-4846-9B65-BA5F3E18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Route B: Send to AvidPay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322FB-0B86-4EC1-A2D7-8FD14AB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StrongRoom sends client-specific payment information to AvidPay.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B5218-FCD1-4364-B8A3-258DA65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7975-3DFA-4559-97B2-735C14B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9871E-A557-4F94-BC66-FD77BDE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7B871-AA53-4B66-A201-FF78705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F0772-67EE-46A7-B944-FABCBFE6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F7466-FED7-4547-ADD2-1428185C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By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3F1ED-7734-4A74-99D5-D940EE17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37C4F-2413-424B-8FAB-0F1CEE3F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XML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D02EA-E23D-4A63-9DDA-0F48CC6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D7072-39D3-4B23-B7DC-4C177BAB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FE0E4-4BB8-457D-A14A-860A6F9E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AvidPay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840AF-A670-4AF7-8912-1C3F59DA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92EF9-DFD6-4B16-B6EA-829963D6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C585"/>
                </a:solidFill>
                <a:latin typeface="Arial"/>
                <a:ea typeface="Arial"/>
                <a:cs typeface="Arial"/>
              </a:rPr>
              <a:t>The transfer protocol was not confirmed in the recording.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3A42F-3555-4B2F-9D27-162C9E06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6E241-5D49-4658-B8EC-FE84CD8D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28322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0DCDB-34FF-4C8A-8E4B-B1C4D9F00F0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86125" y="3781425"/>
            <a:ext cx="4524375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8B5D-EA87-4CFF-9A33-F747D462B3C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286125" y="3762376"/>
            <a:ext cx="45243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DCEAA-5CD0-4EFA-94BD-4CB6EA6C8BF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86125" y="2590801"/>
            <a:ext cx="4524375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F35C0-2923-42F0-98A3-A70D101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A5AE3-EED5-48B6-B695-CE06A073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What can happen in AvidPay?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15628-2D70-46F8-A552-36E1F4D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AvidPay handles the payment according to its type and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8442-E9E9-4C3A-9E3C-24CE5E0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2286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EAE9F-FE8F-4013-8548-21CB26E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432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AvidPay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AE268-5725-43E3-98AA-55A814CF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004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DA565-B9FF-4261-A433-50219F2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8363"/>
            <a:ext cx="2667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BA475-AFDE-4714-B032-B06486A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71713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24A9F-876A-4AF9-81C0-FE62510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8913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Bank 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1126A-0A1E-4FA6-B619-131DDAA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09938"/>
            <a:ext cx="2667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DA960-37E1-4002-B21F-057ECB8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3288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Virtual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ED0A9-8566-4ED9-9EFE-48522A2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0488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Card 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D43EF-8450-46AD-A9A9-F26B4B47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1513"/>
            <a:ext cx="2667000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D7716-F2BD-46F6-BA63-80FFA8F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4863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73143-3D05-4493-8BF7-7F73EB69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72063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Configured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ADB19-9470-4910-9D0F-5ADAB15E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C8240-B7CD-4AA7-AD77-32D7953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3760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06F20-2282-4B08-BBA4-BFFEF528D2B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56074-D649-41BE-8F78-867A37D912C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747FA-FF54-4865-97C4-38B539DA2C3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87754-34DB-40E9-BA05-DD19DAF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6F24C-A4D5-4DDD-8D95-CD3B7B87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The custom-check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A3E1E-19AC-4BBD-8DEB-4A767F2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Some custom checks return from AvidPay for StrongRoom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564B3-0E4C-4841-BF03-6E63B12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7092A-610D-4392-A3BF-36A3DB4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AvidPay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4ADE7-C835-49CD-9589-0501FF7E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Custom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42DF4-0302-4694-89B0-C91D4F4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3880B-D2A4-43AD-AA32-AB64717B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CSV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D46F0-439B-46E8-BCE3-EFB9F34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Return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61F2F-C700-4EF0-BC93-74798190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812D6-8B87-4F33-BFA2-57F560DC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APN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F703F-6A84-49F5-9009-41C9E094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Reads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E2D87-F1E7-4D8B-A54A-6D3FD381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743FD-CF8D-480C-B1C7-97EBA523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87D7-C9E4-49E6-B5DC-479B66A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Updates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809AB-8659-479B-A0E5-90C530C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C585"/>
                </a:solidFill>
                <a:latin typeface="Arial"/>
                <a:ea typeface="Arial"/>
                <a:cs typeface="Arial"/>
              </a:rPr>
              <a:t>This applies to the return flow shown, not every CSV.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74DC1-EEAB-4E74-9C29-DCA2810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3DE49-DD35-4F58-8BC0-FC008E98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5586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F6DDE-0A69-4C2A-A57C-6A76B0AAF8C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33750" y="3714750"/>
            <a:ext cx="5095875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9ADE9-D096-4307-A88A-924FE404647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33750" y="3714750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B6B4C-C2E5-4D9A-BC95-382758C996D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33750" y="2628900"/>
            <a:ext cx="5095875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99DCA-6B05-4553-8FCB-64CE6E1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575F7-C6DD-4165-B8FC-BD07FCE9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What is check batching?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CB1B2-5083-4255-AD14-9815369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Eligible check payments are grouped for an external printer.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75B3-8C87-405A-AFFA-B9FFC98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2286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E1439-427D-42BF-A1AD-2953998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766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 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7F84-5C11-449B-B3C9-8BEFFEA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3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Eligible 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E46D-AFB3-43F0-A73B-1C897D4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0275"/>
            <a:ext cx="22383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00091-D341-40C7-8C37-A337CC69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3336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Plumber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DA17B-B6FA-4C5A-82B8-861A4038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622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$500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6D923-6473-4EA2-A57B-F922C235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22383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A9388-FE8C-440B-A23D-37B08D3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1947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Electrician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6715E-99C3-4D66-8073-AD8B86E8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4810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$300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FA416-25FC-4F19-9721-AC7A5CC6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71975"/>
            <a:ext cx="2238375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5F508-304C-42B0-84E9-5B3126D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053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Gardener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11981-4A77-4BDB-A261-BC3B0C8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33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$200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CEC7B-89D4-4996-BB4E-A8DE24B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3AC48-755D-4177-8C4A-16FAA99D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28706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C505B-9139-4BB2-B3CD-1EC48D5314F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296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1A3FA-C1D5-461E-A599-7362796F285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016D3-C6B1-4D43-B771-89E8F638E63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4A8AB-D180-459C-881F-29B964E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017E4-B389-40B9-9CDB-F814EBA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Separate the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C5573-722A-4640-A58F-3A15BF3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Each handoff has a separate outcome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76F21-6AC4-4E66-8FB4-602BCC33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CD300-52C9-498A-869E-F92B2BA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F6A0B-DEEE-4783-B8AA-922AC4E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DD047-2414-4CFF-AD3C-151A74A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6AA16-F7D1-406F-920B-6161BB3E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156A9-F67E-427A-A06C-64F6C740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Transferred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2381B-7B00-4C29-8BB1-071E10A6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17F63-A0AD-4CAD-A302-4B3CE6A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Printer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49758-F4B8-48CE-8CD2-1B25CC9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F5BBF-BBB2-43E0-886E-C15165DC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EA487-6A77-4064-B406-3AFBD9F4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32F72-5B48-4DBD-B1C9-CC7DA3C0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Processed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936C8-B949-4ACF-B514-13D9F5EE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4C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C585"/>
                </a:solidFill>
                <a:latin typeface="Arial"/>
                <a:ea typeface="Arial"/>
                <a:cs typeface="Arial"/>
              </a:rPr>
              <a:t>A successful transfer alone does not prove that every check printed.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D8669-B3B1-4860-ADEA-7B38812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91B2F-1328-4AA3-8700-BA3E501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7353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8CF8C-CE2C-4BD4-9A44-AF1D26F6102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29475" y="361950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3C032-8CDD-494B-9B6C-98822CE0B12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619500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48604-019C-4E96-9940-BC26A6C8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FF2CE-0F66-4AF8-B2E0-704864C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Accounting is a separate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6870A-4665-47C3-89B7-78B30425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Accounting integration is a separate handoff to the customer.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2BD1D-A7CA-4296-A7BF-F4612031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3A818-F123-4550-9A65-EDB1899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E6C1C-2324-44B7-B593-8F620866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 and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8ABC3-C956-4936-BDF7-DA7406A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9C58E-3860-4C7B-A2EA-7F77E6D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CA5C3-0B22-40F6-9D27-1C7F0B2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Data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CD94C-A1D8-4BAB-AACD-EAC2484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2669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F7A07-D123-4D1F-AD9D-7DC6C00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8F60E-E0A4-4EDB-B917-BC594E7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Accounting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77F44-B021-4DC7-BE23-099B0CCF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60248-2E15-480F-A035-E9097ED7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299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FFF4F-B728-451C-A3EA-723248546C7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98769" y="3619500"/>
            <a:ext cx="488156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7DD69-A859-499E-9E94-00F9F49F6EE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67538" y="3619500"/>
            <a:ext cx="488156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8E7CC-4B77-4699-ADC9-6DDC3C3967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36306" y="3619500"/>
            <a:ext cx="488157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7D805-2A38-459E-A025-E628366DA8C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05075" y="3619500"/>
            <a:ext cx="488156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0C163-79A4-4B1D-8D72-1638273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D2BAB-65C7-449C-A06A-7775F04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How an SRE traces an issue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898DE-E06B-4F78-B98E-A7EE323D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Find the last successful step, then investigate the next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9A9B6-F6C4-444A-B2CE-C6399620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7430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1D2A2-D5FD-47FE-A8BB-3F241DBB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C0F3-0118-461F-936D-843B981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2E0C6-8987-4F13-8D0B-7E64D3D9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31" y="3048000"/>
            <a:ext cx="17430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6C44F-A40C-4CAA-AF4F-4720460A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431" y="31813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AE731-E70A-46E9-9501-1C8DD65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431" y="363855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Authorized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2C82C-772D-40E2-923C-19678B0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4463" y="3048000"/>
            <a:ext cx="17430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957E4-C781-48FD-B49E-C92C3BCF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1813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B745D-1837-43D7-A33A-AA78C4AE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63855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64596-70AC-4B74-87F8-334AE3B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694" y="3048000"/>
            <a:ext cx="17430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8FD20-0DB4-42CE-8081-8AA2B4AA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894" y="31813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3B479-CEFD-4BDD-B3F8-2EA434F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894" y="363855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2DB3D-3DF7-4A48-B551-921210A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48000"/>
            <a:ext cx="1743075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C6E2-B3E7-4167-82C9-A5265EBA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8135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49EEB-FE62-48FD-8217-B80AE64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38550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Batch / 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8B459-D82C-4621-BF21-85161BD3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DF856-E6C7-4B1B-B126-4DA8970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191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0273C-3D1C-413E-AE11-562ECC596D3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582150" y="3619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2F70E-957E-48BB-8CAA-8F9BF088CAB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34300" y="3619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8CF2C-2925-4A8A-B382-BCC3ACE41F1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86450" y="3619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8B015-C511-44D3-9DAF-CCB0373350E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38600" y="3619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2270C-4939-453E-A907-D53B5AA45C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90750" y="3619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FA99E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722D68-7403-4F9E-B1E4-7C0A270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64E4C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4E4CE"/>
                </a:solidFill>
                <a:latin typeface="Arial"/>
                <a:ea typeface="Arial"/>
                <a:cs typeface="Arial"/>
              </a:rPr>
              <a:t>STRONGROOM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FAEC8-9EBA-45CA-9632-458E9AA5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StrongRoom flow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43E6-4C6E-43EE-9931-B8FFB8A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Use the sequence to explain the full journey in your own 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54230-3EA8-41D1-9FA6-AE01A60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16E7D-8209-4B25-91FB-15BDCCFD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AB2D2-C2BC-47CC-95E5-96C111C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FD807-35F8-4EF8-98CB-E75D66B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0FC5D-407B-4FFE-96EA-0B98DDD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720EF-2E52-42C3-9C30-3BEEA1F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46EFD-BE1E-43A8-8B49-2F98063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6E6A3-9A28-4946-86EE-D77FA35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13B5F-92B9-4815-8C35-0EBC0D3D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A895D-6300-40B9-806A-1AC90D0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76202-BB66-4E76-A950-4FBE415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A862E-0D83-416C-BFA7-4F74C2C4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11394-1A84-4543-AC42-AA1B203E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B6107-65FC-4476-AFAF-C271BBE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210F8-18A8-4698-B8A5-B94D7ED6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F4BDA-2FF7-44AF-8B08-443BC54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8384C"/>
          </a:solidFill>
          <a:ln xmlns:a="http://schemas.openxmlformats.org/drawingml/2006/main" w="12383">
            <a:solidFill>
              <a:srgbClr val="5780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49BA8-0517-4488-91E1-F87B06A3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528D8-9237-4F99-B53F-CD8F7988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19343-C29F-46E4-9E66-6DEB8B9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E49F4-1487-4A8B-8D9B-BBC5257A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B6CC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41323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2026-10-27T15:30:36.1530000Z</dcterms:created>
  <dcterms:modified xsi:type="dcterms:W3CDTF">2026-10-27T15:30:36.1530000Z</dcterms:modified>
</coreProperties>
</file>