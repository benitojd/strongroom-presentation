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01b12794d8458d" /><Relationship Type="http://schemas.openxmlformats.org/officeDocument/2006/relationships/extended-properties" Target="/docProps/app.xml" Id="R72cdc19a055b429f" /><Relationship Type="http://schemas.openxmlformats.org/officeDocument/2006/relationships/officeDocument" Target="/ppt/presentation.xml" Id="R19fa0cc97e2648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4872d57807432d"/>
  </p:sldMasterIdLst>
  <p:sldIdLst>
    <p:sldId xmlns:r="http://schemas.openxmlformats.org/officeDocument/2006/relationships" id="256" r:id="R8ee54361a7e849fc"/>
    <p:sldId xmlns:r="http://schemas.openxmlformats.org/officeDocument/2006/relationships" id="257" r:id="R541132f4fd214025"/>
    <p:sldId xmlns:r="http://schemas.openxmlformats.org/officeDocument/2006/relationships" id="258" r:id="R6cff4975831645b6"/>
    <p:sldId xmlns:r="http://schemas.openxmlformats.org/officeDocument/2006/relationships" id="259" r:id="R7449d43ecd8c4092"/>
    <p:sldId xmlns:r="http://schemas.openxmlformats.org/officeDocument/2006/relationships" id="260" r:id="R1feb2de42f2742b2"/>
    <p:sldId xmlns:r="http://schemas.openxmlformats.org/officeDocument/2006/relationships" id="261" r:id="R0a6b93e9cd1b4d3d"/>
    <p:sldId xmlns:r="http://schemas.openxmlformats.org/officeDocument/2006/relationships" id="262" r:id="R58da356f809a4015"/>
    <p:sldId xmlns:r="http://schemas.openxmlformats.org/officeDocument/2006/relationships" id="263" r:id="R80dbcc5a65d04f8a"/>
    <p:sldId xmlns:r="http://schemas.openxmlformats.org/officeDocument/2006/relationships" id="264" r:id="R121900ed410543df"/>
    <p:sldId xmlns:r="http://schemas.openxmlformats.org/officeDocument/2006/relationships" id="265" r:id="Rbf7b05d2c1734059"/>
    <p:sldId xmlns:r="http://schemas.openxmlformats.org/officeDocument/2006/relationships" id="266" r:id="R48319b5c223447d2"/>
    <p:sldId xmlns:r="http://schemas.openxmlformats.org/officeDocument/2006/relationships" id="267" r:id="R1f95247406844e43"/>
    <p:sldId xmlns:r="http://schemas.openxmlformats.org/officeDocument/2006/relationships" id="268" r:id="R8dbab3eb7c204521"/>
    <p:sldId xmlns:r="http://schemas.openxmlformats.org/officeDocument/2006/relationships" id="269" r:id="R3a74b04bcb1847d1"/>
    <p:sldId xmlns:r="http://schemas.openxmlformats.org/officeDocument/2006/relationships" id="270" r:id="R980741ff0d4e4a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366ed9d481e34d12"/><Relationship Type="http://schemas.openxmlformats.org/officeDocument/2006/relationships/slideMaster" Target="/ppt/slideMasters/slideMaster1.xml" Id="R474872d57807432d"/><Relationship Type="http://schemas.openxmlformats.org/officeDocument/2006/relationships/presProps" Target="/ppt/presProps.xml" Id="R1b21f3acf25b40fd"/><Relationship Type="http://schemas.openxmlformats.org/officeDocument/2006/relationships/tableStyles" Target="/ppt/tableStyles.xml" Id="R8f60716bb9d345f2"/><Relationship Type="http://schemas.openxmlformats.org/officeDocument/2006/relationships/slide" Target="/ppt/slides/slide1.xml" Id="R8ee54361a7e849fc"/><Relationship Type="http://schemas.openxmlformats.org/officeDocument/2006/relationships/slide" Target="/ppt/slides/slide2.xml" Id="R541132f4fd214025"/><Relationship Type="http://schemas.openxmlformats.org/officeDocument/2006/relationships/slide" Target="/ppt/slides/slide3.xml" Id="R6cff4975831645b6"/><Relationship Type="http://schemas.openxmlformats.org/officeDocument/2006/relationships/slide" Target="/ppt/slides/slide4.xml" Id="R7449d43ecd8c4092"/><Relationship Type="http://schemas.openxmlformats.org/officeDocument/2006/relationships/slide" Target="/ppt/slides/slide5.xml" Id="R1feb2de42f2742b2"/><Relationship Type="http://schemas.openxmlformats.org/officeDocument/2006/relationships/slide" Target="/ppt/slides/slide6.xml" Id="R0a6b93e9cd1b4d3d"/><Relationship Type="http://schemas.openxmlformats.org/officeDocument/2006/relationships/slide" Target="/ppt/slides/slide7.xml" Id="R58da356f809a4015"/><Relationship Type="http://schemas.openxmlformats.org/officeDocument/2006/relationships/slide" Target="/ppt/slides/slide8.xml" Id="R80dbcc5a65d04f8a"/><Relationship Type="http://schemas.openxmlformats.org/officeDocument/2006/relationships/slide" Target="/ppt/slides/slide9.xml" Id="R121900ed410543df"/><Relationship Type="http://schemas.openxmlformats.org/officeDocument/2006/relationships/slide" Target="/ppt/slides/slide10.xml" Id="Rbf7b05d2c1734059"/><Relationship Type="http://schemas.openxmlformats.org/officeDocument/2006/relationships/slide" Target="/ppt/slides/slide11.xml" Id="R48319b5c223447d2"/><Relationship Type="http://schemas.openxmlformats.org/officeDocument/2006/relationships/slide" Target="/ppt/slides/slide12.xml" Id="R1f95247406844e43"/><Relationship Type="http://schemas.openxmlformats.org/officeDocument/2006/relationships/slide" Target="/ppt/slides/slide13.xml" Id="R8dbab3eb7c204521"/><Relationship Type="http://schemas.openxmlformats.org/officeDocument/2006/relationships/slide" Target="/ppt/slides/slide14.xml" Id="R3a74b04bcb1847d1"/><Relationship Type="http://schemas.openxmlformats.org/officeDocument/2006/relationships/slide" Target="/ppt/slides/slide15.xml" Id="R980741ff0d4e4a55"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26e9f16c5e42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b6097deb354e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97bdcf4e2a498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6c82c9553e4f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5f89e787004b0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6e84e4050f4b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FFB024-F921-463F-8F61-188C82D15A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43BD3E0-0DB7-426E-9B6B-13BCFF7D73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B60B006-8DBC-419D-BCEF-D346986B96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D99AA29-526A-4713-A71A-937F85D0FE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C283D5-C34B-4626-9C00-29E1F238FB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67F3642-2162-4BD0-B47E-56697F58B6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FCC3E6A-B3C2-4A35-A6D9-5A4A6E9CCE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C125E2A-549F-4216-BA30-81D487E8A6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98C7B-2687-4AB0-89EA-E9C30C3942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A68AD9-E15E-4D29-A42A-F3B8B1F6EE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9d1c84d56c4990" /><Relationship Type="http://schemas.openxmlformats.org/officeDocument/2006/relationships/slideLayout" Target="/ppt/slideLayouts/slideLayout1.xml" Id="Rd4f513f29b8849ed" /><Relationship Type="http://schemas.openxmlformats.org/officeDocument/2006/relationships/slideLayout" Target="/ppt/slideLayouts/slideLayout2.xml" Id="R54b59061612248c5" /><Relationship Type="http://schemas.openxmlformats.org/officeDocument/2006/relationships/slideLayout" Target="/ppt/slideLayouts/slideLayout3.xml" Id="R7d40621e9c194f12" /><Relationship Type="http://schemas.openxmlformats.org/officeDocument/2006/relationships/slideLayout" Target="/ppt/slideLayouts/slideLayout4.xml" Id="Rd3d15250dc6c44bb" /><Relationship Type="http://schemas.openxmlformats.org/officeDocument/2006/relationships/slideLayout" Target="/ppt/slideLayouts/slideLayout5.xml" Id="R06fa424e94b74c23" /><Relationship Type="http://schemas.openxmlformats.org/officeDocument/2006/relationships/slideLayout" Target="/ppt/slideLayouts/slideLayout6.xml" Id="R5f46f17475bc44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f513f29b8849ed"/>
    <p:sldLayoutId xmlns:r="http://schemas.openxmlformats.org/officeDocument/2006/relationships" id="2147483650" r:id="R54b59061612248c5"/>
    <p:sldLayoutId xmlns:r="http://schemas.openxmlformats.org/officeDocument/2006/relationships" id="2147483651" r:id="R7d40621e9c194f12"/>
    <p:sldLayoutId xmlns:r="http://schemas.openxmlformats.org/officeDocument/2006/relationships" id="2147483652" r:id="Rd3d15250dc6c44bb"/>
    <p:sldLayoutId xmlns:r="http://schemas.openxmlformats.org/officeDocument/2006/relationships" id="2147483653" r:id="R06fa424e94b74c23"/>
    <p:sldLayoutId xmlns:r="http://schemas.openxmlformats.org/officeDocument/2006/relationships" id="2147483654" r:id="R5f46f17475bc44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5311bc7805546c1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99f53d267c3450f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f57124e1a6842f5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7451e56feee421f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b1d48b934554dd0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b1eae2bfd404510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bc36bc75f2148ed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169fcd0867c480c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d5034ced5824bc0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e6e0579923f46a9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1cef3d86b854c30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738eba39ab04ea8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038c92bd24544cb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e995c9a3ad4432b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9c44b600b5142c8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94C97B-190B-40AA-8C6F-C6067D53E433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C19A15-042D-4424-9FBC-46C3B6CCF8D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18491E-0B99-445F-8ED5-2581B3CE4CF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1522D8-5EE2-497B-83E7-451965EF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775144-47F3-40D7-AF29-28F4DB38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One invoice, from start to finish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87F95-1B6C-42D8-88E1-6560BCED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Follow an illustrative supplier invoice through the payment journey.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A5DD25-8A1F-4EA2-B4D0-DA8D6211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CB865-22B1-4EB1-8CDB-38F57F97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Supplier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0184E-FBA5-40CE-BD28-D3A71163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Sends invoice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E389D-6B5B-4867-A3BE-C4F50034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39F8CF-AA81-4480-A0FA-164CA5D4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C6E8D-1D20-488E-982B-9AA64BB1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Receives bill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0CDF1B-8393-4C61-9F64-EE6BED12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961A63-6834-4A00-A2C1-2BCB51EC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Buyer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16034-CFFC-4E43-A609-6B2624DA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Approves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4E2BC-179D-4794-8192-C793AD2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79948B-84EB-422B-BAD2-5F97CB51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657757-89BC-4946-83C0-203D1296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Created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53632-7595-417F-B257-A0A8067E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102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C8664-831A-446B-BE95-4DBC4148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F24970-32F8-4AF7-9ED5-C5158863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788564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161274-D4BF-45FB-B64B-08D70448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FB296-BB5C-459B-89A3-4D86C6CD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What is an invoice?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D3511-9758-475C-A8CD-192AF615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The supplier sends the buyer a bill for work completed.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BA3EB2-A7E1-4EDD-8F0D-91CD2F04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SUPPLIER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0F827-89BC-4FFE-95DE-A24787E2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289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ABC Plumbing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36EE9-DE20-46AF-B091-72CEE8B1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BUYER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40602-52FB-43AB-954A-C42E4520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Sunrise Housing Association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0AAA3-240E-481D-A563-54D081CF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000375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51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$500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4DE339-1B52-4BDC-8E1B-01C496BB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0576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Pipe repair invoice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97CEAB-4BC3-4665-86C7-85D12147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51540-3467-41B2-B7A4-077BA11E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0182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EEEB1C-84D3-4332-B53D-ABCEB4093AB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381875" y="3857625"/>
            <a:ext cx="19526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DC73EB-1D1A-4185-A719-E8A3C3420FB6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2809875" y="3857625"/>
            <a:ext cx="2381250" cy="6858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6CBCEB-D9DD-4A3F-AC8A-A922CD6F755E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09875" y="3114675"/>
            <a:ext cx="2381250" cy="742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6D0E5-A4DD-44F3-AB19-40771133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C06E0-46CE-499C-9C8E-307EAFAA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How the invoice enters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08C72-0F2B-4E44-AFA9-6EDF0855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information arrives by email or scanned document.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1BB6F-433B-42C4-84CD-3D6D57AB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19375"/>
            <a:ext cx="1952625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F2BE4-186E-4431-BEDA-2A79FF9D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180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Email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620F1-21C0-445A-8E72-ACF06824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1800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Rackspace inbox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3F5773-A6BA-4983-813B-BA14D41D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48125"/>
            <a:ext cx="1952625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015061-8CD6-4CAB-889E-A8C0770E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81475"/>
            <a:ext cx="180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Scan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99E8F6-9978-4EFF-9BA3-F53B6E8A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38675"/>
            <a:ext cx="1800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PDF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963698-90A9-4DA4-91BB-D15B82DD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33750"/>
            <a:ext cx="2190750" cy="10477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025F0-090F-48D4-9BB7-AA80A490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46710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Processing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87226-886E-4BAF-A344-A2C401BB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9243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worker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088C2-D7E3-4BBC-B625-42BD4128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1952625" cy="10477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2712E3-DCBD-4281-91ED-3510BBCC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67100"/>
            <a:ext cx="180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1F1761-492C-4029-85A6-07E6E3D5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924300"/>
            <a:ext cx="1800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record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E8100-6393-43C0-B5E6-52662D0C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3052BB-6B0B-4657-A33F-2A82110E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025110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F5805D-A4BA-47A5-B8A6-F52B3031054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54EA65-65B2-41EB-BB42-D5DE0B2A60E1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D62B7E-2C99-4670-B915-3895A1DF8EA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9B6305-E2D8-4649-8970-5DC5E6BD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9C807-088D-4A15-A8AC-BD2F8CC9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Indexing and approval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0F8BF4-9242-4B06-B938-AD38E94B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An internal team checks details before the buyer reviews the invoice.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C2483-D6E2-4C4C-AF36-8480A589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A64A3-5846-40AE-A2C2-E724658C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Index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8E456-CF5A-481B-810C-6386E41D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Internal team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5B3699-A710-4FBD-973E-45A0F5A5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C1022-7D42-4164-A0C5-E1079685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E4A17A-7D59-4A09-8EFB-298D0A3D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Association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402F4F-C8C4-4C86-A837-2C166D86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B72F76-554A-40BF-903B-20B71184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Approve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7E1B5-1577-4A2F-B1BB-421C771D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Buyer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EAB7B-E42D-4C1C-A327-477169ED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634E9-533F-4C72-8B6D-356589DB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Authorize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571184-BF4F-4514-8FB6-EF661AB8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Ready for payment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B468E-0833-498C-9C09-067C01A2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575549-561A-4300-844C-1123362C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874103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66F0FD-0C48-4BDA-BFD3-03FBF7247BF5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229475" y="3619500"/>
            <a:ext cx="1933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A5E4B-270F-4652-9D3E-C758BE08890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1933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3ACB63-D0E9-4BCE-B8D0-9A9EC0BD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2921F-04FC-413B-A5E3-131AFD44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Generate the payment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3DD15-C5C6-4983-9F35-DD2567DA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 scheduled process creates a payment for an eligible invoice.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7CB02-563F-4862-A70E-E4EB3A7B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BC3A98-2786-4F5A-A8A9-4253D4F3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FB19E-E785-43A0-919F-E56DD0B3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Authorized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CE9478-AAA3-4DC3-8B40-F0FEFDAF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12CE6-A3AC-48A1-98B7-0BACEC46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Scheduled job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3B587-AD3C-497C-9FE6-330D366E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 generation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C8B21-8121-4874-A42C-B4A674D4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6ABC6-F253-46BF-B821-433699CE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4DEC6-F3B6-41F1-ABBA-49C579BD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Record created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7ACFD2-053F-4AD2-882C-1B14BEC0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497E39-A996-401D-A047-2258AF8D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030397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D6277C-9354-4A69-92ED-98FA6478FD6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286125" y="3781425"/>
            <a:ext cx="4524375" cy="5667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563831-C3EF-4421-B133-A57086FEA75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3286125" y="3176588"/>
            <a:ext cx="4524375" cy="6048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7E5F5-7980-4663-9253-08F31079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2B4141-5117-4050-9065-D46F0EE9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Choose the configured 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37A4A-46D9-410D-B637-50EA7A41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Buyer configuration and payment type determine the applicable route.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37032-45DB-49A8-96A4-3A30A10B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09925"/>
            <a:ext cx="228600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1BECC-8079-40AF-B64C-F15E8064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343275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233282-B393-4BE0-8DAA-0AB5DD57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8004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Created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B60E5-1E21-46E9-A009-F7D34436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24150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9CF4D-871B-43ED-AF0E-D47D638E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8ECD73-276F-4D05-92BB-999EF069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1470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Check system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FB961C-041A-4186-941C-507EDF20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95725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19F4AE-108E-4A9C-96BA-60AC613E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290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AvidPay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48F6F-E1E8-44D6-8FBD-437A42EB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8627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 platform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EFF463-B8B8-459D-869D-40C04FBF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C585"/>
                </a:solidFill>
                <a:latin typeface="Arial"/>
                <a:ea typeface="Arial"/>
                <a:cs typeface="Arial"/>
              </a:rPr>
              <a:t>A buyer may have more than one system configured.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EA06E9-FC99-4DB8-9AD7-82F669DD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9B95DC-CDDA-4821-9F54-FBB4ECCB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296223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C3A6FE-CF8F-4B69-B710-646579EB27E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AE24E-3A51-434C-85FA-0B70E36FC785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029B4A-57EB-4D9D-A887-8ADDCFE9096B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BF779-0030-43CB-9FC1-13B0A9DA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291F93-F46A-4C9C-8527-C3FFD272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Route A: StrongRoom custom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7D4A81-0493-4811-BBA9-29BDAC36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Eligible custom-check payments can remain on the StrongRoom path.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A0C75-812E-40A1-B768-B6138EC5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27593-575C-49B2-B356-8AAC4020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E1DBE-34D1-4B02-84C2-429FA8B0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2FA8C-086B-4820-820D-44EA4B16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B27E58-4933-4A0D-A23F-3F743E9C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 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E75DB6-BFF3-4219-AD41-9D8A33BE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Group payments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57E82D-67D6-4B2F-9F27-EC0227A8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EA73B-671A-4AE9-B090-E4C7C778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 files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AD7011-9E0A-47BD-9D98-B4197B24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009D59-AD0C-46E5-942A-AFD9BAC8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636831-2F55-4A06-AC90-305AC401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Printer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88A413-5A6B-44BD-9E66-4C5F6416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External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F20D1-64AE-48B4-B034-BFD17ED0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D47BF7-B87F-4490-A727-15E94E22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422616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FD23E-8B0E-4C6C-B5CA-DE960294C81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1FE03E-2638-4A00-8EB3-1BBE8C57F0C2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6AF4D6-1853-436B-86C1-8BE36584062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E121D4-3C63-434D-A386-C13A0439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FAA6E-155F-4846-9B65-BA5F3E1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Route B: Send to AvidPay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322FB-0B86-4EC1-A2D7-8FD14AB6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StrongRoom sends client-specific payment information to AvidPay.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B5218-FCD1-4364-B8A3-258DA654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B7975-3DFA-4559-97B2-735C14B1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89871E-A557-4F94-BC66-FD77BDEA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7B871-AA53-4B66-A201-FF78705F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F0772-67EE-46A7-B944-FABCBFE6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3F7466-FED7-4547-ADD2-1428185C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By client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73F1ED-7734-4A74-99D5-D940EE17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37C4F-2413-424B-8FAB-0F1CEE3F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XML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7D02EA-E23D-4A63-9DDA-0F48CC66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 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BD7072-39D3-4B23-B7DC-4C177BAB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7FE0E4-4BB8-457D-A14A-860A6F9E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AvidPay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840AF-A670-4AF7-8912-1C3F59DA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 record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592EF9-DFD6-4B16-B6EA-829963D6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721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C585"/>
                </a:solidFill>
                <a:latin typeface="Arial"/>
                <a:ea typeface="Arial"/>
                <a:cs typeface="Arial"/>
              </a:rPr>
              <a:t>The transfer protocol was not confirmed in the recording.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53A42F-3555-4B2F-9D27-162C9E06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16E241-5D49-4658-B8EC-FE84CD8D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283227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0DCDB-34FF-4C8A-8E4B-B1C4D9F00F0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286125" y="3781425"/>
            <a:ext cx="4524375" cy="1152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E8B5D-EA87-4CFF-9A33-F747D462B3C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3286125" y="3762376"/>
            <a:ext cx="4524375" cy="190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1DCEAA-5CD0-4EFA-94BD-4CB6EA6C8BF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3286125" y="2590801"/>
            <a:ext cx="4524375" cy="1190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F35C0-2923-42F0-98A3-A70D101B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CA5AE3-EED5-48B6-B695-CE06A073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What can happen in AvidPay?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15628-2D70-46F8-A552-36E1F4DD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AvidPay handles the payment according to its type and configuration.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C88442-E9E9-4C3A-9E3C-24CE5E00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09925"/>
            <a:ext cx="228600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AE9F-FE8F-4013-8548-21CB26E1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343275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AvidPay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BAE268-5725-43E3-98AA-55A814CF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8004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1DA565-B9FF-4261-A433-50219F25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38363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BA475-AFDE-4714-B032-B06486A5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71713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F24A9F-876A-4AF9-81C0-FE625107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8913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Bank payment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1126A-0A1E-4FA6-B619-131DDAA8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09938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DA960-37E1-4002-B21F-057ECB86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43288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Virtual card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AED0A9-8566-4ED9-9EFE-48522A2C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00488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Card payment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9D43EF-8450-46AD-A9A9-F26B4B47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81513"/>
            <a:ext cx="2667000" cy="904875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6D7716-F2BD-46F6-BA63-80FFA8F5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14863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573143-3D05-4493-8BF7-7F73EB69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072063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Configured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AADB19-9470-4910-9D0F-5ADAB15E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5C8240-B7CD-4AA7-AD77-32D7953D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537608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06F20-2282-4B08-BBA4-BFFEF528D2B5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756074-D649-41BE-8F78-867A37D912C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F747FA-FF54-4865-97C4-38B539DA2C3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F87754-34DB-40E9-BA05-DD19DAFE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6F24C-A4D5-4DDD-8D95-CD3B7B87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The custom-check return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A3E1E-19AC-4BBD-8DEB-4A767F21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Some custom checks return from AvidPay for StrongRoom processing.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564B3-0E4C-4841-BF03-6E63B12E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57092A-610D-4392-A3BF-36A3DB4A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AvidPay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F4ADE7-C835-49CD-9589-0501FF7E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Custom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42DF4-0302-4694-89B0-C91D4F49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3880B-D2A4-43AD-AA32-AB64717B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CSV 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DD46F0-439B-46E8-BCE3-EFB9F341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Return file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61F2F-C700-4EF0-BC93-74798190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812D6-8B87-4F33-BFA2-57F560DC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APN integration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F703F-6A84-49F5-9009-41C9E094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Reads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AE2D87-F1E7-4D8B-A54A-6D3FD381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8743FD-CF8D-480C-B1C7-97EBA523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187D7-C9E4-49E6-B5DC-479B66A2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Updates 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6809AB-8659-479B-A0E5-90C530CC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721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C585"/>
                </a:solidFill>
                <a:latin typeface="Arial"/>
                <a:ea typeface="Arial"/>
                <a:cs typeface="Arial"/>
              </a:rPr>
              <a:t>This applies to the return flow shown, not every CSV.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574DC1-EEAB-4E74-9C29-DCA28101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23DE49-DD35-4F58-8BC0-FC008E98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855865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F6DDE-0A69-4C2A-A57C-6A76B0AAF8C5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3333750" y="3714750"/>
            <a:ext cx="5095875" cy="10858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F9ADE9-D096-4307-A88A-924FE404647A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333750" y="3714750"/>
            <a:ext cx="5095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CB6B4C-C2E5-4D9A-BC95-382758C996D4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333750" y="2628900"/>
            <a:ext cx="5095875" cy="10858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999DCA-6B05-4553-8FCB-64CE6E10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2575F7-C6DD-4165-B8FC-BD07FCE9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What is check batching?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CB1B2-5083-4255-AD14-98153694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Eligible check payments are grouped for an external printer.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E75B3-8C87-405A-AFFA-B9FFC981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143250"/>
            <a:ext cx="228600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EE1439-427D-42BF-A1AD-2953998A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2766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 batch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197F84-5C11-449B-B3C9-8BEFFEA6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7338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Eligible payments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E46D-AFB3-43F0-A73B-1C897D4B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200275"/>
            <a:ext cx="2238375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E00091-D341-40C7-8C37-A337CC69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333625"/>
            <a:ext cx="2085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Plumber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DDA17B-B6FA-4C5A-82B8-861A4038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762250"/>
            <a:ext cx="2085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$500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6D923-6473-4EA2-A57B-F922C235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286125"/>
            <a:ext cx="2238375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8A9388-FE8C-440B-A23D-37B08D3A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419475"/>
            <a:ext cx="2085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Electrician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6715E-99C3-4D66-8073-AD8B86E8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848100"/>
            <a:ext cx="2085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$300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CFA416-25FC-4F19-9721-AC7A5CC6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371975"/>
            <a:ext cx="2238375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25F508-304C-42B0-84E9-5B3126D5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05325"/>
            <a:ext cx="2085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Gardener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F11981-4A77-4BDB-A261-BC3B0C82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933950"/>
            <a:ext cx="2085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$200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6CEC7B-89D4-4996-BB4E-A8DE24B0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E3AC48-755D-4177-8C4A-16FAA99D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628706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C505B-9139-4BB2-B3CD-1EC48D5314F8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96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1A3FA-C1D5-461E-A599-7362796F2857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930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F016D3-C6B1-4D43-B771-89E8F638E635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64A8AB-D180-459C-881F-29B964E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8017E4-B389-40B9-9CDB-F814EBA2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Separate the milestones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0C5573-722A-4640-A58F-3A15BF37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Each handoff has a separate outcome to verify.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576F21-6AC4-4E66-8FB4-602BCC33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CD300-52C9-498A-869E-F92B2BA4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Batch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F6A0B-DEEE-4783-B8AA-922AC4EE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Created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DD047-2414-4CFF-AD3C-151A74A7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6AA16-F7D1-406F-920B-6161BB3E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C156A9-F67E-427A-A06C-64F6C740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Transferred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2381B-7B00-4C29-8BB1-071E10A6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417F63-A0AD-4CAD-A302-4B3CE6A0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Printer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149758-F4B8-48CE-8CD2-1B25CC96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Received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DF5BBF-BBB2-43E0-886E-C15165DC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6EA487-6A77-4064-B406-3AFBD9F4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732F72-5B48-4DBD-B1C9-CC7DA3C0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Processed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936C8-B949-4ACF-B514-13D9F5EE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4C5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C585"/>
                </a:solidFill>
                <a:latin typeface="Arial"/>
                <a:ea typeface="Arial"/>
                <a:cs typeface="Arial"/>
              </a:rPr>
              <a:t>A successful transfer alone does not prove that every check printed.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1D8669-B3B1-4860-ADEA-7B38812E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391B2F-1328-4AA3-8700-BA3E5015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173534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68CF8C-CE2C-4BD4-9A44-AF1D26F61024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229475" y="3619500"/>
            <a:ext cx="1933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B3C032-8CDD-494B-9B6C-98822CE0B121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28950" y="3619500"/>
            <a:ext cx="19335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548604-019C-4E96-9940-BC26A6C8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FF2CE-0F66-4AF8-B2E0-704864C4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Accounting is a separate handoff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26870A-4665-47C3-89B7-78B30425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Accounting integration is a separate handoff to the customer.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2BD1D-A7CA-4296-A7BF-F4612031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3A818-F123-4550-9A65-EDB1899DC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E6C1C-2324-44B7-B593-8F620866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 and payment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B8ABC3-C956-4936-BDF7-DA7406A2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9C58E-3860-4C7B-A2EA-7F77E6DC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CA5C3-0B22-40F6-9D27-1C7F0B2F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Data 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CD94C-A1D8-4BAB-AACD-EAC2484B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2669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F7A07-D123-4D1F-AD9D-7DC6C007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81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Customer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8F60E-E0A4-4EDB-B917-BC594E74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Accounting system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77F44-B021-4DC7-BE23-099B0CCF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560248-2E15-480F-A035-E9097ED7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72999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1FFF4F-B728-451C-A3EA-723248546C72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198769" y="3619500"/>
            <a:ext cx="488156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07DD69-A859-499E-9E94-00F9F49F6EEA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67538" y="3619500"/>
            <a:ext cx="488156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48E7CC-4B77-4699-ADC9-6DDC3C3967E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736306" y="3619500"/>
            <a:ext cx="488157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07D805-2A38-459E-A025-E628366DA8C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505075" y="3619500"/>
            <a:ext cx="488156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70C163-79A4-4B1D-8D72-16382731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D2BAB-65C7-449C-A06A-7775F042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How an SRE traces an issue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898DE-E06B-4F78-B98E-A7EE323D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Find the last successful step, then investigate the next handoff.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9A9B6-F6C4-444A-B2CE-C6399620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1D2A2-D5FD-47FE-A8BB-3F241DBB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70C0F3-0118-461F-936D-843B981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Received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2E0C6-8987-4F13-8D0B-7E64D3D9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231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D6C44F-A40C-4CAA-AF4F-4720460A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431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Approval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AE731-E70A-46E9-9501-1C8DD65F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431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Authorized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2C82C-772D-40E2-923C-19678B0E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4463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5957E4-C781-48FD-B49E-C92C3BCF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663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AB745D-1837-43D7-A33A-AA78C4AE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663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Created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364596-70AC-4B74-87F8-334AE3B1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5694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F8FD20-0DB4-42CE-8081-8AA2B4AA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1894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63B479-CEFD-4BDD-B3F8-2EA434FD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1894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Configured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32DB3D-3DF7-4A48-B551-921210AE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048000"/>
            <a:ext cx="1743075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FC6E2-B3E7-4167-82C9-A5265EBA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181350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Outcome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D49EEB-FE62-48FD-8217-B80AE646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638550"/>
            <a:ext cx="1590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Batch / 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18B459-D82C-4621-BF21-85161BD3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CDF856-E6C7-4B1B-B126-4DA89704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4191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B0273C-3D1C-413E-AE11-562ECC596D30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58215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C2F70E-957E-48BB-8CAA-8F9BF088CABF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3430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E8CF2C-2925-4A8A-B382-BCC3ACE41F1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8645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F8B015-C511-44D3-9DAF-CCB0373350EE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03860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2270C-4939-453E-A907-D53B5AA45C0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190750" y="36195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6FA99E"/>
            </a:solidFill>
            <a:prstDash val="solid"/>
            <a:tailEnd type="triangle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722D68-7403-4F9E-B1E4-7C0A2709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4E4C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4E4CE"/>
                </a:solidFill>
                <a:latin typeface="Arial"/>
                <a:ea typeface="Arial"/>
                <a:cs typeface="Arial"/>
              </a:rPr>
              <a:t>STRONGROOM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2FAEC8-9EBA-45CA-9632-458E9AA5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StrongRoom flow 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243E6-4C6E-43EE-9931-B8FFB8A7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Use the sequence to explain the full journey in your own words.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54230-3EA8-41D1-9FA6-AE01A603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16E7D-8209-4B25-91FB-15BDCCFD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AB2D2-C2BC-47CC-95E5-96C111C4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FD807-35F8-4EF8-98CB-E75D66BA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F0FC5D-407B-4FFE-96EA-0B98DDDC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720EF-2E52-42C3-9C30-3BEEA1F8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Details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46EFD-BE1E-43A8-8B49-2F980633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A6E6A3-9A28-4946-86EE-D77FA35B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Approve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13B5F-92B9-4815-8C35-0EBC0D3D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Buyer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A895D-6300-40B9-806A-1AC90D0A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676202-BB66-4E76-A950-4FBE4159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Create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6A862E-0D83-416C-BFA7-4F74C2C4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Payment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911394-1A84-4543-AC42-AA1B203E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8B6107-65FC-4476-AFAF-C271BBEE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6210F8-18A8-4698-B8A5-B94D7ED6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Process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CF4BDA-2FF7-44AF-8B08-443BC54C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48000"/>
            <a:ext cx="1428750" cy="11430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384C"/>
          </a:solidFill>
          <a:ln xmlns:a="http://schemas.openxmlformats.org/drawingml/2006/main" w="12383">
            <a:solidFill>
              <a:srgbClr val="57809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C49BA8-0517-4488-91E1-F87B06A3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1813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3F7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7FA"/>
                </a:solidFill>
                <a:latin typeface="Arial"/>
                <a:ea typeface="Arial"/>
                <a:cs typeface="Arial"/>
              </a:rPr>
              <a:t>Track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9528D8-9237-4F99-B53F-CD8F7988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Outcome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B19343-C29F-46E4-9E66-6DEB8B96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4E49F4-1487-4A8B-8D9B-BBC5257A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B6CCD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6CCD7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413233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2026-10-27T15:30:36.1530000Z</dcterms:created>
  <dcterms:modified xsi:type="dcterms:W3CDTF">2026-10-27T15:30:36.1530000Z</dcterms:modified>
</coreProperties>
</file>