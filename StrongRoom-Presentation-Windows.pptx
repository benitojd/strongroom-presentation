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7.xml" ContentType="application/vnd.openxmlformats-officedocument.them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lang="en-IN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4442F7E-0999-4F01-BCD4-4DB6BFF982FB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One 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533520"/>
            <a:ext cx="1082016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>
              <a:lnSpc>
                <a:spcPct val="90000"/>
              </a:lnSpc>
              <a:buNone/>
              <a:defRPr lang="en-IN" sz="33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IN" sz="33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IN" sz="33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1905120"/>
            <a:ext cx="5028840" cy="426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IN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IN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IN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IN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IN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IN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IN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19320" y="2857680"/>
            <a:ext cx="975312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>
              <a:lnSpc>
                <a:spcPct val="90000"/>
              </a:lnSpc>
              <a:buNone/>
              <a:defRPr lang="en-IN" sz="4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IN" sz="4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IN" sz="4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90000"/>
              </a:lnSpc>
              <a:buNone/>
              <a:defRPr lang="en-IN" sz="4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IN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IN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533520"/>
            <a:ext cx="1082016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>
              <a:lnSpc>
                <a:spcPct val="90000"/>
              </a:lnSpc>
              <a:buNone/>
              <a:defRPr lang="en-IN" sz="33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IN" sz="33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IN" sz="33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85800" y="1905120"/>
            <a:ext cx="10820160" cy="426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IN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IN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IN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IN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IN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IN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2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IN" sz="22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wo 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533520"/>
            <a:ext cx="1082016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>
              <a:lnSpc>
                <a:spcPct val="90000"/>
              </a:lnSpc>
              <a:buNone/>
              <a:defRPr lang="en-IN" sz="33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IN" sz="33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IN" sz="33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85800" y="1905120"/>
            <a:ext cx="5028840" cy="426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IN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IN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IN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IN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IN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IN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IN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477120" y="1905120"/>
            <a:ext cx="5028840" cy="426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IN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IN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IN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IN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IN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IN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IN" sz="2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219320" y="2590920"/>
            <a:ext cx="9753120" cy="99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>
              <a:lnSpc>
                <a:spcPct val="90000"/>
              </a:lnSpc>
              <a:buNone/>
              <a:defRPr lang="en-IN" sz="4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IN" sz="4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IN" sz="4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"/>
          <p:cNvCxnSpPr>
            <a:stCxn id="20" idx="3"/>
            <a:endCxn id="21" idx="1"/>
          </p:cNvCxnSpPr>
          <p:nvPr/>
        </p:nvCxnSpPr>
        <p:spPr>
          <a:xfrm>
            <a:off x="8629200" y="3619440"/>
            <a:ext cx="53424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22" name=""/>
          <p:cNvCxnSpPr>
            <a:stCxn id="23" idx="3"/>
            <a:endCxn id="20" idx="1"/>
          </p:cNvCxnSpPr>
          <p:nvPr/>
        </p:nvCxnSpPr>
        <p:spPr>
          <a:xfrm>
            <a:off x="5828760" y="3619440"/>
            <a:ext cx="53424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24" name=""/>
          <p:cNvCxnSpPr>
            <a:stCxn id="25" idx="3"/>
            <a:endCxn id="23" idx="1"/>
          </p:cNvCxnSpPr>
          <p:nvPr/>
        </p:nvCxnSpPr>
        <p:spPr>
          <a:xfrm>
            <a:off x="3028680" y="3619440"/>
            <a:ext cx="53388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sp>
        <p:nvSpPr>
          <p:cNvPr id="26" name=""/>
          <p:cNvSpPr/>
          <p:nvPr/>
        </p:nvSpPr>
        <p:spPr>
          <a:xfrm>
            <a:off x="704880" y="46656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280" b="1" u="none" strike="noStrike">
                <a:solidFill>
                  <a:srgbClr val="64E4CE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704880" y="819000"/>
            <a:ext cx="10667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33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One invoice, from start to finish</a:t>
            </a:r>
            <a:endParaRPr lang="en-IN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704880" y="152388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95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Follow an illustrative supplier invoice through the payment journey.</a:t>
            </a:r>
            <a:endParaRPr lang="en-IN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76212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83808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Supplier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83808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Sends invoice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356220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363852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363852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Receives bill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636264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643896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Buyer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643896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Approves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916308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923940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Payment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923940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Created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800280" y="5810400"/>
            <a:ext cx="102866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IN" sz="1650" b="0" u="none" strike="noStrike">
              <a:solidFill>
                <a:srgbClr val="F4C585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704880" y="633420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IN" sz="1280" b="0" u="none" strike="noStrike">
              <a:solidFill>
                <a:srgbClr val="B6CCD7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1001240" y="6286680"/>
            <a:ext cx="475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en-IN" sz="128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>
            <a:off x="704880" y="46656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280" b="1" u="none" strike="noStrike">
                <a:solidFill>
                  <a:srgbClr val="64E4CE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704880" y="819000"/>
            <a:ext cx="10667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33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What is an invoice?</a:t>
            </a:r>
            <a:endParaRPr lang="en-IN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704880" y="152388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95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The supplier sends the buyer a bill for work completed.</a:t>
            </a:r>
            <a:endParaRPr lang="en-IN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028880" y="2647800"/>
            <a:ext cx="43812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500" b="1" u="none" strike="noStrike">
                <a:solidFill>
                  <a:srgbClr val="64E4CE"/>
                </a:solidFill>
                <a:effectLst/>
                <a:uFillTx/>
                <a:latin typeface="Arial"/>
                <a:ea typeface="Arial"/>
              </a:rPr>
              <a:t>SUPPLIER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1028880" y="3029040"/>
            <a:ext cx="438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24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ABC Plumbing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028880" y="3924360"/>
            <a:ext cx="43812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500" b="1" u="none" strike="noStrike">
                <a:solidFill>
                  <a:srgbClr val="64E4CE"/>
                </a:solidFill>
                <a:effectLst/>
                <a:uFillTx/>
                <a:latin typeface="Arial"/>
                <a:ea typeface="Arial"/>
              </a:rPr>
              <a:t>BUYER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028880" y="4305240"/>
            <a:ext cx="4667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225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Sunrise Housing Association</a:t>
            </a:r>
            <a:endParaRPr lang="en-IN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7601040" y="3000240"/>
            <a:ext cx="33332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51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$500</a:t>
            </a:r>
            <a:endParaRPr lang="en-IN" sz="5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7629480" y="4057560"/>
            <a:ext cx="30477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Pipe repair invoice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704880" y="633420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IN" sz="1280" b="0" u="none" strike="noStrike">
              <a:solidFill>
                <a:srgbClr val="B6CCD7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1001240" y="6286680"/>
            <a:ext cx="475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en-IN" sz="128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"/>
          <p:cNvCxnSpPr>
            <a:stCxn id="52" idx="3"/>
            <a:endCxn id="53" idx="1"/>
          </p:cNvCxnSpPr>
          <p:nvPr/>
        </p:nvCxnSpPr>
        <p:spPr>
          <a:xfrm>
            <a:off x="7381440" y="3857400"/>
            <a:ext cx="195336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54" name=""/>
          <p:cNvCxnSpPr>
            <a:stCxn id="55" idx="3"/>
            <a:endCxn id="52" idx="1"/>
          </p:cNvCxnSpPr>
          <p:nvPr/>
        </p:nvCxnSpPr>
        <p:spPr>
          <a:xfrm flipV="1">
            <a:off x="2809440" y="3857400"/>
            <a:ext cx="2382120" cy="686520"/>
          </a:xfrm>
          <a:prstGeom prst="bentConnector3">
            <a:avLst>
              <a:gd name="adj1" fmla="val 50000"/>
            </a:avLst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56" name=""/>
          <p:cNvCxnSpPr>
            <a:stCxn id="57" idx="3"/>
            <a:endCxn id="52" idx="1"/>
          </p:cNvCxnSpPr>
          <p:nvPr/>
        </p:nvCxnSpPr>
        <p:spPr>
          <a:xfrm>
            <a:off x="2809440" y="3114720"/>
            <a:ext cx="2382120" cy="743040"/>
          </a:xfrm>
          <a:prstGeom prst="bentConnector3">
            <a:avLst>
              <a:gd name="adj1" fmla="val 50000"/>
            </a:avLst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sp>
        <p:nvSpPr>
          <p:cNvPr id="58" name=""/>
          <p:cNvSpPr/>
          <p:nvPr/>
        </p:nvSpPr>
        <p:spPr>
          <a:xfrm>
            <a:off x="704880" y="46656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280" b="1" u="none" strike="noStrike">
                <a:solidFill>
                  <a:srgbClr val="64E4CE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704880" y="819000"/>
            <a:ext cx="10667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33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How the invoice enters</a:t>
            </a:r>
            <a:endParaRPr lang="en-IN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704880" y="152388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95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Invoice information arrives by email or scanned document.</a:t>
            </a:r>
            <a:endParaRPr lang="en-IN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857160" y="2619360"/>
            <a:ext cx="1952280" cy="990360"/>
          </a:xfrm>
          <a:prstGeom prst="roundRect">
            <a:avLst>
              <a:gd name="adj" fmla="val 9615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933480" y="2752560"/>
            <a:ext cx="1800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Email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933480" y="3209760"/>
            <a:ext cx="1800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Rackspace inbox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857160" y="4048200"/>
            <a:ext cx="1952280" cy="990360"/>
          </a:xfrm>
          <a:prstGeom prst="roundRect">
            <a:avLst>
              <a:gd name="adj" fmla="val 9615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933480" y="4181400"/>
            <a:ext cx="1800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Scan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933480" y="4638600"/>
            <a:ext cx="1800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Invoice PDF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191200" y="3333600"/>
            <a:ext cx="2190240" cy="1047240"/>
          </a:xfrm>
          <a:prstGeom prst="roundRect">
            <a:avLst>
              <a:gd name="adj" fmla="val 9091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5267160" y="3467160"/>
            <a:ext cx="20379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Processing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5267160" y="3924360"/>
            <a:ext cx="20379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Invoice worker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9334440" y="3333600"/>
            <a:ext cx="1952280" cy="1047240"/>
          </a:xfrm>
          <a:prstGeom prst="roundRect">
            <a:avLst>
              <a:gd name="adj" fmla="val 9091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9410760" y="3467160"/>
            <a:ext cx="1800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9410760" y="3924360"/>
            <a:ext cx="1800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Invoice record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704880" y="633420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IN" sz="1280" b="0" u="none" strike="noStrike">
              <a:solidFill>
                <a:srgbClr val="B6CCD7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1001240" y="6286680"/>
            <a:ext cx="475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en-IN" sz="128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"/>
          <p:cNvCxnSpPr>
            <a:stCxn id="72" idx="3"/>
            <a:endCxn id="73" idx="1"/>
          </p:cNvCxnSpPr>
          <p:nvPr/>
        </p:nvCxnSpPr>
        <p:spPr>
          <a:xfrm>
            <a:off x="8629200" y="3619440"/>
            <a:ext cx="53424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74" name=""/>
          <p:cNvCxnSpPr>
            <a:stCxn id="75" idx="3"/>
            <a:endCxn id="72" idx="1"/>
          </p:cNvCxnSpPr>
          <p:nvPr/>
        </p:nvCxnSpPr>
        <p:spPr>
          <a:xfrm>
            <a:off x="5828760" y="3619440"/>
            <a:ext cx="53424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76" name=""/>
          <p:cNvCxnSpPr>
            <a:stCxn id="77" idx="3"/>
            <a:endCxn id="75" idx="1"/>
          </p:cNvCxnSpPr>
          <p:nvPr/>
        </p:nvCxnSpPr>
        <p:spPr>
          <a:xfrm>
            <a:off x="3028680" y="3619440"/>
            <a:ext cx="53388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sp>
        <p:nvSpPr>
          <p:cNvPr id="78" name=""/>
          <p:cNvSpPr/>
          <p:nvPr/>
        </p:nvSpPr>
        <p:spPr>
          <a:xfrm>
            <a:off x="704880" y="46656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280" b="1" u="none" strike="noStrike">
                <a:solidFill>
                  <a:srgbClr val="64E4CE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704880" y="819000"/>
            <a:ext cx="10667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33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Indexing and approval</a:t>
            </a:r>
            <a:endParaRPr lang="en-IN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704880" y="152388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95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An internal team checks details before the buyer reviews the invoice.</a:t>
            </a:r>
            <a:endParaRPr lang="en-IN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76212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83808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Index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83808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Internal team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356220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363852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Review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363852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Association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636264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43896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Approve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43896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Buyer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916308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923940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Authorize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923940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Ready for payment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704880" y="633420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IN" sz="1280" b="0" u="none" strike="noStrike">
              <a:solidFill>
                <a:srgbClr val="B6CCD7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1001240" y="6286680"/>
            <a:ext cx="475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en-IN" sz="128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"/>
          <p:cNvCxnSpPr>
            <a:stCxn id="92" idx="3"/>
            <a:endCxn id="93" idx="1"/>
          </p:cNvCxnSpPr>
          <p:nvPr/>
        </p:nvCxnSpPr>
        <p:spPr>
          <a:xfrm>
            <a:off x="7229160" y="3619440"/>
            <a:ext cx="193428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94" name=""/>
          <p:cNvCxnSpPr>
            <a:stCxn id="95" idx="3"/>
            <a:endCxn id="92" idx="1"/>
          </p:cNvCxnSpPr>
          <p:nvPr/>
        </p:nvCxnSpPr>
        <p:spPr>
          <a:xfrm>
            <a:off x="3028680" y="3619440"/>
            <a:ext cx="193428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sp>
        <p:nvSpPr>
          <p:cNvPr id="96" name=""/>
          <p:cNvSpPr/>
          <p:nvPr/>
        </p:nvSpPr>
        <p:spPr>
          <a:xfrm>
            <a:off x="704880" y="46656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280" b="1" u="none" strike="noStrike">
                <a:solidFill>
                  <a:srgbClr val="64E4CE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704880" y="819000"/>
            <a:ext cx="10667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33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Generate the payment</a:t>
            </a:r>
            <a:endParaRPr lang="en-IN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704880" y="152388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95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A scheduled process creates a payment for an eligible invoice.</a:t>
            </a:r>
            <a:endParaRPr lang="en-IN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76212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83808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Invoice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83808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Authorized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496260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503856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Scheduled job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503856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Payment generation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916308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923940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Payment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923940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Record created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704880" y="633420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IN" sz="1280" b="0" u="none" strike="noStrike">
              <a:solidFill>
                <a:srgbClr val="B6CCD7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11001240" y="6286680"/>
            <a:ext cx="475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en-IN" sz="128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"/>
          <p:cNvCxnSpPr>
            <a:stCxn id="108" idx="3"/>
            <a:endCxn id="109" idx="1"/>
          </p:cNvCxnSpPr>
          <p:nvPr/>
        </p:nvCxnSpPr>
        <p:spPr>
          <a:xfrm>
            <a:off x="3285720" y="3781080"/>
            <a:ext cx="4525200" cy="567360"/>
          </a:xfrm>
          <a:prstGeom prst="bentConnector3">
            <a:avLst>
              <a:gd name="adj1" fmla="val 50003"/>
            </a:avLst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110" name=""/>
          <p:cNvCxnSpPr>
            <a:stCxn id="108" idx="3"/>
            <a:endCxn id="111" idx="1"/>
          </p:cNvCxnSpPr>
          <p:nvPr/>
        </p:nvCxnSpPr>
        <p:spPr>
          <a:xfrm flipV="1">
            <a:off x="3285720" y="3176640"/>
            <a:ext cx="4525200" cy="604800"/>
          </a:xfrm>
          <a:prstGeom prst="bentConnector3">
            <a:avLst>
              <a:gd name="adj1" fmla="val 50003"/>
            </a:avLst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sp>
        <p:nvSpPr>
          <p:cNvPr id="112" name=""/>
          <p:cNvSpPr/>
          <p:nvPr/>
        </p:nvSpPr>
        <p:spPr>
          <a:xfrm>
            <a:off x="704880" y="46656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280" b="1" u="none" strike="noStrike">
                <a:solidFill>
                  <a:srgbClr val="64E4CE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704880" y="819000"/>
            <a:ext cx="10667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33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Choose the configured route</a:t>
            </a:r>
            <a:endParaRPr lang="en-IN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704880" y="152388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95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Buyer configuration and payment type determine the applicable route.</a:t>
            </a:r>
            <a:endParaRPr lang="en-IN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1000080" y="3209760"/>
            <a:ext cx="228564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1076400" y="3343320"/>
            <a:ext cx="2133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Payment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1076400" y="3800520"/>
            <a:ext cx="2133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Created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7810560" y="2724120"/>
            <a:ext cx="2666520" cy="904680"/>
          </a:xfrm>
          <a:prstGeom prst="roundRect">
            <a:avLst>
              <a:gd name="adj" fmla="val 10526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7886880" y="2857680"/>
            <a:ext cx="25142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7886880" y="3314880"/>
            <a:ext cx="2514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Check system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7810560" y="3895560"/>
            <a:ext cx="2666520" cy="904680"/>
          </a:xfrm>
          <a:prstGeom prst="roundRect">
            <a:avLst>
              <a:gd name="adj" fmla="val 10526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7886880" y="4029120"/>
            <a:ext cx="25142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AvidPay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7886880" y="4486320"/>
            <a:ext cx="2514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Payment platform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762120" y="5810400"/>
            <a:ext cx="100008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F4C585"/>
                </a:solidFill>
                <a:effectLst/>
                <a:uFillTx/>
                <a:latin typeface="Arial"/>
                <a:ea typeface="Arial"/>
              </a:rPr>
              <a:t>A buyer may have more than one system configured.</a:t>
            </a:r>
            <a:endParaRPr lang="en-IN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704880" y="633420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IN" sz="1280" b="0" u="none" strike="noStrike">
              <a:solidFill>
                <a:srgbClr val="B6CCD7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11001240" y="6286680"/>
            <a:ext cx="475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en-IN" sz="128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"/>
          <p:cNvCxnSpPr>
            <a:stCxn id="125" idx="3"/>
            <a:endCxn id="126" idx="1"/>
          </p:cNvCxnSpPr>
          <p:nvPr/>
        </p:nvCxnSpPr>
        <p:spPr>
          <a:xfrm>
            <a:off x="8629200" y="3619440"/>
            <a:ext cx="53424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127" name=""/>
          <p:cNvCxnSpPr>
            <a:stCxn id="128" idx="3"/>
            <a:endCxn id="125" idx="1"/>
          </p:cNvCxnSpPr>
          <p:nvPr/>
        </p:nvCxnSpPr>
        <p:spPr>
          <a:xfrm>
            <a:off x="5828760" y="3619440"/>
            <a:ext cx="53424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129" name=""/>
          <p:cNvCxnSpPr>
            <a:stCxn id="130" idx="3"/>
            <a:endCxn id="128" idx="1"/>
          </p:cNvCxnSpPr>
          <p:nvPr/>
        </p:nvCxnSpPr>
        <p:spPr>
          <a:xfrm>
            <a:off x="3028680" y="3619440"/>
            <a:ext cx="53388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sp>
        <p:nvSpPr>
          <p:cNvPr id="131" name=""/>
          <p:cNvSpPr/>
          <p:nvPr/>
        </p:nvSpPr>
        <p:spPr>
          <a:xfrm>
            <a:off x="704880" y="46656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280" b="1" u="none" strike="noStrike">
                <a:solidFill>
                  <a:srgbClr val="64E4CE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704880" y="819000"/>
            <a:ext cx="10667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33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Route A: StrongRoom custom check</a:t>
            </a:r>
            <a:endParaRPr lang="en-IN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704880" y="152388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95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Eligible custom-check payments can remain on the StrongRoom path.</a:t>
            </a:r>
            <a:endParaRPr lang="en-IN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76212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83808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Payment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83808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356220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363852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Check batch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363852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Group payments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636264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643896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Check files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643896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Prepare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916308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923940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Printer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923940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External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704880" y="633420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IN" sz="1280" b="0" u="none" strike="noStrike">
              <a:solidFill>
                <a:srgbClr val="B6CCD7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11001240" y="6286680"/>
            <a:ext cx="475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en-IN" sz="128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"/>
          <p:cNvCxnSpPr>
            <a:stCxn id="145" idx="3"/>
            <a:endCxn id="146" idx="1"/>
          </p:cNvCxnSpPr>
          <p:nvPr/>
        </p:nvCxnSpPr>
        <p:spPr>
          <a:xfrm>
            <a:off x="8629200" y="3619440"/>
            <a:ext cx="53424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147" name=""/>
          <p:cNvCxnSpPr>
            <a:stCxn id="148" idx="3"/>
            <a:endCxn id="145" idx="1"/>
          </p:cNvCxnSpPr>
          <p:nvPr/>
        </p:nvCxnSpPr>
        <p:spPr>
          <a:xfrm>
            <a:off x="5828760" y="3619440"/>
            <a:ext cx="53424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149" name=""/>
          <p:cNvCxnSpPr>
            <a:stCxn id="150" idx="3"/>
            <a:endCxn id="148" idx="1"/>
          </p:cNvCxnSpPr>
          <p:nvPr/>
        </p:nvCxnSpPr>
        <p:spPr>
          <a:xfrm>
            <a:off x="3028680" y="3619440"/>
            <a:ext cx="53388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sp>
        <p:nvSpPr>
          <p:cNvPr id="151" name=""/>
          <p:cNvSpPr/>
          <p:nvPr/>
        </p:nvSpPr>
        <p:spPr>
          <a:xfrm>
            <a:off x="704880" y="46656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280" b="1" u="none" strike="noStrike">
                <a:solidFill>
                  <a:srgbClr val="64E4CE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704880" y="819000"/>
            <a:ext cx="10667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33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Route B: Send to AvidPay</a:t>
            </a:r>
            <a:endParaRPr lang="en-IN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704880" y="152388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95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StrongRoom sends client-specific payment information to AvidPay.</a:t>
            </a:r>
            <a:endParaRPr lang="en-IN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76212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83808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Payment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83808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356220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363852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Batch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363852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By client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636264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43896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XML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643896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Payment data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916308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923940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AvidPay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923940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Payment record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762120" y="5772240"/>
            <a:ext cx="10477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F4C585"/>
                </a:solidFill>
                <a:effectLst/>
                <a:uFillTx/>
                <a:latin typeface="Arial"/>
                <a:ea typeface="Arial"/>
              </a:rPr>
              <a:t>The transfer protocol was not confirmed in the recording.</a:t>
            </a:r>
            <a:endParaRPr lang="en-IN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704880" y="633420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IN" sz="1280" b="0" u="none" strike="noStrike">
              <a:solidFill>
                <a:srgbClr val="B6CCD7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11001240" y="6286680"/>
            <a:ext cx="475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en-IN" sz="128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"/>
          <p:cNvCxnSpPr>
            <a:stCxn id="166" idx="3"/>
            <a:endCxn id="167" idx="1"/>
          </p:cNvCxnSpPr>
          <p:nvPr/>
        </p:nvCxnSpPr>
        <p:spPr>
          <a:xfrm>
            <a:off x="3285720" y="3781080"/>
            <a:ext cx="4525200" cy="1153440"/>
          </a:xfrm>
          <a:prstGeom prst="bentConnector3">
            <a:avLst>
              <a:gd name="adj1" fmla="val 50003"/>
            </a:avLst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168" name=""/>
          <p:cNvCxnSpPr>
            <a:stCxn id="166" idx="3"/>
            <a:endCxn id="169" idx="1"/>
          </p:cNvCxnSpPr>
          <p:nvPr/>
        </p:nvCxnSpPr>
        <p:spPr>
          <a:xfrm flipV="1">
            <a:off x="3285720" y="3762360"/>
            <a:ext cx="4525200" cy="19080"/>
          </a:xfrm>
          <a:prstGeom prst="bentConnector3">
            <a:avLst>
              <a:gd name="adj1" fmla="val 50003"/>
            </a:avLst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170" name=""/>
          <p:cNvCxnSpPr>
            <a:stCxn id="166" idx="3"/>
            <a:endCxn id="171" idx="1"/>
          </p:cNvCxnSpPr>
          <p:nvPr/>
        </p:nvCxnSpPr>
        <p:spPr>
          <a:xfrm flipV="1">
            <a:off x="3285720" y="2590920"/>
            <a:ext cx="4525200" cy="1190520"/>
          </a:xfrm>
          <a:prstGeom prst="bentConnector3">
            <a:avLst>
              <a:gd name="adj1" fmla="val 50003"/>
            </a:avLst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sp>
        <p:nvSpPr>
          <p:cNvPr id="172" name=""/>
          <p:cNvSpPr/>
          <p:nvPr/>
        </p:nvSpPr>
        <p:spPr>
          <a:xfrm>
            <a:off x="704880" y="46656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280" b="1" u="none" strike="noStrike">
                <a:solidFill>
                  <a:srgbClr val="64E4CE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704880" y="819000"/>
            <a:ext cx="10667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33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What can happen in AvidPay?</a:t>
            </a:r>
            <a:endParaRPr lang="en-IN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704880" y="152388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95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AvidPay handles the payment according to its type and configuration.</a:t>
            </a:r>
            <a:endParaRPr lang="en-IN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1000080" y="3209760"/>
            <a:ext cx="228564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1076400" y="3343320"/>
            <a:ext cx="2133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AvidPay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1076400" y="3800520"/>
            <a:ext cx="2133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Payment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7810560" y="2138400"/>
            <a:ext cx="2666520" cy="904680"/>
          </a:xfrm>
          <a:prstGeom prst="roundRect">
            <a:avLst>
              <a:gd name="adj" fmla="val 10526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7886880" y="2271600"/>
            <a:ext cx="25142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ACH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7886880" y="2728800"/>
            <a:ext cx="2514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Bank payment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7810560" y="3309840"/>
            <a:ext cx="2666520" cy="904680"/>
          </a:xfrm>
          <a:prstGeom prst="roundRect">
            <a:avLst>
              <a:gd name="adj" fmla="val 10526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7886880" y="3443400"/>
            <a:ext cx="25142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Virtual card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7886880" y="3900600"/>
            <a:ext cx="2514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Card payment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7810560" y="4481640"/>
            <a:ext cx="2666520" cy="904680"/>
          </a:xfrm>
          <a:prstGeom prst="roundRect">
            <a:avLst>
              <a:gd name="adj" fmla="val 10526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7886880" y="4614840"/>
            <a:ext cx="25142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Check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7886880" y="5072040"/>
            <a:ext cx="2514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Configured path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704880" y="633420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IN" sz="1280" b="0" u="none" strike="noStrike">
              <a:solidFill>
                <a:srgbClr val="B6CCD7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11001240" y="6286680"/>
            <a:ext cx="475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en-IN" sz="128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"/>
          <p:cNvCxnSpPr>
            <a:stCxn id="186" idx="3"/>
            <a:endCxn id="187" idx="1"/>
          </p:cNvCxnSpPr>
          <p:nvPr/>
        </p:nvCxnSpPr>
        <p:spPr>
          <a:xfrm>
            <a:off x="8629200" y="3619440"/>
            <a:ext cx="53424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188" name=""/>
          <p:cNvCxnSpPr>
            <a:stCxn id="189" idx="3"/>
            <a:endCxn id="186" idx="1"/>
          </p:cNvCxnSpPr>
          <p:nvPr/>
        </p:nvCxnSpPr>
        <p:spPr>
          <a:xfrm>
            <a:off x="5828760" y="3619440"/>
            <a:ext cx="53424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190" name=""/>
          <p:cNvCxnSpPr>
            <a:stCxn id="191" idx="3"/>
            <a:endCxn id="189" idx="1"/>
          </p:cNvCxnSpPr>
          <p:nvPr/>
        </p:nvCxnSpPr>
        <p:spPr>
          <a:xfrm>
            <a:off x="3028680" y="3619440"/>
            <a:ext cx="53388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sp>
        <p:nvSpPr>
          <p:cNvPr id="192" name=""/>
          <p:cNvSpPr/>
          <p:nvPr/>
        </p:nvSpPr>
        <p:spPr>
          <a:xfrm>
            <a:off x="704880" y="46656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280" b="1" u="none" strike="noStrike">
                <a:solidFill>
                  <a:srgbClr val="64E4CE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704880" y="819000"/>
            <a:ext cx="10667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33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The custom-check return</a:t>
            </a:r>
            <a:endParaRPr lang="en-IN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704880" y="152388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95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Some custom checks return from AvidPay for StrongRoom processing.</a:t>
            </a:r>
            <a:endParaRPr lang="en-IN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76212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83808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AvidPay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83808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Custom check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356220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363852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CSV file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363852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Return file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36264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643896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APN integration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643896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Reads file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916308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923940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923940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Updates status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762120" y="5772240"/>
            <a:ext cx="104770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F4C585"/>
                </a:solidFill>
                <a:effectLst/>
                <a:uFillTx/>
                <a:latin typeface="Arial"/>
                <a:ea typeface="Arial"/>
              </a:rPr>
              <a:t>This applies to the return flow shown, not every CSV.</a:t>
            </a:r>
            <a:endParaRPr lang="en-IN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704880" y="633420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IN" sz="1280" b="0" u="none" strike="noStrike">
              <a:solidFill>
                <a:srgbClr val="B6CCD7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11001240" y="6286680"/>
            <a:ext cx="475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en-IN" sz="128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"/>
          <p:cNvCxnSpPr>
            <a:stCxn id="207" idx="3"/>
            <a:endCxn id="208" idx="1"/>
          </p:cNvCxnSpPr>
          <p:nvPr/>
        </p:nvCxnSpPr>
        <p:spPr>
          <a:xfrm flipV="1">
            <a:off x="3333600" y="3714480"/>
            <a:ext cx="5096520" cy="1086120"/>
          </a:xfrm>
          <a:prstGeom prst="bentConnector3">
            <a:avLst>
              <a:gd name="adj1" fmla="val 50000"/>
            </a:avLst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209" name=""/>
          <p:cNvCxnSpPr>
            <a:stCxn id="210" idx="3"/>
            <a:endCxn id="208" idx="1"/>
          </p:cNvCxnSpPr>
          <p:nvPr/>
        </p:nvCxnSpPr>
        <p:spPr>
          <a:xfrm>
            <a:off x="3333600" y="3714480"/>
            <a:ext cx="509652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211" name=""/>
          <p:cNvCxnSpPr>
            <a:stCxn id="212" idx="3"/>
            <a:endCxn id="208" idx="1"/>
          </p:cNvCxnSpPr>
          <p:nvPr/>
        </p:nvCxnSpPr>
        <p:spPr>
          <a:xfrm>
            <a:off x="3333600" y="2628720"/>
            <a:ext cx="5096520" cy="1086120"/>
          </a:xfrm>
          <a:prstGeom prst="bentConnector3">
            <a:avLst>
              <a:gd name="adj1" fmla="val 50000"/>
            </a:avLst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sp>
        <p:nvSpPr>
          <p:cNvPr id="213" name=""/>
          <p:cNvSpPr/>
          <p:nvPr/>
        </p:nvSpPr>
        <p:spPr>
          <a:xfrm>
            <a:off x="704880" y="46656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280" b="1" u="none" strike="noStrike">
                <a:solidFill>
                  <a:srgbClr val="64E4CE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704880" y="819000"/>
            <a:ext cx="10667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33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What is check batching?</a:t>
            </a:r>
            <a:endParaRPr lang="en-IN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704880" y="152388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95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Eligible check payments are grouped for an external printer.</a:t>
            </a:r>
            <a:endParaRPr lang="en-IN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8429760" y="3143160"/>
            <a:ext cx="228564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8505720" y="3276720"/>
            <a:ext cx="21333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Check batch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8505720" y="3733920"/>
            <a:ext cx="2133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Eligible payments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1095480" y="2200320"/>
            <a:ext cx="2238120" cy="856800"/>
          </a:xfrm>
          <a:prstGeom prst="roundRect">
            <a:avLst>
              <a:gd name="adj" fmla="val 11111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1171440" y="2333520"/>
            <a:ext cx="20854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Plumber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1171440" y="2762280"/>
            <a:ext cx="2085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$500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1095480" y="3286080"/>
            <a:ext cx="2238120" cy="856800"/>
          </a:xfrm>
          <a:prstGeom prst="roundRect">
            <a:avLst>
              <a:gd name="adj" fmla="val 11111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1171440" y="3419640"/>
            <a:ext cx="20854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Electrician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1171440" y="3848040"/>
            <a:ext cx="2085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$300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1095480" y="4371840"/>
            <a:ext cx="2238120" cy="856800"/>
          </a:xfrm>
          <a:prstGeom prst="roundRect">
            <a:avLst>
              <a:gd name="adj" fmla="val 11111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1171440" y="4505400"/>
            <a:ext cx="20854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Gardener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1171440" y="4933800"/>
            <a:ext cx="2085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$200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704880" y="633420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IN" sz="1280" b="0" u="none" strike="noStrike">
              <a:solidFill>
                <a:srgbClr val="B6CCD7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11001240" y="6286680"/>
            <a:ext cx="475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en-IN" sz="128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6" name=""/>
          <p:cNvCxnSpPr>
            <a:stCxn id="227" idx="3"/>
            <a:endCxn id="228" idx="1"/>
          </p:cNvCxnSpPr>
          <p:nvPr/>
        </p:nvCxnSpPr>
        <p:spPr>
          <a:xfrm>
            <a:off x="8629200" y="3619440"/>
            <a:ext cx="53424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229" name=""/>
          <p:cNvCxnSpPr>
            <a:stCxn id="230" idx="3"/>
            <a:endCxn id="227" idx="1"/>
          </p:cNvCxnSpPr>
          <p:nvPr/>
        </p:nvCxnSpPr>
        <p:spPr>
          <a:xfrm>
            <a:off x="5828760" y="3619440"/>
            <a:ext cx="53424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231" name=""/>
          <p:cNvCxnSpPr>
            <a:stCxn id="232" idx="3"/>
            <a:endCxn id="230" idx="1"/>
          </p:cNvCxnSpPr>
          <p:nvPr/>
        </p:nvCxnSpPr>
        <p:spPr>
          <a:xfrm>
            <a:off x="3028680" y="3619440"/>
            <a:ext cx="53388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sp>
        <p:nvSpPr>
          <p:cNvPr id="233" name=""/>
          <p:cNvSpPr/>
          <p:nvPr/>
        </p:nvSpPr>
        <p:spPr>
          <a:xfrm>
            <a:off x="704880" y="46656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280" b="1" u="none" strike="noStrike">
                <a:solidFill>
                  <a:srgbClr val="64E4CE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704880" y="819000"/>
            <a:ext cx="10667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33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Separate the milestones</a:t>
            </a:r>
            <a:endParaRPr lang="en-IN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704880" y="152388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95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Each handoff has a separate outcome to verify.</a:t>
            </a:r>
            <a:endParaRPr lang="en-IN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76212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83808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Batch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83808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Created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356220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363852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Files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363852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Transferred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636264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643896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Printer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643896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Received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916308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923940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Checks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923940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Processed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762120" y="5762520"/>
            <a:ext cx="106675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650" b="0" u="none" strike="noStrike">
                <a:solidFill>
                  <a:srgbClr val="F4C585"/>
                </a:solidFill>
                <a:effectLst/>
                <a:uFillTx/>
                <a:latin typeface="Arial"/>
                <a:ea typeface="Arial"/>
              </a:rPr>
              <a:t>A successful transfer alone does not prove that every check printed.</a:t>
            </a:r>
            <a:endParaRPr lang="en-IN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704880" y="633420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IN" sz="1280" b="0" u="none" strike="noStrike">
              <a:solidFill>
                <a:srgbClr val="B6CCD7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11001240" y="6286680"/>
            <a:ext cx="475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en-IN" sz="128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"/>
          <p:cNvCxnSpPr>
            <a:stCxn id="248" idx="3"/>
            <a:endCxn id="249" idx="1"/>
          </p:cNvCxnSpPr>
          <p:nvPr/>
        </p:nvCxnSpPr>
        <p:spPr>
          <a:xfrm>
            <a:off x="7229160" y="3619440"/>
            <a:ext cx="193428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250" name=""/>
          <p:cNvCxnSpPr>
            <a:stCxn id="251" idx="3"/>
            <a:endCxn id="248" idx="1"/>
          </p:cNvCxnSpPr>
          <p:nvPr/>
        </p:nvCxnSpPr>
        <p:spPr>
          <a:xfrm>
            <a:off x="3028680" y="3619440"/>
            <a:ext cx="193428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sp>
        <p:nvSpPr>
          <p:cNvPr id="252" name=""/>
          <p:cNvSpPr/>
          <p:nvPr/>
        </p:nvSpPr>
        <p:spPr>
          <a:xfrm>
            <a:off x="704880" y="46656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280" b="1" u="none" strike="noStrike">
                <a:solidFill>
                  <a:srgbClr val="64E4CE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704880" y="819000"/>
            <a:ext cx="10667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33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Accounting is a separate handoff</a:t>
            </a:r>
            <a:endParaRPr lang="en-IN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704880" y="152388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95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Accounting integration is a separate handoff to the customer.</a:t>
            </a:r>
            <a:endParaRPr lang="en-IN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76212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83808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83808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Invoice and payment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496260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503856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Integration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503856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Data handoff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9163080" y="3048120"/>
            <a:ext cx="22665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9239400" y="3181320"/>
            <a:ext cx="2114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Customer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9239400" y="3638520"/>
            <a:ext cx="2114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Accounting system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704880" y="633420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IN" sz="1280" b="0" u="none" strike="noStrike">
              <a:solidFill>
                <a:srgbClr val="B6CCD7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11001240" y="6286680"/>
            <a:ext cx="475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en-IN" sz="128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3" name=""/>
          <p:cNvCxnSpPr>
            <a:stCxn id="264" idx="3"/>
            <a:endCxn id="265" idx="1"/>
          </p:cNvCxnSpPr>
          <p:nvPr/>
        </p:nvCxnSpPr>
        <p:spPr>
          <a:xfrm>
            <a:off x="9198360" y="3619440"/>
            <a:ext cx="48888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266" name=""/>
          <p:cNvCxnSpPr>
            <a:stCxn id="267" idx="3"/>
            <a:endCxn id="264" idx="1"/>
          </p:cNvCxnSpPr>
          <p:nvPr/>
        </p:nvCxnSpPr>
        <p:spPr>
          <a:xfrm>
            <a:off x="6967080" y="3619440"/>
            <a:ext cx="48888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268" name=""/>
          <p:cNvCxnSpPr>
            <a:stCxn id="269" idx="3"/>
            <a:endCxn id="267" idx="1"/>
          </p:cNvCxnSpPr>
          <p:nvPr/>
        </p:nvCxnSpPr>
        <p:spPr>
          <a:xfrm>
            <a:off x="4736160" y="3619440"/>
            <a:ext cx="48852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270" name=""/>
          <p:cNvCxnSpPr>
            <a:stCxn id="271" idx="3"/>
            <a:endCxn id="269" idx="1"/>
          </p:cNvCxnSpPr>
          <p:nvPr/>
        </p:nvCxnSpPr>
        <p:spPr>
          <a:xfrm>
            <a:off x="2504880" y="3619440"/>
            <a:ext cx="48888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sp>
        <p:nvSpPr>
          <p:cNvPr id="272" name=""/>
          <p:cNvSpPr/>
          <p:nvPr/>
        </p:nvSpPr>
        <p:spPr>
          <a:xfrm>
            <a:off x="704880" y="46656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280" b="1" u="none" strike="noStrike">
                <a:solidFill>
                  <a:srgbClr val="64E4CE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704880" y="819000"/>
            <a:ext cx="10667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33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How an SRE traces an issue</a:t>
            </a:r>
            <a:endParaRPr lang="en-IN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704880" y="152388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95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Find the last successful step, then investigate the next handoff.</a:t>
            </a:r>
            <a:endParaRPr lang="en-IN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762120" y="3048120"/>
            <a:ext cx="17427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838080" y="3181320"/>
            <a:ext cx="15904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Invoice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838080" y="3638520"/>
            <a:ext cx="1590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Received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2993400" y="3048120"/>
            <a:ext cx="17427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3069360" y="3181320"/>
            <a:ext cx="15904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Approval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3069360" y="3638520"/>
            <a:ext cx="1590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Authorized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5224320" y="3048120"/>
            <a:ext cx="17427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5300640" y="3181320"/>
            <a:ext cx="15904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Payment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5300640" y="3638520"/>
            <a:ext cx="1590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Created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7455600" y="3048120"/>
            <a:ext cx="17427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7531920" y="3181320"/>
            <a:ext cx="15904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Route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7531920" y="3638520"/>
            <a:ext cx="1590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Configured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9686880" y="3048120"/>
            <a:ext cx="174276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9763200" y="3181320"/>
            <a:ext cx="15904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Outcome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9763200" y="3638520"/>
            <a:ext cx="1590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Batch / print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704880" y="633420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IN" sz="1280" b="0" u="none" strike="noStrike">
              <a:solidFill>
                <a:srgbClr val="B6CCD7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11001240" y="6286680"/>
            <a:ext cx="475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en-IN" sz="128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7" name=""/>
          <p:cNvCxnSpPr>
            <a:stCxn id="288" idx="3"/>
            <a:endCxn id="289" idx="1"/>
          </p:cNvCxnSpPr>
          <p:nvPr/>
        </p:nvCxnSpPr>
        <p:spPr>
          <a:xfrm>
            <a:off x="9581760" y="3619440"/>
            <a:ext cx="41976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290" name=""/>
          <p:cNvCxnSpPr>
            <a:stCxn id="291" idx="3"/>
            <a:endCxn id="288" idx="1"/>
          </p:cNvCxnSpPr>
          <p:nvPr/>
        </p:nvCxnSpPr>
        <p:spPr>
          <a:xfrm>
            <a:off x="7733880" y="3619440"/>
            <a:ext cx="41976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292" name=""/>
          <p:cNvCxnSpPr>
            <a:stCxn id="293" idx="3"/>
            <a:endCxn id="291" idx="1"/>
          </p:cNvCxnSpPr>
          <p:nvPr/>
        </p:nvCxnSpPr>
        <p:spPr>
          <a:xfrm>
            <a:off x="5886360" y="3619440"/>
            <a:ext cx="41940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294" name=""/>
          <p:cNvCxnSpPr>
            <a:stCxn id="295" idx="3"/>
            <a:endCxn id="293" idx="1"/>
          </p:cNvCxnSpPr>
          <p:nvPr/>
        </p:nvCxnSpPr>
        <p:spPr>
          <a:xfrm>
            <a:off x="4038480" y="3619440"/>
            <a:ext cx="41976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cxnSp>
        <p:nvCxnSpPr>
          <p:cNvPr id="296" name=""/>
          <p:cNvCxnSpPr>
            <a:stCxn id="297" idx="3"/>
            <a:endCxn id="295" idx="1"/>
          </p:cNvCxnSpPr>
          <p:nvPr/>
        </p:nvCxnSpPr>
        <p:spPr>
          <a:xfrm>
            <a:off x="2190600" y="3619440"/>
            <a:ext cx="419760" cy="360"/>
          </a:xfrm>
          <a:prstGeom prst="straightConnector1">
            <a:avLst/>
          </a:prstGeom>
          <a:ln w="22860">
            <a:solidFill>
              <a:srgbClr val="6FA99E"/>
            </a:solidFill>
            <a:round/>
            <a:tailEnd len="sm" type="triangle" w="sm"/>
          </a:ln>
        </p:spPr>
      </p:cxnSp>
      <p:sp>
        <p:nvSpPr>
          <p:cNvPr id="298" name=""/>
          <p:cNvSpPr/>
          <p:nvPr/>
        </p:nvSpPr>
        <p:spPr>
          <a:xfrm>
            <a:off x="704880" y="46656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280" b="1" u="none" strike="noStrike">
                <a:solidFill>
                  <a:srgbClr val="64E4CE"/>
                </a:solidFill>
                <a:effectLst/>
                <a:uFillTx/>
                <a:latin typeface="Arial"/>
                <a:ea typeface="Arial"/>
              </a:rPr>
              <a:t>STRONGROOM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704880" y="819000"/>
            <a:ext cx="10667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33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StrongRoom flow summary</a:t>
            </a:r>
            <a:endParaRPr lang="en-IN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704880" y="152388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IN" sz="195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Use the sequence to explain the full journey in your own words.</a:t>
            </a:r>
            <a:endParaRPr lang="en-IN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762120" y="3048120"/>
            <a:ext cx="142848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838080" y="3181320"/>
            <a:ext cx="1275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Capture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838080" y="3638520"/>
            <a:ext cx="1275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Invoice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2610000" y="3048120"/>
            <a:ext cx="142848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2685960" y="3181320"/>
            <a:ext cx="1275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Check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2685960" y="3638520"/>
            <a:ext cx="1275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Details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4457880" y="3048120"/>
            <a:ext cx="142848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4533840" y="3181320"/>
            <a:ext cx="1275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Approve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4533840" y="3638520"/>
            <a:ext cx="1275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Buyer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6305400" y="3048120"/>
            <a:ext cx="142848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6381720" y="3181320"/>
            <a:ext cx="1275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Create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381720" y="3638520"/>
            <a:ext cx="1275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Payment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8153280" y="3048120"/>
            <a:ext cx="142848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8229600" y="3181320"/>
            <a:ext cx="1275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Route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8229600" y="3638520"/>
            <a:ext cx="1275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Process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10001160" y="3048120"/>
            <a:ext cx="1428480" cy="1142640"/>
          </a:xfrm>
          <a:prstGeom prst="roundRect">
            <a:avLst>
              <a:gd name="adj" fmla="val 8333"/>
            </a:avLst>
          </a:prstGeom>
          <a:solidFill>
            <a:srgbClr val="18384C"/>
          </a:solidFill>
          <a:ln w="12383">
            <a:solidFill>
              <a:srgbClr val="5780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10077480" y="3181320"/>
            <a:ext cx="1275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800" b="1" u="none" strike="noStrike">
                <a:solidFill>
                  <a:srgbClr val="F3F7FA"/>
                </a:solidFill>
                <a:effectLst/>
                <a:uFillTx/>
                <a:latin typeface="Arial"/>
                <a:ea typeface="Arial"/>
              </a:rPr>
              <a:t>Track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10077480" y="3638520"/>
            <a:ext cx="1275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IN" sz="150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Outcome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704880" y="6334200"/>
            <a:ext cx="857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IN" sz="1280" b="0" u="none" strike="noStrike">
              <a:solidFill>
                <a:srgbClr val="B6CCD7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11001240" y="6286680"/>
            <a:ext cx="475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en-IN" sz="1280" b="0" u="none" strike="noStrike">
                <a:solidFill>
                  <a:srgbClr val="B6CCD7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IN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LibreOfficeDev/26.8.0.0.alpha0$MacOSX_AARCH64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2026-10-27T15:30:36Z</dcterms:created>
  <dc:creator>Walnut Exporter</dc:creator>
  <dc:description/>
  <dc:language>en-IN</dc:language>
  <cp:lastModifiedBy>Walnut Exporter</cp:lastModifiedBy>
  <dcterms:modified xsi:type="dcterms:W3CDTF">2026-10-27T15:30:36Z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